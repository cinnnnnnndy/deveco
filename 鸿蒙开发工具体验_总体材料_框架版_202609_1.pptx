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2.png"/><Relationship Id="rId4" Type="http://schemas.openxmlformats.org/officeDocument/2006/relationships/image" Target="../media/image-3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2.png"/><Relationship Id="rId4" Type="http://schemas.openxmlformats.org/officeDocument/2006/relationships/image" Target="../media/image-3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3.png"/><Relationship Id="rId5" Type="http://schemas.openxmlformats.org/officeDocument/2006/relationships/image" Target="../media/image-3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87" y="1463040"/>
            <a:ext cx="9440601" cy="1325880"/>
          </a:xfrm>
          <a:prstGeom prst="rect">
            <a:avLst/>
          </a:prstGeom>
        </p:spPr>
      </p:pic>
      <p:pic>
        <p:nvPicPr>
          <p:cNvPr id="3" name="Image 1" descr="/root/deck/assets/icon_cover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12064" cy="51206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鸿蒙开发者业务  ·  IDE · 开发者官网 · AGC · AG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6974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现状、创新与</a:t>
            </a:r>
            <a:endParaRPr lang="en-US" sz="4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业务发展想法</a:t>
            </a:r>
            <a:endParaRPr lang="en-US" sz="4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617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今年两个重点：融合方案已合入 7.1，12/30 随版本发布；体验设计七项按节奏跑，其中创新一项做进 8.0。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548640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4864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 · 业务基本盘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944368" y="548640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944368" y="54864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877056" y="54864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877056" y="54864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业务发展想法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Cindy      2026 年 9 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现状、创新、业务发展想法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今年两个重点：融合方案已合入 7.1，12/30 随版本发布；体验设计七项按节奏跑，其中创新一项做进 8.0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75304" cy="3200400"/>
          </a:xfrm>
          <a:prstGeom prst="roundRect">
            <a:avLst>
              <a:gd name="adj" fmla="val 514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618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1965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 · 业务基本盘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36829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四条线、版本节奏、关键角色，以及正在做的两个重点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843784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整个鸿蒙开发者是四条线：IDE · 官网 · AGC · AG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年体验规划表：四条线 × 现状 × 规划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版本落地节奏、关键角色、五个例会、人员建联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业务规划的两个重点：融合方案（已合入 7.1，12/30 发布）· 体验设计七项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方向核对：现有方案的六条前提逐条对证据 + 方向矩阵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4306824" y="1417320"/>
            <a:ext cx="3575304" cy="3200400"/>
          </a:xfrm>
          <a:prstGeom prst="roundRect">
            <a:avLst>
              <a:gd name="adj" fmla="val 5143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2856" y="1618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62856" y="1965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62856" y="236829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→ 创新 → 8.0，做进明年的 HDC 版本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62856" y="2843784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→ 创新 → 8.0：10 月启动，10–11 月 BP 规划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依据：横向拉通、雷达 R01 · R02、四家官网、CodeGenie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前瞻 12–24 个月：应用形态、模型换代、工作流内嵌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候选创新点四个、机会点七条 → 做进 8.0（HDC 2027）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065008" y="1417320"/>
            <a:ext cx="3575304" cy="3200400"/>
          </a:xfrm>
          <a:prstGeom prst="roundRect">
            <a:avLst>
              <a:gd name="adj" fmla="val 514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618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1965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业务发展想法 · 风险与团队组成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36829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商业价值、产品策略、风险与团队组成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2843784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商业价值：产生的是鸿蒙应用的供给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产品策略：一句主张，四条策略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一年时间线</a:t>
            </a:r>
            <a:endParaRPr lang="en-US" sz="94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风险四条 + 团队组成（现状）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548640" y="4800600"/>
            <a:ext cx="11091672" cy="1691640"/>
          </a:xfrm>
          <a:prstGeom prst="roundRect">
            <a:avLst>
              <a:gd name="adj" fmla="val 9730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965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业务规划的两个重点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0" y="5001768"/>
            <a:ext cx="3781044" cy="1289304"/>
          </a:xfrm>
          <a:prstGeom prst="roundRect">
            <a:avLst>
              <a:gd name="adj" fmla="val 8511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858768" y="5093208"/>
            <a:ext cx="33787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 · 融合方案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3858768" y="5422392"/>
            <a:ext cx="33787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三个产品融合成一套：KIT 出 Skill 与 MCP，IDE 出底座，Code 出 Agent 能力。DevEco Code 的 GUI 融进 IDE，已合入 7.1，12/30 发布。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7584948" y="5001768"/>
            <a:ext cx="3781044" cy="1289304"/>
          </a:xfrm>
          <a:prstGeom prst="roundRect">
            <a:avLst>
              <a:gd name="adj" fmla="val 8511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86116" y="5093208"/>
            <a:ext cx="33787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重点二 · 体验设计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786116" y="5422392"/>
            <a:ext cx="33787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七项运作：当前版本 / 创新 / 体验评估 / 客户互动 / 落地质量 / 舆情跟踪 / 活动支撑。其中创新一项承接研究洞察，做进 8.0。</a:t>
            </a:r>
            <a:endParaRPr lang="en-US" sz="96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0079" y="2331720"/>
            <a:ext cx="6934972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745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 · 业务基本盘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3794760"/>
            <a:ext cx="11091672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279392"/>
            <a:ext cx="145912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10933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四条业务线与今年三个变化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2154065" y="4279392"/>
            <a:ext cx="145912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36945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336945" y="4645152"/>
            <a:ext cx="10933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两类客户、两种入口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3759490" y="4279392"/>
            <a:ext cx="145912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42370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942370" y="4645152"/>
            <a:ext cx="10933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年体验规划表：四条线 × 现状 × 规划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364915" y="4279392"/>
            <a:ext cx="145912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47795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547795" y="4645152"/>
            <a:ext cx="10933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版本节奏、关键角色、五个例会、人员建联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6970341" y="4279392"/>
            <a:ext cx="145912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53221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153221" y="4645152"/>
            <a:ext cx="10933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 · 融合方案：已合入 7.1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8575766" y="4279392"/>
            <a:ext cx="145912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58646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758646" y="4645152"/>
            <a:ext cx="10933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重点二 · 体验设计七项与日常运作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10181191" y="4279392"/>
            <a:ext cx="145912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364071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364071" y="4645152"/>
            <a:ext cx="10933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方向核对与方向矩阵</a:t>
            </a:r>
            <a:endParaRPr lang="en-US" sz="920" dirty="0"/>
          </a:p>
        </p:txBody>
      </p:sp>
      <p:sp>
        <p:nvSpPr>
          <p:cNvPr id="27" name="Text 24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业务现状：三个工具触点加官网，今年的三个变化，以及方案走到了哪一步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客户从中长尾转向头部公司；CodeGenie 下线；融合方案已经是第三条路，正在走三个阶段中的前两段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649474" cy="2148840"/>
          </a:xfrm>
          <a:prstGeom prst="roundRect">
            <a:avLst>
              <a:gd name="adj" fmla="val 766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1655064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16550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 IDE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002536"/>
            <a:ext cx="21374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386584"/>
            <a:ext cx="213741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主力工具，IntelliJ 平台系；CodeGenie 下线后 AI 入口空出，由 7.1 融合方案接上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62706" y="1417320"/>
            <a:ext cx="2649474" cy="2148840"/>
          </a:xfrm>
          <a:prstGeom prst="roundRect">
            <a:avLst>
              <a:gd name="adj" fmla="val 766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18738" y="1655064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8738" y="16550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Agent（TUI / GUI）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618738" y="2002536"/>
            <a:ext cx="21374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18738" y="2386584"/>
            <a:ext cx="213741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2026-06 HDC 发布，基于 OpenCode 扩展；面向没有自研 Agent 工具的开发者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76772" y="1417320"/>
            <a:ext cx="2649474" cy="2148840"/>
          </a:xfrm>
          <a:prstGeom prst="roundRect">
            <a:avLst>
              <a:gd name="adj" fmla="val 766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32804" y="1655064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32804" y="1655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命令行工具链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432804" y="2002536"/>
            <a:ext cx="21374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CLI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32804" y="2386584"/>
            <a:ext cx="213741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1.3.1（08-29）；向第三方 Agent 装 Skills 与 MCP；企业流水线接口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90838" y="1417320"/>
            <a:ext cx="2649474" cy="2148840"/>
          </a:xfrm>
          <a:prstGeom prst="roundRect">
            <a:avLst>
              <a:gd name="adj" fmla="val 766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46870" y="1655064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46870" y="1655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9246870" y="2002536"/>
            <a:ext cx="21374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开发者官网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246870" y="2386584"/>
            <a:ext cx="213741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本部门现有工作。文档站属另一部门，暂不纳入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3749040"/>
            <a:ext cx="3575304" cy="1417320"/>
          </a:xfrm>
          <a:prstGeom prst="roundRect">
            <a:avLst>
              <a:gd name="adj" fmla="val 1161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" y="3895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42062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的冲击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86384" y="4535424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范式一年内被重写：四家厂商七个月内都转向「IDE 做宿主、任意 Agent 做大脑」。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4306824" y="3749040"/>
            <a:ext cx="3575304" cy="1417320"/>
          </a:xfrm>
          <a:prstGeom prst="roundRect">
            <a:avLst>
              <a:gd name="adj" fmla="val 11613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44568" y="3895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544568" y="42062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目标转向头部公司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544568" y="4535424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今年的客户是 38+ 头部公司。他们不换工具，只要打包与鸿蒙相关的能力，装进自己的工作流；之后再回到小公司与个人开发者的 GUI。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8065008" y="3749040"/>
            <a:ext cx="3575304" cy="1417320"/>
          </a:xfrm>
          <a:prstGeom prst="roundRect">
            <a:avLst>
              <a:gd name="adj" fmla="val 1161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02752" y="3895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302752" y="42062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触点收敛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302752" y="4535424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CodeGenie 下线；文档归另一部门。对象收敛为三个工具触点加官网。</a:t>
            </a:r>
            <a:endParaRPr lang="en-US" sz="940" dirty="0"/>
          </a:p>
        </p:txBody>
      </p:sp>
      <p:sp>
        <p:nvSpPr>
          <p:cNvPr id="37" name="Shape 34"/>
          <p:cNvSpPr/>
          <p:nvPr/>
        </p:nvSpPr>
        <p:spPr>
          <a:xfrm>
            <a:off x="548640" y="5349240"/>
            <a:ext cx="11091672" cy="1033272"/>
          </a:xfrm>
          <a:prstGeom prst="roundRect">
            <a:avLst>
              <a:gd name="adj" fmla="val 1592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422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  </a:t>
            </a:r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方案已经走到第三条路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22960" y="573328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50976" y="576072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版本一 · 24 年底</a:t>
            </a:r>
            <a:endParaRPr lang="en-US" sz="880" dirty="0"/>
          </a:p>
        </p:txBody>
      </p:sp>
      <p:sp>
        <p:nvSpPr>
          <p:cNvPr id="41" name="Text 38"/>
          <p:cNvSpPr txBox="1"/>
          <p:nvPr/>
        </p:nvSpPr>
        <p:spPr>
          <a:xfrm>
            <a:off x="950976" y="59527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模式切换：传统开发 / 智慧模式</a:t>
            </a:r>
            <a:endParaRPr lang="en-US" sz="860" dirty="0"/>
          </a:p>
        </p:txBody>
      </p:sp>
      <p:sp>
        <p:nvSpPr>
          <p:cNvPr id="42" name="Shape 39"/>
          <p:cNvSpPr/>
          <p:nvPr/>
        </p:nvSpPr>
        <p:spPr>
          <a:xfrm>
            <a:off x="3255264" y="5897880"/>
            <a:ext cx="201168" cy="201168"/>
          </a:xfrm>
          <a:prstGeom prst="rightArrow">
            <a:avLst/>
          </a:prstGeom>
          <a:solidFill>
            <a:srgbClr val="9FBBFB"/>
          </a:solidFill>
          <a:ln w="6350">
            <a:solidFill>
              <a:srgbClr val="9FBBF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511296" y="573328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639312" y="576072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版本二</a:t>
            </a:r>
            <a:endParaRPr lang="en-US" sz="880" dirty="0"/>
          </a:p>
        </p:txBody>
      </p:sp>
      <p:sp>
        <p:nvSpPr>
          <p:cNvPr id="45" name="Text 42"/>
          <p:cNvSpPr txBox="1"/>
          <p:nvPr/>
        </p:nvSpPr>
        <p:spPr>
          <a:xfrm>
            <a:off x="3639312" y="59527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工具，孵化出 DevEco Code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5943600" y="5897880"/>
            <a:ext cx="201168" cy="201168"/>
          </a:xfrm>
          <a:prstGeom prst="rightArrow">
            <a:avLst/>
          </a:prstGeom>
          <a:solidFill>
            <a:srgbClr val="9FBBFB"/>
          </a:solidFill>
          <a:ln w="6350">
            <a:solidFill>
              <a:srgbClr val="9FBBF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199632" y="573328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327648" y="576072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版本三 · 进行中</a:t>
            </a:r>
            <a:endParaRPr lang="en-US" sz="880" dirty="0"/>
          </a:p>
        </p:txBody>
      </p:sp>
      <p:sp>
        <p:nvSpPr>
          <p:cNvPr id="49" name="Text 46"/>
          <p:cNvSpPr txBox="1"/>
          <p:nvPr/>
        </p:nvSpPr>
        <p:spPr>
          <a:xfrm>
            <a:off x="6327648" y="595274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回到 IDE：KIT + TUI + IDE</a:t>
            </a:r>
            <a:endParaRPr lang="en-US" sz="860" dirty="0"/>
          </a:p>
        </p:txBody>
      </p:sp>
      <p:sp>
        <p:nvSpPr>
          <p:cNvPr id="50" name="Text 47"/>
          <p:cNvSpPr txBox="1"/>
          <p:nvPr/>
        </p:nvSpPr>
        <p:spPr>
          <a:xfrm>
            <a:off x="8887968" y="5458968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版本三分三段走</a:t>
            </a:r>
            <a:endParaRPr lang="en-US" sz="880" dirty="0"/>
          </a:p>
        </p:txBody>
      </p:sp>
      <p:sp>
        <p:nvSpPr>
          <p:cNvPr id="51" name="Text 48"/>
          <p:cNvSpPr txBox="1"/>
          <p:nvPr/>
        </p:nvSpPr>
        <p:spPr>
          <a:xfrm>
            <a:off x="8887968" y="5733288"/>
            <a:ext cx="2478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阶段一 CLI 终端工具  →  阶段二 IDE 插件  →  阶段三 深层互动场景（方案未定，8.0 候选）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line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一张图看懂这块业务：两类客户，两种入口，同一套平台能力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头部公司经 CLI / MCP / 插件进来，长尾与个人经 Studio 进来；中间是只有平台方能做、任何 Agent 都要用的能力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108960" cy="3977640"/>
          </a:xfrm>
          <a:prstGeom prst="roundRect">
            <a:avLst>
              <a:gd name="adj" fmla="val 5294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70992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099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今年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38+ 头部公司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23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他们自己的工作流；只要打包与鸿蒙相关的能力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7240" y="269748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自己的 IDE（Trae · 百度 · 阿里等自研）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099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6A6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不会为鸿蒙换工具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7240" y="352044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自己的 CI 流水线（Linux）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9227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6A6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Testing 脚本化、Linter 接 Git hook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" y="434340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他们已有的 Agent 工具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745736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6A6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多为自研，已嵌在自己的工作流里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6A6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要求：可审计、可能要求开源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74236" y="1508760"/>
            <a:ext cx="3840480" cy="3977640"/>
          </a:xfrm>
          <a:prstGeom prst="roundRect">
            <a:avLst>
              <a:gd name="adj" fmla="val 4286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20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68492" t="0" b="42000"/>
          <a:stretch/>
        </p:blipFill>
        <p:spPr>
          <a:xfrm>
            <a:off x="4174236" y="1508760"/>
            <a:ext cx="3840480" cy="39776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288536" y="16230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88536" y="162306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776972" y="16230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900416" y="162306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288536" y="537210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288536" y="524865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76972" y="537210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900416" y="524865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402836" y="1709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应该做的：平台能力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4402836" y="2011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只有平台方能做对，任何 Agent 都要用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402836" y="237744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539996" y="2468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执行面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4539996" y="27797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 · 真机 / 模拟器 · UI 意图校验 · 崩溃修复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Agent 做的事看得见、拦得住、回得去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402836" y="338328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539996" y="3474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真值面</a:t>
            </a:r>
            <a:endParaRPr lang="en-US" sz="1150" dirty="0"/>
          </a:p>
        </p:txBody>
      </p:sp>
      <p:sp>
        <p:nvSpPr>
          <p:cNvPr id="36" name="Text 32"/>
          <p:cNvSpPr txBox="1"/>
          <p:nvPr/>
        </p:nvSpPr>
        <p:spPr>
          <a:xfrm>
            <a:off x="4539996" y="378561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· since · 示例 · 审核规则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Agent 写鸿蒙代码时不用猜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402836" y="438912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39996" y="4480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治理面</a:t>
            </a:r>
            <a:endParaRPr lang="en-US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4539996" y="479145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模型托管 · 配额 · 白名单 · 审计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让企业放心把 Agent 放进流水线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8531352" y="1508760"/>
            <a:ext cx="3108960" cy="3977640"/>
          </a:xfrm>
          <a:prstGeom prst="roundRect">
            <a:avLst>
              <a:gd name="adj" fmla="val 529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759952" y="170992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759952" y="17099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之后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8759952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小公司与个人开发者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8759952" y="2423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一站式，装好就能用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8759952" y="269748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8897112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Studio（GUI）</a:t>
            </a:r>
            <a:endParaRPr lang="en-US" sz="1150" dirty="0"/>
          </a:p>
        </p:txBody>
      </p:sp>
      <p:sp>
        <p:nvSpPr>
          <p:cNvPr id="47" name="Text 43"/>
          <p:cNvSpPr txBox="1"/>
          <p:nvPr/>
        </p:nvSpPr>
        <p:spPr>
          <a:xfrm>
            <a:off x="8897112" y="3099816"/>
            <a:ext cx="23774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他们的宿主；7.1 融合方案把 Agent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接进 GUI，就是这个入口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8759952" y="4343400"/>
            <a:ext cx="26517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897112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</a:t>
            </a:r>
            <a:endParaRPr lang="en-US" sz="1150" dirty="0"/>
          </a:p>
        </p:txBody>
      </p:sp>
      <p:sp>
        <p:nvSpPr>
          <p:cNvPr id="50" name="Text 46"/>
          <p:cNvSpPr txBox="1"/>
          <p:nvPr/>
        </p:nvSpPr>
        <p:spPr>
          <a:xfrm>
            <a:off x="8897112" y="4745736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没有自己 Agent 工具的开发者用它；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独立用是 TUI，在 IDE 里是 GUI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3730752" y="3337560"/>
            <a:ext cx="370332" cy="457200"/>
          </a:xfrm>
          <a:prstGeom prst="leftArrow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3337560" y="3840480"/>
            <a:ext cx="1156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3566160" y="2990088"/>
            <a:ext cx="699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嵌进去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8087868" y="3337560"/>
            <a:ext cx="370332" cy="457200"/>
          </a:xfrm>
          <a:prstGeom prst="rightArrow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923276" y="3840480"/>
            <a:ext cx="699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Studio 调用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7923276" y="2990088"/>
            <a:ext cx="699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装好就用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548640" y="562356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777240" y="5696712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打个比方  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Codex、Cursor 这些横向 AI 工具像航空公司——谁的飞机好坐，客户随时换；DevEco 应该做机场：跑道（执行面）、塔台与航图（真值面）、安检（治理面）。头部公司自带航空公司，DevEco 提供跑道；长尾没有航空公司，Studio 把票和跑道一起给。</a:t>
            </a:r>
            <a:endParaRPr lang="en-US" sz="1050" dirty="0"/>
          </a:p>
        </p:txBody>
      </p:sp>
      <p:sp>
        <p:nvSpPr>
          <p:cNvPr id="59" name="Text 5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年体验规划：整个鸿蒙开发者是四条线，合起来才是完整的开发者旅程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开发者从写代码到应用上架分发，要经过四条线；任何一条没有体验投入，旅程就断在那里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325880"/>
          </a:xfrm>
          <a:prstGeom prst="roundRect">
            <a:avLst>
              <a:gd name="adj" fmla="val 1241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9002" t="0" b="80667"/>
          <a:stretch/>
        </p:blipFill>
        <p:spPr>
          <a:xfrm>
            <a:off x="548640" y="1417320"/>
            <a:ext cx="11091672" cy="1325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262890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250545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02568" y="262890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526012" y="250545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15270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开发者旅程 → 四条业务线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22960" y="1984248"/>
            <a:ext cx="2402586" cy="621792"/>
          </a:xfrm>
          <a:prstGeom prst="roundRect">
            <a:avLst>
              <a:gd name="adj" fmla="val 14706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60120" y="2020824"/>
            <a:ext cx="2128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2276856"/>
            <a:ext cx="212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 · Code · CLI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960120" y="1764792"/>
            <a:ext cx="2128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写代码 · 构建 · 上真机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71266" y="2176272"/>
            <a:ext cx="219456" cy="237744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536442" y="1984248"/>
            <a:ext cx="2402586" cy="621792"/>
          </a:xfrm>
          <a:prstGeom prst="roundRect">
            <a:avLst>
              <a:gd name="adj" fmla="val 14706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673602" y="2020824"/>
            <a:ext cx="2128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开发者官网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3673602" y="2276856"/>
            <a:ext cx="212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developer.huawei.com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3673602" y="1764792"/>
            <a:ext cx="2128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查资料 · 下工具 · 找 API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984748" y="2176272"/>
            <a:ext cx="219456" cy="237744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49924" y="1984248"/>
            <a:ext cx="2402586" cy="621792"/>
          </a:xfrm>
          <a:prstGeom prst="roundRect">
            <a:avLst>
              <a:gd name="adj" fmla="val 14706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87084" y="2020824"/>
            <a:ext cx="2128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AGC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387084" y="2276856"/>
            <a:ext cx="212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AppGallery Connect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6387084" y="1764792"/>
            <a:ext cx="2128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上架 · 管理 · 运营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8698230" y="2176272"/>
            <a:ext cx="219456" cy="237744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963406" y="1984248"/>
            <a:ext cx="2402586" cy="621792"/>
          </a:xfrm>
          <a:prstGeom prst="roundRect">
            <a:avLst>
              <a:gd name="adj" fmla="val 14706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100566" y="2020824"/>
            <a:ext cx="2128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9100566" y="2276856"/>
            <a:ext cx="212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应用市场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9100566" y="1764792"/>
            <a:ext cx="2128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分发 · 触达用户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548640" y="2898648"/>
            <a:ext cx="11091672" cy="384048"/>
          </a:xfrm>
          <a:prstGeom prst="roundRect">
            <a:avLst>
              <a:gd name="adj" fmla="val 19048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76656" y="2898648"/>
            <a:ext cx="17421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业务线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2601657" y="2898648"/>
            <a:ext cx="21087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这条线是什么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4893325" y="2898648"/>
            <a:ext cx="34837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现在的状态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8559993" y="2898648"/>
            <a:ext cx="3025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年体验规划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676656" y="3282696"/>
            <a:ext cx="174212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</a:t>
            </a:r>
            <a:endParaRPr lang="en-US" sz="98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 · Code · CLI</a:t>
            </a:r>
            <a:endParaRPr lang="en-US" sz="980" dirty="0"/>
          </a:p>
        </p:txBody>
      </p:sp>
      <p:sp>
        <p:nvSpPr>
          <p:cNvPr id="41" name="Text 37"/>
          <p:cNvSpPr txBox="1"/>
          <p:nvPr/>
        </p:nvSpPr>
        <p:spPr>
          <a:xfrm>
            <a:off x="2601657" y="3282696"/>
            <a:ext cx="21087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开发者写代码、构建、调试、上真机的地方</a:t>
            </a:r>
            <a:endParaRPr lang="en-US" sz="880" dirty="0"/>
          </a:p>
        </p:txBody>
      </p:sp>
      <p:sp>
        <p:nvSpPr>
          <p:cNvPr id="42" name="Text 38"/>
          <p:cNvSpPr txBox="1"/>
          <p:nvPr/>
        </p:nvSpPr>
        <p:spPr>
          <a:xfrm>
            <a:off x="4893325" y="3282696"/>
            <a:ext cx="34837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三形态齐备；DevEco Code 的 GUI 融进 IDE 已合入 7.1，12/30 发布；排队、回退、上下文三处仍是空位</a:t>
            </a:r>
            <a:endParaRPr lang="en-US" sz="880" dirty="0"/>
          </a:p>
        </p:txBody>
      </p:sp>
      <p:sp>
        <p:nvSpPr>
          <p:cNvPr id="43" name="Text 39"/>
          <p:cNvSpPr txBox="1"/>
          <p:nvPr/>
        </p:nvSpPr>
        <p:spPr>
          <a:xfrm>
            <a:off x="8559993" y="3282696"/>
            <a:ext cx="3025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融合方案三阶段落地；体验设计七项常态化；创新点做进 8.0</a:t>
            </a:r>
            <a:endParaRPr lang="en-US" sz="880" dirty="0"/>
          </a:p>
        </p:txBody>
      </p:sp>
      <p:sp>
        <p:nvSpPr>
          <p:cNvPr id="44" name="Shape 40"/>
          <p:cNvSpPr/>
          <p:nvPr/>
        </p:nvSpPr>
        <p:spPr>
          <a:xfrm>
            <a:off x="548640" y="4050792"/>
            <a:ext cx="11091672" cy="76809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76656" y="4050792"/>
            <a:ext cx="174212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开发者官网</a:t>
            </a:r>
            <a:endParaRPr lang="en-US" sz="98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developer.huawei.com</a:t>
            </a:r>
            <a:endParaRPr lang="en-US" sz="980" dirty="0"/>
          </a:p>
        </p:txBody>
      </p:sp>
      <p:sp>
        <p:nvSpPr>
          <p:cNvPr id="46" name="Text 42"/>
          <p:cNvSpPr txBox="1"/>
          <p:nvPr/>
        </p:nvSpPr>
        <p:spPr>
          <a:xfrm>
            <a:off x="2601657" y="4050792"/>
            <a:ext cx="21087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开发者查文档、下工具、找 API 的入口</a:t>
            </a:r>
            <a:endParaRPr lang="en-US" sz="880" dirty="0"/>
          </a:p>
        </p:txBody>
      </p:sp>
      <p:sp>
        <p:nvSpPr>
          <p:cNvPr id="47" name="Text 43"/>
          <p:cNvSpPr txBox="1"/>
          <p:nvPr/>
        </p:nvSpPr>
        <p:spPr>
          <a:xfrm>
            <a:off x="4893325" y="4050792"/>
            <a:ext cx="34837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llms.txt 已存在且在维护，但 /consumer/cn 路径 502、一级导航没有 Agent / MCP / Skills 入口</a:t>
            </a:r>
            <a:endParaRPr lang="en-US" sz="880" dirty="0"/>
          </a:p>
        </p:txBody>
      </p:sp>
      <p:sp>
        <p:nvSpPr>
          <p:cNvPr id="48" name="Text 44"/>
          <p:cNvSpPr txBox="1"/>
          <p:nvPr/>
        </p:nvSpPr>
        <p:spPr>
          <a:xfrm>
            <a:off x="8559993" y="4050792"/>
            <a:ext cx="3025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从「人读的文档」扩到「Agent 装的能力包」的分发入口；首屏措辞与一级导航改造</a:t>
            </a:r>
            <a:endParaRPr lang="en-US" sz="880" dirty="0"/>
          </a:p>
        </p:txBody>
      </p:sp>
      <p:sp>
        <p:nvSpPr>
          <p:cNvPr id="49" name="Text 45"/>
          <p:cNvSpPr txBox="1"/>
          <p:nvPr/>
        </p:nvSpPr>
        <p:spPr>
          <a:xfrm>
            <a:off x="676656" y="4818888"/>
            <a:ext cx="174212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AGC</a:t>
            </a:r>
            <a:endParaRPr lang="en-US" sz="98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AppGallery Connect</a:t>
            </a:r>
            <a:endParaRPr lang="en-US" sz="980" dirty="0"/>
          </a:p>
        </p:txBody>
      </p:sp>
      <p:sp>
        <p:nvSpPr>
          <p:cNvPr id="50" name="Text 46"/>
          <p:cNvSpPr txBox="1"/>
          <p:nvPr/>
        </p:nvSpPr>
        <p:spPr>
          <a:xfrm>
            <a:off x="2601657" y="4818888"/>
            <a:ext cx="21087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应用上架前后的管理与运营后台</a:t>
            </a:r>
            <a:endParaRPr lang="en-US" sz="880" dirty="0"/>
          </a:p>
        </p:txBody>
      </p:sp>
      <p:sp>
        <p:nvSpPr>
          <p:cNvPr id="51" name="Text 47"/>
          <p:cNvSpPr txBox="1"/>
          <p:nvPr/>
        </p:nvSpPr>
        <p:spPr>
          <a:xfrm>
            <a:off x="4893325" y="4818888"/>
            <a:ext cx="34837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  </a:t>
            </a:r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现状与体验问题清单</a:t>
            </a:r>
            <a:endParaRPr lang="en-US" sz="880" dirty="0"/>
          </a:p>
        </p:txBody>
      </p:sp>
      <p:sp>
        <p:nvSpPr>
          <p:cNvPr id="52" name="Text 48"/>
          <p:cNvSpPr txBox="1"/>
          <p:nvPr/>
        </p:nvSpPr>
        <p:spPr>
          <a:xfrm>
            <a:off x="8559993" y="4818888"/>
            <a:ext cx="3025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  </a:t>
            </a:r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IDE / 官网的衔接，开发者旅程后半段的体验一致性</a:t>
            </a:r>
            <a:endParaRPr lang="en-US" sz="880" dirty="0"/>
          </a:p>
        </p:txBody>
      </p:sp>
      <p:sp>
        <p:nvSpPr>
          <p:cNvPr id="53" name="Shape 49"/>
          <p:cNvSpPr/>
          <p:nvPr/>
        </p:nvSpPr>
        <p:spPr>
          <a:xfrm>
            <a:off x="548640" y="5586984"/>
            <a:ext cx="11091672" cy="76809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76656" y="5586984"/>
            <a:ext cx="174212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</a:t>
            </a:r>
            <a:endParaRPr lang="en-US" sz="98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应用市场</a:t>
            </a:r>
            <a:endParaRPr lang="en-US" sz="980" dirty="0"/>
          </a:p>
        </p:txBody>
      </p:sp>
      <p:sp>
        <p:nvSpPr>
          <p:cNvPr id="55" name="Text 51"/>
          <p:cNvSpPr txBox="1"/>
          <p:nvPr/>
        </p:nvSpPr>
        <p:spPr>
          <a:xfrm>
            <a:off x="2601657" y="5586984"/>
            <a:ext cx="21087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应用分发与面向开发者的运营触点</a:t>
            </a:r>
            <a:endParaRPr lang="en-US" sz="880" dirty="0"/>
          </a:p>
        </p:txBody>
      </p:sp>
      <p:sp>
        <p:nvSpPr>
          <p:cNvPr id="56" name="Text 52"/>
          <p:cNvSpPr txBox="1"/>
          <p:nvPr/>
        </p:nvSpPr>
        <p:spPr>
          <a:xfrm>
            <a:off x="4893325" y="5586984"/>
            <a:ext cx="34837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  </a:t>
            </a:r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现状与体验问题清单</a:t>
            </a:r>
            <a:endParaRPr lang="en-US" sz="880" dirty="0"/>
          </a:p>
        </p:txBody>
      </p:sp>
      <p:sp>
        <p:nvSpPr>
          <p:cNvPr id="57" name="Text 53"/>
          <p:cNvSpPr txBox="1"/>
          <p:nvPr/>
        </p:nvSpPr>
        <p:spPr>
          <a:xfrm>
            <a:off x="8559993" y="5586984"/>
            <a:ext cx="3025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  </a:t>
            </a:r>
            <a:pPr algn="l" indent="0" marL="0">
              <a:lnSpc>
                <a:spcPct val="124000"/>
              </a:lnSpc>
              <a:buNone/>
            </a:pPr>
            <a:r>
              <a:rPr lang="en-US" sz="88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是否纳入今年的范围待定</a:t>
            </a:r>
            <a:endParaRPr lang="en-US" sz="880" dirty="0"/>
          </a:p>
        </p:txBody>
      </p:sp>
      <p:sp>
        <p:nvSpPr>
          <p:cNvPr id="58" name="Text 54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CA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830" y="1920240"/>
            <a:ext cx="9239491" cy="1417320"/>
          </a:xfrm>
          <a:prstGeom prst="rect">
            <a:avLst/>
          </a:prstGeom>
        </p:spPr>
      </p:pic>
      <p:pic>
        <p:nvPicPr>
          <p:cNvPr id="3" name="Image 1" descr="/root/deck/assets/icon_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现在的版本落地节奏：三个版本窗口，两个规划节点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9/30 发布 7.0；12/30 发布 7.1，融合方案随这个版本上线；8.0 随 HDC 2027 发布，是明年最重要的版本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548640" y="1417320"/>
            <a:ext cx="11091672" cy="2103120"/>
          </a:xfrm>
          <a:prstGeom prst="roundRect">
            <a:avLst>
              <a:gd name="adj" fmla="val 7826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7" name="Image 2" descr="/root/deck/assets/grid_box.png">    </p:cNvPr>
          <p:cNvPicPr>
            <a:picLocks noChangeAspect="1"/>
          </p:cNvPicPr>
          <p:nvPr/>
        </p:nvPicPr>
        <p:blipFill>
          <a:blip r:embed="rId3"/>
          <a:srcRect l="0" r="9002" t="0" b="69333"/>
          <a:stretch/>
        </p:blipFill>
        <p:spPr>
          <a:xfrm>
            <a:off x="548640" y="1417320"/>
            <a:ext cx="11091672" cy="21031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2940" y="34061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62940" y="32826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1402568" y="34061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526012" y="32826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4400" y="1920240"/>
            <a:ext cx="10360152" cy="0"/>
          </a:xfrm>
          <a:prstGeom prst="line">
            <a:avLst/>
          </a:prstGeom>
          <a:noFill/>
          <a:ln w="19050">
            <a:solidFill>
              <a:srgbClr val="B8BEC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246510" y="1837944"/>
            <a:ext cx="164592" cy="164592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14406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 30 日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14406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7.0 版本发布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460126" y="259689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跟踪落地；发布活动支撑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732947" y="1837944"/>
            <a:ext cx="164592" cy="164592"/>
          </a:xfrm>
          <a:prstGeom prst="ellipse">
            <a:avLst/>
          </a:prstGeom>
          <a:solidFill>
            <a:srgbClr val="0A59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900843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2900843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规划节点 · 创新汇报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2946563" y="259689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融合方案向毛总、高老师汇报；调研结论进规划；研究线启动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219383" y="1837944"/>
            <a:ext cx="164592" cy="164592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387279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10–11 月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5387279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BP 规划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5432999" y="259689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8.0 创新点与产品线讨论后进规划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8498616" y="1837944"/>
            <a:ext cx="164592" cy="164592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666512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月 30 日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7666512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7.1 版本发布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7712232" y="259689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融合方案随版本上线；本季度成果的目标窗口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10777850" y="1837944"/>
            <a:ext cx="164592" cy="164592"/>
          </a:xfrm>
          <a:prstGeom prst="ellipse">
            <a:avLst/>
          </a:prstGeom>
          <a:solidFill>
            <a:srgbClr val="0A59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945746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年 6 月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9945746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8.0 · HDC 2027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9991466" y="259689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最重要的版本，明年主战场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548640" y="3703320"/>
            <a:ext cx="3575304" cy="2788920"/>
          </a:xfrm>
          <a:prstGeom prst="roundRect">
            <a:avLst>
              <a:gd name="adj" fmla="val 5902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04672" y="39044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9/30 版本（7.0）</a:t>
            </a:r>
            <a:endParaRPr lang="en-US" sz="1350" dirty="0"/>
          </a:p>
        </p:txBody>
      </p:sp>
      <p:sp>
        <p:nvSpPr>
          <p:cNvPr id="39" name="Text 34"/>
          <p:cNvSpPr txBox="1"/>
          <p:nvPr/>
        </p:nvSpPr>
        <p:spPr>
          <a:xfrm>
            <a:off x="804672" y="4306824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状态：基本做完，最后的跟踪落地</a:t>
            </a:r>
            <a:endParaRPr lang="en-US" sz="105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本季度动作：跟踪落地、发布活动支撑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306824" y="3703320"/>
            <a:ext cx="3575304" cy="2788920"/>
          </a:xfrm>
          <a:prstGeom prst="roundRect">
            <a:avLst>
              <a:gd name="adj" fmla="val 590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562856" y="39044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12/30 版本（7.1）</a:t>
            </a:r>
            <a:endParaRPr lang="en-US" sz="1350" dirty="0"/>
          </a:p>
        </p:txBody>
      </p:sp>
      <p:sp>
        <p:nvSpPr>
          <p:cNvPr id="42" name="Text 37"/>
          <p:cNvSpPr txBox="1"/>
          <p:nvPr/>
        </p:nvSpPr>
        <p:spPr>
          <a:xfrm>
            <a:off x="4562856" y="4306824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融合方案随这个版本上线：DevEco Code 的 GUI 融进 IDE</a:t>
            </a:r>
            <a:endParaRPr lang="en-US" sz="105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本季度成果的目标窗口</a:t>
            </a:r>
            <a:endParaRPr lang="en-US" sz="105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月规划节点前锁定样板范围与验收口径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8065008" y="3703320"/>
            <a:ext cx="3575304" cy="2788920"/>
          </a:xfrm>
          <a:prstGeom prst="roundRect">
            <a:avLst>
              <a:gd name="adj" fmla="val 590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321040" y="39044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8.0（HDC 2027）</a:t>
            </a:r>
            <a:endParaRPr lang="en-US" sz="1350" dirty="0"/>
          </a:p>
        </p:txBody>
      </p:sp>
      <p:sp>
        <p:nvSpPr>
          <p:cNvPr id="45" name="Text 40"/>
          <p:cNvSpPr txBox="1"/>
          <p:nvPr/>
        </p:nvSpPr>
        <p:spPr>
          <a:xfrm>
            <a:off x="8321040" y="4306824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最重要的版本</a:t>
            </a:r>
            <a:endParaRPr lang="en-US" sz="105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创新点：10 月启动研究，10–11 月 BP 规划</a:t>
            </a:r>
            <a:endParaRPr lang="en-US" sz="105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与产品线讨论后进规划</a:t>
            </a:r>
            <a:endParaRPr lang="en-US" sz="1050" dirty="0"/>
          </a:p>
        </p:txBody>
      </p:sp>
      <p:sp>
        <p:nvSpPr>
          <p:cNvPr id="46" name="Text 41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PEO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9669" y="1920240"/>
            <a:ext cx="7499237" cy="1417320"/>
          </a:xfrm>
          <a:prstGeom prst="rect">
            <a:avLst/>
          </a:prstGeom>
        </p:spPr>
      </p:pic>
      <p:pic>
        <p:nvPicPr>
          <p:cNvPr id="3" name="Image 1" descr="/root/deck/assets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关键角色：决策链上的五个人，和日常打交道的人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决策链五人、日常打交道的产品经理线，以及提供输入与支撑的人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548640" y="1417320"/>
            <a:ext cx="11091672" cy="2514600"/>
          </a:xfrm>
          <a:prstGeom prst="roundRect">
            <a:avLst>
              <a:gd name="adj" fmla="val 6545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7" name="Image 2" descr="/root/deck/assets/grid_box.png">    </p:cNvPr>
          <p:cNvPicPr>
            <a:picLocks noChangeAspect="1"/>
          </p:cNvPicPr>
          <p:nvPr/>
        </p:nvPicPr>
        <p:blipFill>
          <a:blip r:embed="rId3"/>
          <a:srcRect l="0" r="9002" t="0" b="63333"/>
          <a:stretch/>
        </p:blipFill>
        <p:spPr>
          <a:xfrm>
            <a:off x="548640" y="1417320"/>
            <a:ext cx="11091672" cy="25146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2940" y="3817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62940" y="369417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1402568" y="3817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526012" y="369417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终端开发者平台部 · 决策链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22960" y="1920240"/>
            <a:ext cx="1947672" cy="1783080"/>
          </a:xfrm>
          <a:prstGeom prst="roundRect">
            <a:avLst>
              <a:gd name="adj" fmla="val 6154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87552" y="203911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马汉卿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87552" y="237744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部长（三层）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987552" y="278892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业务背书的最上游；前两个月重点建联</a:t>
            </a:r>
            <a:endParaRPr lang="en-US" sz="920" dirty="0"/>
          </a:p>
        </p:txBody>
      </p:sp>
      <p:sp>
        <p:nvSpPr>
          <p:cNvPr id="21" name="Shape 16"/>
          <p:cNvSpPr/>
          <p:nvPr/>
        </p:nvSpPr>
        <p:spPr>
          <a:xfrm>
            <a:off x="2788920" y="2651760"/>
            <a:ext cx="164592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971800" y="1920240"/>
            <a:ext cx="1947672" cy="1783080"/>
          </a:xfrm>
          <a:prstGeom prst="roundRect">
            <a:avLst>
              <a:gd name="adj" fmla="val 615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136392" y="203911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刘金华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136392" y="237744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鸿蒙 IDE 首席架构师 · TMG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3136392" y="278892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大版本 UX 在他的 TMG 会上终审</a:t>
            </a:r>
            <a:endParaRPr lang="en-US" sz="920" dirty="0"/>
          </a:p>
        </p:txBody>
      </p:sp>
      <p:sp>
        <p:nvSpPr>
          <p:cNvPr id="26" name="Shape 21"/>
          <p:cNvSpPr/>
          <p:nvPr/>
        </p:nvSpPr>
        <p:spPr>
          <a:xfrm>
            <a:off x="4937760" y="2651760"/>
            <a:ext cx="164592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120640" y="1920240"/>
            <a:ext cx="1947672" cy="1783080"/>
          </a:xfrm>
          <a:prstGeom prst="roundRect">
            <a:avLst>
              <a:gd name="adj" fmla="val 6154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285232" y="203911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汪剑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285232" y="237744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工程工具开发部经理 · OSG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5285232" y="278892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工具的决策线；方案能否进版本看这里</a:t>
            </a:r>
            <a:endParaRPr lang="en-US" sz="920" dirty="0"/>
          </a:p>
        </p:txBody>
      </p:sp>
      <p:sp>
        <p:nvSpPr>
          <p:cNvPr id="31" name="Shape 26"/>
          <p:cNvSpPr/>
          <p:nvPr/>
        </p:nvSpPr>
        <p:spPr>
          <a:xfrm>
            <a:off x="7086600" y="2651760"/>
            <a:ext cx="164592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269480" y="1920240"/>
            <a:ext cx="1947672" cy="1783080"/>
          </a:xfrm>
          <a:prstGeom prst="roundRect">
            <a:avLst>
              <a:gd name="adj" fmla="val 615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434072" y="203911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李勉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7434072" y="237744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调优工具 / DevEco Code / Studio 责任 owner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7434072" y="278892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调优、Code、Studio 三块的责任人；日常方案的直接对口</a:t>
            </a:r>
            <a:endParaRPr lang="en-US" sz="920" dirty="0"/>
          </a:p>
        </p:txBody>
      </p:sp>
      <p:sp>
        <p:nvSpPr>
          <p:cNvPr id="36" name="Shape 31"/>
          <p:cNvSpPr/>
          <p:nvPr/>
        </p:nvSpPr>
        <p:spPr>
          <a:xfrm>
            <a:off x="9235440" y="2651760"/>
            <a:ext cx="164592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418320" y="1920240"/>
            <a:ext cx="1947672" cy="1783080"/>
          </a:xfrm>
          <a:prstGeom prst="roundRect">
            <a:avLst>
              <a:gd name="adj" fmla="val 6154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9582912" y="2039112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任晗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9582912" y="237744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架构设计组经理 · SEG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9582912" y="2788920"/>
            <a:ext cx="1618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 负责人；技术侧建联的第一站</a:t>
            </a:r>
            <a:endParaRPr lang="en-US" sz="920" dirty="0"/>
          </a:p>
        </p:txBody>
      </p:sp>
      <p:sp>
        <p:nvSpPr>
          <p:cNvPr id="41" name="Shape 36"/>
          <p:cNvSpPr/>
          <p:nvPr/>
        </p:nvSpPr>
        <p:spPr>
          <a:xfrm>
            <a:off x="548640" y="4114800"/>
            <a:ext cx="5431536" cy="2377440"/>
          </a:xfrm>
          <a:prstGeom prst="roundRect">
            <a:avLst>
              <a:gd name="adj" fmla="val 692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804672" y="4297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产品经理线 · 日常打交道最多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804672" y="4617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凌云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2560320" y="461772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PM · AI 辅助开发；主持周四产品体验例会</a:t>
            </a:r>
            <a:endParaRPr lang="en-US" sz="920" dirty="0"/>
          </a:p>
        </p:txBody>
      </p:sp>
      <p:sp>
        <p:nvSpPr>
          <p:cNvPr id="45" name="Text 40"/>
          <p:cNvSpPr txBox="1"/>
          <p:nvPr/>
        </p:nvSpPr>
        <p:spPr>
          <a:xfrm>
            <a:off x="804672" y="5074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何国平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2560320" y="507492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 鸿蒙版 PM · 编辑器 / 模拟器</a:t>
            </a:r>
            <a:endParaRPr lang="en-US" sz="920" dirty="0"/>
          </a:p>
        </p:txBody>
      </p:sp>
      <p:sp>
        <p:nvSpPr>
          <p:cNvPr id="47" name="Text 42"/>
          <p:cNvSpPr txBox="1"/>
          <p:nvPr/>
        </p:nvSpPr>
        <p:spPr>
          <a:xfrm>
            <a:off x="804672" y="5532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余小陆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2560320" y="553212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 Win/Mac、CLI PM、工程管理</a:t>
            </a:r>
            <a:endParaRPr lang="en-US" sz="920" dirty="0"/>
          </a:p>
        </p:txBody>
      </p:sp>
      <p:sp>
        <p:nvSpPr>
          <p:cNvPr id="49" name="Text 44"/>
          <p:cNvSpPr txBox="1"/>
          <p:nvPr/>
        </p:nvSpPr>
        <p:spPr>
          <a:xfrm>
            <a:off x="804672" y="5989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崔威风 · 王俊涛 · 赵虹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2560320" y="598932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产品经理线 / 测试组（新上任）/ 技术赋能与支持部三位四层经理</a:t>
            </a:r>
            <a:endParaRPr lang="en-US" sz="920" dirty="0"/>
          </a:p>
        </p:txBody>
      </p:sp>
      <p:sp>
        <p:nvSpPr>
          <p:cNvPr id="51" name="Shape 46"/>
          <p:cNvSpPr/>
          <p:nvPr/>
        </p:nvSpPr>
        <p:spPr>
          <a:xfrm>
            <a:off x="6208776" y="4114800"/>
            <a:ext cx="5431536" cy="2377440"/>
          </a:xfrm>
          <a:prstGeom prst="roundRect">
            <a:avLst>
              <a:gd name="adj" fmla="val 692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6464808" y="4297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输入与支撑 · 让证据链跑起来的人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6464808" y="4617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柳能 · 李广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8220456" y="461772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 beta / 内部 beta 接口人：客户与用户访谈的样本来源</a:t>
            </a:r>
            <a:endParaRPr lang="en-US" sz="920" dirty="0"/>
          </a:p>
        </p:txBody>
      </p:sp>
      <p:sp>
        <p:nvSpPr>
          <p:cNvPr id="55" name="Text 50"/>
          <p:cNvSpPr txBox="1"/>
          <p:nvPr/>
        </p:nvSpPr>
        <p:spPr>
          <a:xfrm>
            <a:off x="6464808" y="5074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毛方竹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8220456" y="507492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辅助开发体验评估 · UX 指标：930 / 1030 评估模型迭代的对口</a:t>
            </a:r>
            <a:endParaRPr lang="en-US" sz="920" dirty="0"/>
          </a:p>
        </p:txBody>
      </p:sp>
      <p:sp>
        <p:nvSpPr>
          <p:cNvPr id="57" name="Text 52"/>
          <p:cNvSpPr txBox="1"/>
          <p:nvPr/>
        </p:nvSpPr>
        <p:spPr>
          <a:xfrm>
            <a:off x="6464808" y="5532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汤中民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8220456" y="553212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辅助开发测试专项：体验问题可一起推动</a:t>
            </a:r>
            <a:endParaRPr lang="en-US" sz="920" dirty="0"/>
          </a:p>
        </p:txBody>
      </p:sp>
      <p:sp>
        <p:nvSpPr>
          <p:cNvPr id="59" name="Text 54"/>
          <p:cNvSpPr txBox="1"/>
          <p:nvPr/>
        </p:nvSpPr>
        <p:spPr>
          <a:xfrm>
            <a:off x="6464808" y="5989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李国坤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8220456" y="598932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开发者技术赋能与支持部：鸿蒙知识语料，平台知识 Agent 化的对口</a:t>
            </a:r>
            <a:endParaRPr lang="en-US" sz="920" dirty="0"/>
          </a:p>
        </p:txBody>
      </p:sp>
      <p:sp>
        <p:nvSpPr>
          <p:cNvPr id="61" name="Text 56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五个例会，一条上会顺序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周四的产品体验例会由 UX 和 PD 主导；大版本 UX 走 体验例会 → SEG → OSG → TMG 四步，不跳级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" y="1417320"/>
            <a:ext cx="2897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会议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811612" y="1417320"/>
            <a:ext cx="1522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决策人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553280" y="1417320"/>
            <a:ext cx="19805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53281" y="1417320"/>
            <a:ext cx="3813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性质 / UX 上会条件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1874520"/>
            <a:ext cx="2897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产品体验例会</a:t>
            </a:r>
            <a:endParaRPr lang="en-US" sz="980" dirty="0"/>
          </a:p>
        </p:txBody>
      </p:sp>
      <p:sp>
        <p:nvSpPr>
          <p:cNvPr id="11" name="Text 8"/>
          <p:cNvSpPr txBox="1"/>
          <p:nvPr/>
        </p:nvSpPr>
        <p:spPr>
          <a:xfrm>
            <a:off x="3811612" y="1874520"/>
            <a:ext cx="1522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凌云</a:t>
            </a:r>
            <a:endParaRPr lang="en-US" sz="980" dirty="0"/>
          </a:p>
        </p:txBody>
      </p:sp>
      <p:sp>
        <p:nvSpPr>
          <p:cNvPr id="12" name="Text 9"/>
          <p:cNvSpPr txBox="1"/>
          <p:nvPr/>
        </p:nvSpPr>
        <p:spPr>
          <a:xfrm>
            <a:off x="5553280" y="1874520"/>
            <a:ext cx="19805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周四 16:00–17:30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7753281" y="1874520"/>
            <a:ext cx="3813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 UX 和 PD 主导；方案决策与落地效果验收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548640" y="2331720"/>
            <a:ext cx="11091672" cy="45720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" y="2331720"/>
            <a:ext cx="2897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联席 SEG 例会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3811612" y="2331720"/>
            <a:ext cx="1522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任晗</a:t>
            </a:r>
            <a:endParaRPr lang="en-US" sz="980" dirty="0"/>
          </a:p>
        </p:txBody>
      </p:sp>
      <p:sp>
        <p:nvSpPr>
          <p:cNvPr id="17" name="Text 14"/>
          <p:cNvSpPr txBox="1"/>
          <p:nvPr/>
        </p:nvSpPr>
        <p:spPr>
          <a:xfrm>
            <a:off x="5553280" y="2331720"/>
            <a:ext cx="19805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周一 19:00–21:00</a:t>
            </a:r>
            <a:endParaRPr lang="en-US" sz="980" dirty="0"/>
          </a:p>
        </p:txBody>
      </p:sp>
      <p:sp>
        <p:nvSpPr>
          <p:cNvPr id="18" name="Text 15"/>
          <p:cNvSpPr txBox="1"/>
          <p:nvPr/>
        </p:nvSpPr>
        <p:spPr>
          <a:xfrm>
            <a:off x="7753281" y="2331720"/>
            <a:ext cx="3813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 层面决策；小版本、跨模块且影响架构的 UX</a:t>
            </a:r>
            <a:endParaRPr lang="en-US" sz="980" dirty="0"/>
          </a:p>
        </p:txBody>
      </p:sp>
      <p:sp>
        <p:nvSpPr>
          <p:cNvPr id="19" name="Text 16"/>
          <p:cNvSpPr txBox="1"/>
          <p:nvPr/>
        </p:nvSpPr>
        <p:spPr>
          <a:xfrm>
            <a:off x="694944" y="2788920"/>
            <a:ext cx="2897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 NEXT OSG 周例会</a:t>
            </a:r>
            <a:endParaRPr lang="en-US" sz="980" dirty="0"/>
          </a:p>
        </p:txBody>
      </p:sp>
      <p:sp>
        <p:nvSpPr>
          <p:cNvPr id="20" name="Text 17"/>
          <p:cNvSpPr txBox="1"/>
          <p:nvPr/>
        </p:nvSpPr>
        <p:spPr>
          <a:xfrm>
            <a:off x="3811612" y="2788920"/>
            <a:ext cx="1522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汪剑（PM 姚康）</a:t>
            </a:r>
            <a:endParaRPr lang="en-US" sz="980" dirty="0"/>
          </a:p>
        </p:txBody>
      </p:sp>
      <p:sp>
        <p:nvSpPr>
          <p:cNvPr id="21" name="Text 18"/>
          <p:cNvSpPr txBox="1"/>
          <p:nvPr/>
        </p:nvSpPr>
        <p:spPr>
          <a:xfrm>
            <a:off x="5553280" y="2788920"/>
            <a:ext cx="19805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周二 09:00–11:00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7753281" y="2788920"/>
            <a:ext cx="3813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鸿蒙版周例会；进展同步与问题决策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548640" y="3246120"/>
            <a:ext cx="11091672" cy="45720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" y="3246120"/>
            <a:ext cx="2897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开发者和三方框架 TMG 会议</a:t>
            </a:r>
            <a:endParaRPr lang="en-US" sz="980" dirty="0"/>
          </a:p>
        </p:txBody>
      </p:sp>
      <p:sp>
        <p:nvSpPr>
          <p:cNvPr id="25" name="Text 22"/>
          <p:cNvSpPr txBox="1"/>
          <p:nvPr/>
        </p:nvSpPr>
        <p:spPr>
          <a:xfrm>
            <a:off x="3811612" y="3246120"/>
            <a:ext cx="1522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刘金华</a:t>
            </a:r>
            <a:endParaRPr lang="en-US" sz="980" dirty="0"/>
          </a:p>
        </p:txBody>
      </p:sp>
      <p:sp>
        <p:nvSpPr>
          <p:cNvPr id="26" name="Text 23"/>
          <p:cNvSpPr txBox="1"/>
          <p:nvPr/>
        </p:nvSpPr>
        <p:spPr>
          <a:xfrm>
            <a:off x="5553280" y="3246120"/>
            <a:ext cx="19805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周二 14:10（按需）</a:t>
            </a:r>
            <a:endParaRPr lang="en-US" sz="980" dirty="0"/>
          </a:p>
        </p:txBody>
      </p:sp>
      <p:sp>
        <p:nvSpPr>
          <p:cNvPr id="27" name="Text 24"/>
          <p:cNvSpPr txBox="1"/>
          <p:nvPr/>
        </p:nvSpPr>
        <p:spPr>
          <a:xfrm>
            <a:off x="7753281" y="3246120"/>
            <a:ext cx="3813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技术领域最终决策层；大版本 UX 终审</a:t>
            </a:r>
            <a:endParaRPr lang="en-US" sz="980" dirty="0"/>
          </a:p>
        </p:txBody>
      </p:sp>
      <p:sp>
        <p:nvSpPr>
          <p:cNvPr id="28" name="Text 25"/>
          <p:cNvSpPr txBox="1"/>
          <p:nvPr/>
        </p:nvSpPr>
        <p:spPr>
          <a:xfrm>
            <a:off x="694944" y="3703320"/>
            <a:ext cx="2897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开发者套件 CCB 例会</a:t>
            </a:r>
            <a:endParaRPr lang="en-US" sz="980" dirty="0"/>
          </a:p>
        </p:txBody>
      </p:sp>
      <p:sp>
        <p:nvSpPr>
          <p:cNvPr id="29" name="Text 26"/>
          <p:cNvSpPr txBox="1"/>
          <p:nvPr/>
        </p:nvSpPr>
        <p:spPr>
          <a:xfrm>
            <a:off x="3811612" y="3703320"/>
            <a:ext cx="1522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唐春</a:t>
            </a:r>
            <a:endParaRPr lang="en-US" sz="980" dirty="0"/>
          </a:p>
        </p:txBody>
      </p:sp>
      <p:sp>
        <p:nvSpPr>
          <p:cNvPr id="30" name="Text 27"/>
          <p:cNvSpPr txBox="1"/>
          <p:nvPr/>
        </p:nvSpPr>
        <p:spPr>
          <a:xfrm>
            <a:off x="5553280" y="3703320"/>
            <a:ext cx="19805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周二 19:00–21:00（按需）</a:t>
            </a:r>
            <a:endParaRPr lang="en-US" sz="980" dirty="0"/>
          </a:p>
        </p:txBody>
      </p:sp>
      <p:sp>
        <p:nvSpPr>
          <p:cNvPr id="31" name="Text 28"/>
          <p:cNvSpPr txBox="1"/>
          <p:nvPr/>
        </p:nvSpPr>
        <p:spPr>
          <a:xfrm>
            <a:off x="7753281" y="3703320"/>
            <a:ext cx="38138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问题单闭环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548640" y="4389120"/>
            <a:ext cx="6876837" cy="2103120"/>
          </a:xfrm>
          <a:prstGeom prst="roundRect">
            <a:avLst>
              <a:gd name="adj" fmla="val 7826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33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43581" t="0" b="69333"/>
          <a:stretch/>
        </p:blipFill>
        <p:spPr>
          <a:xfrm>
            <a:off x="548640" y="4389120"/>
            <a:ext cx="6876837" cy="210312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62940" y="45034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62940" y="45034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87733" y="45034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311177" y="45034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62940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62940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187733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311177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22960" y="4553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大版本 UX 的上会顺序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822960" y="4892040"/>
            <a:ext cx="1376309" cy="868680"/>
          </a:xfrm>
          <a:prstGeom prst="roundRect">
            <a:avLst>
              <a:gd name="adj" fmla="val 12632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60120" y="4983480"/>
            <a:ext cx="11019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产品体验例会</a:t>
            </a:r>
            <a:endParaRPr lang="en-US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960120" y="5294376"/>
            <a:ext cx="110198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立方案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2244989" y="5193792"/>
            <a:ext cx="182880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2473589" y="4892040"/>
            <a:ext cx="1376309" cy="868680"/>
          </a:xfrm>
          <a:prstGeom prst="roundRect">
            <a:avLst>
              <a:gd name="adj" fmla="val 1263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2610749" y="4983480"/>
            <a:ext cx="11019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SEG</a:t>
            </a:r>
            <a:endParaRPr lang="en-US" sz="1150" dirty="0"/>
          </a:p>
        </p:txBody>
      </p:sp>
      <p:sp>
        <p:nvSpPr>
          <p:cNvPr id="49" name="Text 45"/>
          <p:cNvSpPr txBox="1"/>
          <p:nvPr/>
        </p:nvSpPr>
        <p:spPr>
          <a:xfrm>
            <a:off x="2610749" y="5294376"/>
            <a:ext cx="110198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技术侧认可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3895618" y="5193792"/>
            <a:ext cx="182880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124218" y="4892040"/>
            <a:ext cx="1376309" cy="868680"/>
          </a:xfrm>
          <a:prstGeom prst="roundRect">
            <a:avLst>
              <a:gd name="adj" fmla="val 1263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4261378" y="4983480"/>
            <a:ext cx="11019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OSG</a:t>
            </a:r>
            <a:endParaRPr lang="en-US" sz="1150" dirty="0"/>
          </a:p>
        </p:txBody>
      </p:sp>
      <p:sp>
        <p:nvSpPr>
          <p:cNvPr id="53" name="Text 49"/>
          <p:cNvSpPr txBox="1"/>
          <p:nvPr/>
        </p:nvSpPr>
        <p:spPr>
          <a:xfrm>
            <a:off x="4261378" y="5294376"/>
            <a:ext cx="110198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掌权人知情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5546247" y="5193792"/>
            <a:ext cx="182880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5774847" y="4892040"/>
            <a:ext cx="1376309" cy="868680"/>
          </a:xfrm>
          <a:prstGeom prst="roundRect">
            <a:avLst>
              <a:gd name="adj" fmla="val 12632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5912007" y="4983480"/>
            <a:ext cx="11019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TMG</a:t>
            </a:r>
            <a:endParaRPr lang="en-US" sz="1150" dirty="0"/>
          </a:p>
        </p:txBody>
      </p:sp>
      <p:sp>
        <p:nvSpPr>
          <p:cNvPr id="57" name="Text 53"/>
          <p:cNvSpPr txBox="1"/>
          <p:nvPr/>
        </p:nvSpPr>
        <p:spPr>
          <a:xfrm>
            <a:off x="5912007" y="5294376"/>
            <a:ext cx="110198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终审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822960" y="6035040"/>
            <a:ext cx="63281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按顺序上会，让终审者看到方案时已经有下层的认可。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7654077" y="4389120"/>
            <a:ext cx="3986235" cy="2103120"/>
          </a:xfrm>
          <a:prstGeom prst="roundRect">
            <a:avLst>
              <a:gd name="adj" fmla="val 7826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7910109" y="4572000"/>
            <a:ext cx="34741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每周固定投入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7910109" y="4846320"/>
            <a:ext cx="3474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约 5.5 小时</a:t>
            </a:r>
            <a:endParaRPr lang="en-US" sz="2400" dirty="0"/>
          </a:p>
        </p:txBody>
      </p:sp>
      <p:sp>
        <p:nvSpPr>
          <p:cNvPr id="62" name="Text 58"/>
          <p:cNvSpPr txBox="1"/>
          <p:nvPr/>
        </p:nvSpPr>
        <p:spPr>
          <a:xfrm>
            <a:off x="7910109" y="5349240"/>
            <a:ext cx="34741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周一 2h + 周二 2h + 周四 1.5h。这些会本身就是对外沟通的主要场合，与「时间往上和往外投」的安排重合。</a:t>
            </a:r>
            <a:endParaRPr lang="en-US" sz="950" dirty="0"/>
          </a:p>
        </p:txBody>
      </p:sp>
      <p:sp>
        <p:nvSpPr>
          <p:cNvPr id="63" name="Text 59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人员建联：前两个月的建联地图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高层沿上会顺序建立，十月的创新方案汇报是与马汉卿部长的下一场；日常对口按业务节奏接通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1732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向上社交 · 高层</a:t>
            </a:r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沿上会顺序建立，节奏以场次计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329184"/>
          </a:xfrm>
          <a:prstGeom prst="roundRect">
            <a:avLst>
              <a:gd name="adj" fmla="val 16667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1691640"/>
            <a:ext cx="21638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对象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078278" y="1691640"/>
            <a:ext cx="19805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78280" y="1691640"/>
            <a:ext cx="19805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 / 方式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478281" y="1691640"/>
            <a:ext cx="3080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要拿到什么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8282" y="1691640"/>
            <a:ext cx="7888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2020824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" y="2020824"/>
            <a:ext cx="2163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4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马汉卿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3078278" y="2020824"/>
            <a:ext cx="19805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部长</a:t>
            </a:r>
            <a:endParaRPr lang="en-US" sz="880" dirty="0"/>
          </a:p>
        </p:txBody>
      </p:sp>
      <p:sp>
        <p:nvSpPr>
          <p:cNvPr id="15" name="Text 12"/>
          <p:cNvSpPr txBox="1"/>
          <p:nvPr/>
        </p:nvSpPr>
        <p:spPr>
          <a:xfrm>
            <a:off x="5278280" y="2020824"/>
            <a:ext cx="19805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十月 · 创新方案汇报</a:t>
            </a:r>
            <a:endParaRPr lang="en-US" sz="880" dirty="0"/>
          </a:p>
        </p:txBody>
      </p:sp>
      <p:sp>
        <p:nvSpPr>
          <p:cNvPr id="16" name="Text 13"/>
          <p:cNvSpPr txBox="1"/>
          <p:nvPr/>
        </p:nvSpPr>
        <p:spPr>
          <a:xfrm>
            <a:off x="7478281" y="2020824"/>
            <a:ext cx="30805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融合方案已向他汇报过；下一场讲创新方案，同时对齐目标客户（38+ 头部公司）与版本窗口</a:t>
            </a:r>
            <a:endParaRPr lang="en-US" sz="880" dirty="0"/>
          </a:p>
        </p:txBody>
      </p:sp>
      <p:sp>
        <p:nvSpPr>
          <p:cNvPr id="17" name="Text 14"/>
          <p:cNvSpPr txBox="1"/>
          <p:nvPr/>
        </p:nvSpPr>
        <p:spPr>
          <a:xfrm>
            <a:off x="10778282" y="2020824"/>
            <a:ext cx="78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已汇报过融合方案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48640" y="2660904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944" y="2660904"/>
            <a:ext cx="2163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4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任晗 → 汪剑 · 李勉 → 刘金华</a:t>
            </a:r>
            <a:endParaRPr lang="en-US" sz="940" dirty="0"/>
          </a:p>
        </p:txBody>
      </p:sp>
      <p:sp>
        <p:nvSpPr>
          <p:cNvPr id="20" name="Text 17"/>
          <p:cNvSpPr txBox="1"/>
          <p:nvPr/>
        </p:nvSpPr>
        <p:spPr>
          <a:xfrm>
            <a:off x="3078278" y="2660904"/>
            <a:ext cx="19805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SEG → OSG → TMG</a:t>
            </a:r>
            <a:endParaRPr lang="en-US" sz="880" dirty="0"/>
          </a:p>
        </p:txBody>
      </p:sp>
      <p:sp>
        <p:nvSpPr>
          <p:cNvPr id="21" name="Text 18"/>
          <p:cNvSpPr txBox="1"/>
          <p:nvPr/>
        </p:nvSpPr>
        <p:spPr>
          <a:xfrm>
            <a:off x="5278280" y="2660904"/>
            <a:ext cx="19805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月起 · 按上会顺序</a:t>
            </a:r>
            <a:endParaRPr lang="en-US" sz="880" dirty="0"/>
          </a:p>
        </p:txBody>
      </p:sp>
      <p:sp>
        <p:nvSpPr>
          <p:cNvPr id="22" name="Text 19"/>
          <p:cNvSpPr txBox="1"/>
          <p:nvPr/>
        </p:nvSpPr>
        <p:spPr>
          <a:xfrm>
            <a:off x="7478281" y="2660904"/>
            <a:ext cx="30805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技术侧认可 → 掌权人知情 → 大版本终审</a:t>
            </a:r>
            <a:endParaRPr lang="en-US" sz="880" dirty="0"/>
          </a:p>
        </p:txBody>
      </p:sp>
      <p:sp>
        <p:nvSpPr>
          <p:cNvPr id="23" name="Text 20"/>
          <p:cNvSpPr txBox="1"/>
          <p:nvPr/>
        </p:nvSpPr>
        <p:spPr>
          <a:xfrm>
            <a:off x="10778282" y="2660904"/>
            <a:ext cx="788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待建立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3502152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日常业务沟通</a:t>
            </a:r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按业务节奏接通，例会与一对一为主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3776472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4944" y="3776472"/>
            <a:ext cx="2163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4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凌云</a:t>
            </a:r>
            <a:endParaRPr lang="en-US" sz="940" dirty="0"/>
          </a:p>
        </p:txBody>
      </p:sp>
      <p:sp>
        <p:nvSpPr>
          <p:cNvPr id="27" name="Text 24"/>
          <p:cNvSpPr txBox="1"/>
          <p:nvPr/>
        </p:nvSpPr>
        <p:spPr>
          <a:xfrm>
            <a:off x="3078278" y="3776472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PM</a:t>
            </a:r>
            <a:endParaRPr lang="en-US" sz="880" dirty="0"/>
          </a:p>
        </p:txBody>
      </p:sp>
      <p:sp>
        <p:nvSpPr>
          <p:cNvPr id="28" name="Text 25"/>
          <p:cNvSpPr txBox="1"/>
          <p:nvPr/>
        </p:nvSpPr>
        <p:spPr>
          <a:xfrm>
            <a:off x="5278280" y="3776472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月起 · 周四产品体验例会</a:t>
            </a:r>
            <a:endParaRPr lang="en-US" sz="880" dirty="0"/>
          </a:p>
        </p:txBody>
      </p:sp>
      <p:sp>
        <p:nvSpPr>
          <p:cNvPr id="29" name="Text 26"/>
          <p:cNvSpPr txBox="1"/>
          <p:nvPr/>
        </p:nvSpPr>
        <p:spPr>
          <a:xfrm>
            <a:off x="7478281" y="3776472"/>
            <a:ext cx="3080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周四例会由 UX 与 PD 主导：等待与排队可见性等问题从这里推；10 月规划输入</a:t>
            </a:r>
            <a:endParaRPr lang="en-US" sz="880" dirty="0"/>
          </a:p>
        </p:txBody>
      </p:sp>
      <p:sp>
        <p:nvSpPr>
          <p:cNvPr id="30" name="Text 27"/>
          <p:cNvSpPr txBox="1"/>
          <p:nvPr/>
        </p:nvSpPr>
        <p:spPr>
          <a:xfrm>
            <a:off x="10778282" y="3776472"/>
            <a:ext cx="788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进行中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548640" y="43434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94944" y="4343400"/>
            <a:ext cx="2163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4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柳能 · 李广</a:t>
            </a:r>
            <a:endParaRPr lang="en-US" sz="940" dirty="0"/>
          </a:p>
        </p:txBody>
      </p:sp>
      <p:sp>
        <p:nvSpPr>
          <p:cNvPr id="33" name="Text 30"/>
          <p:cNvSpPr txBox="1"/>
          <p:nvPr/>
        </p:nvSpPr>
        <p:spPr>
          <a:xfrm>
            <a:off x="3078278" y="4343400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 beta / 内部 beta 接口人</a:t>
            </a:r>
            <a:endParaRPr lang="en-US" sz="880" dirty="0"/>
          </a:p>
        </p:txBody>
      </p:sp>
      <p:sp>
        <p:nvSpPr>
          <p:cNvPr id="34" name="Text 31"/>
          <p:cNvSpPr txBox="1"/>
          <p:nvPr/>
        </p:nvSpPr>
        <p:spPr>
          <a:xfrm>
            <a:off x="5278280" y="4343400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 · 一对一</a:t>
            </a:r>
            <a:endParaRPr lang="en-US" sz="880" dirty="0"/>
          </a:p>
        </p:txBody>
      </p:sp>
      <p:sp>
        <p:nvSpPr>
          <p:cNvPr id="35" name="Text 32"/>
          <p:cNvSpPr txBox="1"/>
          <p:nvPr/>
        </p:nvSpPr>
        <p:spPr>
          <a:xfrm>
            <a:off x="7478281" y="4343400"/>
            <a:ext cx="3080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外部客户与内部用户的访谈样本——客户互动的来源</a:t>
            </a:r>
            <a:endParaRPr lang="en-US" sz="880" dirty="0"/>
          </a:p>
        </p:txBody>
      </p:sp>
      <p:sp>
        <p:nvSpPr>
          <p:cNvPr id="36" name="Text 33"/>
          <p:cNvSpPr txBox="1"/>
          <p:nvPr/>
        </p:nvSpPr>
        <p:spPr>
          <a:xfrm>
            <a:off x="10778282" y="4343400"/>
            <a:ext cx="788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548640" y="491032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4944" y="4910328"/>
            <a:ext cx="2163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4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毛方竹</a:t>
            </a:r>
            <a:endParaRPr lang="en-US" sz="940" dirty="0"/>
          </a:p>
        </p:txBody>
      </p:sp>
      <p:sp>
        <p:nvSpPr>
          <p:cNvPr id="39" name="Text 36"/>
          <p:cNvSpPr txBox="1"/>
          <p:nvPr/>
        </p:nvSpPr>
        <p:spPr>
          <a:xfrm>
            <a:off x="3078278" y="4910328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辅助开发体验评估 · UX 指标</a:t>
            </a:r>
            <a:endParaRPr lang="en-US" sz="880" dirty="0"/>
          </a:p>
        </p:txBody>
      </p:sp>
      <p:sp>
        <p:nvSpPr>
          <p:cNvPr id="40" name="Text 37"/>
          <p:cNvSpPr txBox="1"/>
          <p:nvPr/>
        </p:nvSpPr>
        <p:spPr>
          <a:xfrm>
            <a:off x="5278280" y="4910328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 · 一对一</a:t>
            </a:r>
            <a:endParaRPr lang="en-US" sz="880" dirty="0"/>
          </a:p>
        </p:txBody>
      </p:sp>
      <p:sp>
        <p:nvSpPr>
          <p:cNvPr id="41" name="Text 38"/>
          <p:cNvSpPr txBox="1"/>
          <p:nvPr/>
        </p:nvSpPr>
        <p:spPr>
          <a:xfrm>
            <a:off x="7478281" y="4910328"/>
            <a:ext cx="3080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930 / 1030 评估模型迭代的对口</a:t>
            </a:r>
            <a:endParaRPr lang="en-US" sz="880" dirty="0"/>
          </a:p>
        </p:txBody>
      </p:sp>
      <p:sp>
        <p:nvSpPr>
          <p:cNvPr id="42" name="Text 39"/>
          <p:cNvSpPr txBox="1"/>
          <p:nvPr/>
        </p:nvSpPr>
        <p:spPr>
          <a:xfrm>
            <a:off x="10778282" y="4910328"/>
            <a:ext cx="788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548640" y="5477256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94944" y="5477256"/>
            <a:ext cx="2163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4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张明修 · 赵吉昌 · 肖政峰</a:t>
            </a:r>
            <a:endParaRPr lang="en-US" sz="940" dirty="0"/>
          </a:p>
        </p:txBody>
      </p:sp>
      <p:sp>
        <p:nvSpPr>
          <p:cNvPr id="45" name="Text 42"/>
          <p:cNvSpPr txBox="1"/>
          <p:nvPr/>
        </p:nvSpPr>
        <p:spPr>
          <a:xfrm>
            <a:off x="3078278" y="5477256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7.1 规划的对口（2D 解决方案组）</a:t>
            </a:r>
            <a:endParaRPr lang="en-US" sz="880" dirty="0"/>
          </a:p>
        </p:txBody>
      </p:sp>
      <p:sp>
        <p:nvSpPr>
          <p:cNvPr id="46" name="Text 43"/>
          <p:cNvSpPr txBox="1"/>
          <p:nvPr/>
        </p:nvSpPr>
        <p:spPr>
          <a:xfrm>
            <a:off x="5278280" y="5477256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 · 会前对齐</a:t>
            </a:r>
            <a:endParaRPr lang="en-US" sz="880" dirty="0"/>
          </a:p>
        </p:txBody>
      </p:sp>
      <p:sp>
        <p:nvSpPr>
          <p:cNvPr id="47" name="Text 44"/>
          <p:cNvSpPr txBox="1"/>
          <p:nvPr/>
        </p:nvSpPr>
        <p:spPr>
          <a:xfrm>
            <a:off x="7478281" y="5477256"/>
            <a:ext cx="3080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十月融合方案汇报的口径</a:t>
            </a:r>
            <a:endParaRPr lang="en-US" sz="880" dirty="0"/>
          </a:p>
        </p:txBody>
      </p:sp>
      <p:sp>
        <p:nvSpPr>
          <p:cNvPr id="48" name="Text 45"/>
          <p:cNvSpPr txBox="1"/>
          <p:nvPr/>
        </p:nvSpPr>
        <p:spPr>
          <a:xfrm>
            <a:off x="10778282" y="5477256"/>
            <a:ext cx="788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待确认对口线</a:t>
            </a:r>
            <a:endParaRPr lang="en-US" sz="880" dirty="0"/>
          </a:p>
        </p:txBody>
      </p:sp>
      <p:sp>
        <p:nvSpPr>
          <p:cNvPr id="49" name="Shape 46"/>
          <p:cNvSpPr/>
          <p:nvPr/>
        </p:nvSpPr>
        <p:spPr>
          <a:xfrm>
            <a:off x="548640" y="6044184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94944" y="6044184"/>
            <a:ext cx="2163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4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李国坤 · 高翔宇</a:t>
            </a:r>
            <a:endParaRPr lang="en-US" sz="940" dirty="0"/>
          </a:p>
        </p:txBody>
      </p:sp>
      <p:sp>
        <p:nvSpPr>
          <p:cNvPr id="51" name="Text 48"/>
          <p:cNvSpPr txBox="1"/>
          <p:nvPr/>
        </p:nvSpPr>
        <p:spPr>
          <a:xfrm>
            <a:off x="3078278" y="6044184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鸿蒙知识语料 / Open IDE</a:t>
            </a:r>
            <a:endParaRPr lang="en-US" sz="880" dirty="0"/>
          </a:p>
        </p:txBody>
      </p:sp>
      <p:sp>
        <p:nvSpPr>
          <p:cNvPr id="52" name="Text 49"/>
          <p:cNvSpPr txBox="1"/>
          <p:nvPr/>
        </p:nvSpPr>
        <p:spPr>
          <a:xfrm>
            <a:off x="5278280" y="6044184"/>
            <a:ext cx="19805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 · 摸底</a:t>
            </a:r>
            <a:endParaRPr lang="en-US" sz="880" dirty="0"/>
          </a:p>
        </p:txBody>
      </p:sp>
      <p:sp>
        <p:nvSpPr>
          <p:cNvPr id="53" name="Text 50"/>
          <p:cNvSpPr txBox="1"/>
          <p:nvPr/>
        </p:nvSpPr>
        <p:spPr>
          <a:xfrm>
            <a:off x="7478281" y="6044184"/>
            <a:ext cx="3080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平台知识 Agent 化的对口；Open IDE 与 DevEco Code 的关系</a:t>
            </a:r>
            <a:endParaRPr lang="en-US" sz="880" dirty="0"/>
          </a:p>
        </p:txBody>
      </p:sp>
      <p:sp>
        <p:nvSpPr>
          <p:cNvPr id="54" name="Text 51"/>
          <p:cNvSpPr txBox="1"/>
          <p:nvPr/>
        </p:nvSpPr>
        <p:spPr>
          <a:xfrm>
            <a:off x="10778282" y="6044184"/>
            <a:ext cx="788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待摸底</a:t>
            </a:r>
            <a:endParaRPr lang="en-US" sz="880" dirty="0"/>
          </a:p>
        </p:txBody>
      </p:sp>
      <p:sp>
        <p:nvSpPr>
          <p:cNvPr id="55" name="Text 52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业务规划：两个重点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重点一对十月汇报；重点二是体验设计的七项运作，其中创新一项对明年 8.0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581912"/>
          </a:xfrm>
          <a:prstGeom prst="roundRect">
            <a:avLst>
              <a:gd name="adj" fmla="val 10405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 · 融合方案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十月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749040" y="1600200"/>
            <a:ext cx="52395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的 GUI 融进 IDE，已合入 7.1，12/30 随版本发布。十月向毛总、高老师汇报方案与演示。要回答的问题：为什么别人要用你的 AI 工具——不卷模型，卷的是在鸿蒙平台上的效率提升与体验提效。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262872" y="1691640"/>
            <a:ext cx="2103120" cy="1033272"/>
          </a:xfrm>
          <a:prstGeom prst="roundRect">
            <a:avLst>
              <a:gd name="adj" fmla="val 8850"/>
            </a:avLst>
          </a:prstGeom>
          <a:solidFill>
            <a:srgbClr val="0B4AD0"/>
          </a:solidFill>
          <a:ln w="6350">
            <a:solidFill>
              <a:srgbClr val="0B4A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262872" y="1691640"/>
            <a:ext cx="21031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《融合方案》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163824"/>
            <a:ext cx="11091672" cy="1581912"/>
          </a:xfrm>
          <a:prstGeom prst="roundRect">
            <a:avLst>
              <a:gd name="adj" fmla="val 10405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346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重点二 · 体验设计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七项，按固定节奏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3346704"/>
            <a:ext cx="52395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当前版本（问题闭环、日常迭代）· 创新（AI、多设备、调优）· 体验评估（已有模型，930/1030 迭代）· 客户互动 · 落地质量 · 舆情跟踪 · 活动支撑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62872" y="3438144"/>
            <a:ext cx="2103120" cy="1033272"/>
          </a:xfrm>
          <a:prstGeom prst="roundRect">
            <a:avLst>
              <a:gd name="adj" fmla="val 8850"/>
            </a:avLst>
          </a:prstGeom>
          <a:solidFill>
            <a:srgbClr val="0B4AD0"/>
          </a:solidFill>
          <a:ln w="6350">
            <a:solidFill>
              <a:srgbClr val="0B4A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62872" y="3438144"/>
            <a:ext cx="21031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《体验设计运作》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4910328"/>
            <a:ext cx="11091672" cy="1581912"/>
          </a:xfrm>
          <a:prstGeom prst="roundRect">
            <a:avLst>
              <a:gd name="adj" fmla="val 10405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5093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└ 创新 → 8.0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477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10 月启动 → 10–11 月 BP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5093208"/>
            <a:ext cx="52395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重点二里的创新一项：研究洞察产出创新点（AI · 多设备 · 调优），与产品线讨论后进规划，做进 8.0（HDC 2027）。研究方法：双周监测、竞品雷达、定向调研。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262872" y="5184648"/>
            <a:ext cx="2103120" cy="1033272"/>
          </a:xfrm>
          <a:prstGeom prst="roundRect">
            <a:avLst>
              <a:gd name="adj" fmla="val 8850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62872" y="5184648"/>
            <a:ext cx="21031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《研究洞察与竞品》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055" y="1920240"/>
            <a:ext cx="6889252" cy="1417320"/>
          </a:xfrm>
          <a:prstGeom prst="rect">
            <a:avLst/>
          </a:prstGeom>
        </p:spPr>
      </p:pic>
      <p:pic>
        <p:nvPicPr>
          <p:cNvPr id="3" name="Image 1" descr="/root/deck/assets/icon_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 · 融合方案：三个产品、两类客户、一种语言——为什么要融合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开发者接触到的是 IDE；三个产品服务两类客户；头部公司要的不是又一个 Agent 工具，是打包与鸿蒙相关的能力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548640" y="1417320"/>
            <a:ext cx="11091672" cy="2148840"/>
          </a:xfrm>
          <a:prstGeom prst="roundRect">
            <a:avLst>
              <a:gd name="adj" fmla="val 766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7" name="Image 2" descr="/root/deck/assets/grid_box.png">    </p:cNvPr>
          <p:cNvPicPr>
            <a:picLocks noChangeAspect="1"/>
          </p:cNvPicPr>
          <p:nvPr/>
        </p:nvPicPr>
        <p:blipFill>
          <a:blip r:embed="rId3"/>
          <a:srcRect l="0" r="9002" t="0" b="68667"/>
          <a:stretch/>
        </p:blipFill>
        <p:spPr>
          <a:xfrm>
            <a:off x="548640" y="1417320"/>
            <a:ext cx="11091672" cy="21488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2940" y="34518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62940" y="33284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1402568" y="34518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1526012" y="33284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1581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三个产品，融合后各出一样东西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22960" y="1920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87552" y="201168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87552" y="2304288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87552" y="23042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客户端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987552" y="259689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  </a:t>
            </a:r>
            <a:pPr algn="l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底座与 IDE 能力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987552" y="283464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编辑、构建、调试、预览、真机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502152" y="1920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666744" y="201168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KIT · DevEco CLI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666744" y="230428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666744" y="23042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工具箱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3666744" y="259689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  </a:t>
            </a:r>
            <a:pPr algn="l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与 MCP（开放能力）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3666744" y="283464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开发工具集、语法检查、打包——不自己运行，装进任何 Agent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181344" y="19202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345936" y="201168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345936" y="2304288"/>
            <a:ext cx="1426464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345936" y="230428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TUI + GUI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6345936" y="259689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  </a:t>
            </a:r>
            <a:pPr algn="l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能力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6345936" y="283464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独立用是终端 TUI；在 IDE 里是 GUI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8860536" y="2487168"/>
            <a:ext cx="292608" cy="274320"/>
          </a:xfrm>
          <a:prstGeom prst="rightArrow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198864" y="1920240"/>
            <a:ext cx="2212848" cy="1417320"/>
          </a:xfrm>
          <a:prstGeom prst="roundRect">
            <a:avLst>
              <a:gd name="adj" fmla="val 6452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272016" y="2011680"/>
            <a:ext cx="2048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KIT + TUI + IDE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一个融合的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开发体验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548640" y="3749040"/>
            <a:ext cx="6949440" cy="2743200"/>
          </a:xfrm>
          <a:prstGeom prst="roundRect">
            <a:avLst>
              <a:gd name="adj" fmla="val 600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22960" y="3913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两类客户，要的东西不一样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822960" y="420624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00584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头部公司（今年的目标）</a:t>
            </a:r>
            <a:endParaRPr lang="en-US" sz="1150" dirty="0"/>
          </a:p>
        </p:txBody>
      </p:sp>
      <p:sp>
        <p:nvSpPr>
          <p:cNvPr id="42" name="Text 37"/>
          <p:cNvSpPr txBox="1"/>
          <p:nvPr/>
        </p:nvSpPr>
        <p:spPr>
          <a:xfrm>
            <a:off x="100584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字节 Trae、百度、阿里等都有自研 IDE；网易云音乐、微信等头部应用</a:t>
            </a:r>
            <a:endParaRPr lang="en-US" sz="880" dirty="0"/>
          </a:p>
        </p:txBody>
      </p:sp>
      <p:sp>
        <p:nvSpPr>
          <p:cNvPr id="43" name="Text 38"/>
          <p:cNvSpPr txBox="1"/>
          <p:nvPr/>
        </p:nvSpPr>
        <p:spPr>
          <a:xfrm>
            <a:off x="1005840" y="499262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有自己的 Agent 工具，不需要再来一个</a:t>
            </a:r>
            <a:endParaRPr lang="en-US" sz="90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只要打包与鸿蒙相关的能力，经 Skill / MCP 装进自己的工作流</a:t>
            </a:r>
            <a:endParaRPr lang="en-US" sz="90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对应产品：KIT + IDE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4114800" y="4206240"/>
            <a:ext cx="3108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429768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中小与独立开发者</a:t>
            </a:r>
            <a:endParaRPr lang="en-US" sz="1150" dirty="0"/>
          </a:p>
        </p:txBody>
      </p:sp>
      <p:sp>
        <p:nvSpPr>
          <p:cNvPr id="46" name="Text 41"/>
          <p:cNvSpPr txBox="1"/>
          <p:nvPr/>
        </p:nvSpPr>
        <p:spPr>
          <a:xfrm>
            <a:off x="429768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没有自己的 Agent 工具，有一些免费 token</a:t>
            </a:r>
            <a:endParaRPr lang="en-US" sz="880" dirty="0"/>
          </a:p>
        </p:txBody>
      </p:sp>
      <p:sp>
        <p:nvSpPr>
          <p:cNvPr id="47" name="Text 42"/>
          <p:cNvSpPr txBox="1"/>
          <p:nvPr/>
        </p:nvSpPr>
        <p:spPr>
          <a:xfrm>
            <a:off x="4297680" y="499262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DevEco Code：独立用是 TUI，在 IDE 里是 GUI</a:t>
            </a:r>
            <a:endParaRPr lang="en-US" sz="90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一站式，装好就能开始</a:t>
            </a:r>
            <a:endParaRPr lang="en-US" sz="90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对应产品：Code + IDE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7726680" y="3749040"/>
            <a:ext cx="3913632" cy="2743200"/>
          </a:xfrm>
          <a:prstGeom prst="roundRect">
            <a:avLst>
              <a:gd name="adj" fmla="val 6000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7982712" y="39136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一个前提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7982712" y="420624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鸿蒙开发只有 ArkTS 一种语言</a:t>
            </a:r>
            <a:endParaRPr lang="en-US" sz="1300" dirty="0"/>
          </a:p>
        </p:txBody>
      </p:sp>
      <p:sp>
        <p:nvSpPr>
          <p:cNvPr id="51" name="Text 46"/>
          <p:cNvSpPr txBox="1"/>
          <p:nvPr/>
        </p:nvSpPr>
        <p:spPr>
          <a:xfrm>
            <a:off x="7982712" y="477316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2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不像通用 IDE 要同时照顾多种语言——工具、检查、打包都可以围绕一种语言做深，融合的深度有上限，也有把握。</a:t>
            </a:r>
            <a:endParaRPr lang="en-US" sz="920" dirty="0"/>
          </a:p>
        </p:txBody>
      </p:sp>
      <p:sp>
        <p:nvSpPr>
          <p:cNvPr id="52" name="Shape 47"/>
          <p:cNvSpPr/>
          <p:nvPr/>
        </p:nvSpPr>
        <p:spPr>
          <a:xfrm>
            <a:off x="7982712" y="5577840"/>
            <a:ext cx="3401568" cy="749808"/>
          </a:xfrm>
          <a:prstGeom prst="roundRect">
            <a:avLst>
              <a:gd name="adj" fmla="val 12195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8110728" y="5623560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8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打个比方  </a:t>
            </a:r>
            <a:pPr algn="l" indent="0" marL="0">
              <a:lnSpc>
                <a:spcPct val="128000"/>
              </a:lnSpc>
              <a:buNone/>
            </a:pPr>
            <a:r>
              <a:rPr lang="en-US" sz="88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 的模拟器插件，在 Codex 和 Claude Code 里就能直接用。「鸿蒙开发工具插件」是同一个思路：开发者用他自己的 Agent，鸿蒙的能力跟着进去。</a:t>
            </a:r>
            <a:endParaRPr lang="en-US" sz="880" dirty="0"/>
          </a:p>
        </p:txBody>
      </p:sp>
      <p:sp>
        <p:nvSpPr>
          <p:cNvPr id="54" name="Text 49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 · 融合方案的来龙去脉：走过两个版本，第三条路回到 IDE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 AI 的冲击让节奏变化很快；三个版本对应三种做法，第三条路是终端侧要的形态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2286000"/>
          </a:xfrm>
          <a:prstGeom prst="roundRect">
            <a:avLst>
              <a:gd name="adj" fmla="val 720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9002" t="0" b="66667"/>
          <a:stretch/>
        </p:blipFill>
        <p:spPr>
          <a:xfrm>
            <a:off x="548640" y="1417320"/>
            <a:ext cx="11091672" cy="2286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35890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346557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02568" y="35890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526012" y="346557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1581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三个版本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2960" y="1892808"/>
            <a:ext cx="3300984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05840" y="19659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版本一 · 2024 年底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220370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模式切换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1005840" y="2532888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左上角切换「传统开发 / 智慧模式」，类似 Trae 的 Solo</a:t>
            </a:r>
            <a:endParaRPr lang="en-US" sz="880" dirty="0"/>
          </a:p>
        </p:txBody>
      </p:sp>
      <p:sp>
        <p:nvSpPr>
          <p:cNvPr id="20" name="Text 16"/>
          <p:cNvSpPr txBox="1"/>
          <p:nvPr/>
        </p:nvSpPr>
        <p:spPr>
          <a:xfrm>
            <a:off x="1005840" y="297180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经验：我们不是面向 C 端卖服务的公司，整套切换的形态不贴我们的客户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178808" y="2606040"/>
            <a:ext cx="210312" cy="237744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443984" y="1892808"/>
            <a:ext cx="3300984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626864" y="19659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版本二 · 2025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4626864" y="220370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工具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4626864" y="2532888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孵化出 DevEco Code（TUI + GUI），独立的 Agent 产品</a:t>
            </a:r>
            <a:endParaRPr lang="en-US" sz="880" dirty="0"/>
          </a:p>
        </p:txBody>
      </p:sp>
      <p:sp>
        <p:nvSpPr>
          <p:cNvPr id="26" name="Text 22"/>
          <p:cNvSpPr txBox="1"/>
          <p:nvPr/>
        </p:nvSpPr>
        <p:spPr>
          <a:xfrm>
            <a:off x="4626864" y="297180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经验：与终端侧的头部公司目标不绑定——头部公司有自己的 Agent，这条路没有成为主线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799832" y="2606040"/>
            <a:ext cx="210312" cy="237744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065008" y="1892808"/>
            <a:ext cx="3300984" cy="1645920"/>
          </a:xfrm>
          <a:prstGeom prst="roundRect">
            <a:avLst>
              <a:gd name="adj" fmla="val 5556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247888" y="19659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版本三 · 2026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8247888" y="2203704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回到 IDE：KIT + TUI + IDE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8247888" y="2532888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三者融合：KIT 出 Skill 与 MCP，IDE 出底座，Code 出 Agent 能力</a:t>
            </a:r>
            <a:endParaRPr lang="en-US" sz="880" dirty="0"/>
          </a:p>
        </p:txBody>
      </p:sp>
      <p:sp>
        <p:nvSpPr>
          <p:cNvPr id="32" name="Text 28"/>
          <p:cNvSpPr txBox="1"/>
          <p:nvPr/>
        </p:nvSpPr>
        <p:spPr>
          <a:xfrm>
            <a:off x="8247888" y="297180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这是终端侧要的形态：头部公司拿开放能力与打包，中小与独立开发者拿一站式 IDE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59436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版本三分三个阶段走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48640" y="4215384"/>
            <a:ext cx="3575304" cy="2276856"/>
          </a:xfrm>
          <a:prstGeom prst="roundRect">
            <a:avLst>
              <a:gd name="adj" fmla="val 722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86384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325880" y="4343400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阶段一 · CLI 终端工具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786384" y="4782312"/>
            <a:ext cx="3099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鸿蒙开发工具以 CLI + Skill / MCP 的形态装进开发者已有的 Agent</a:t>
            </a:r>
            <a:endParaRPr lang="en-US" sz="900" dirty="0"/>
          </a:p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生效方式：调用一个工具，返回一段反馈</a:t>
            </a:r>
            <a:endParaRPr lang="en-US" sz="900" dirty="0"/>
          </a:p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面向头部公司的第一步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306824" y="4215384"/>
            <a:ext cx="3575304" cy="2276856"/>
          </a:xfrm>
          <a:prstGeom prst="roundRect">
            <a:avLst>
              <a:gd name="adj" fmla="val 72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544568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5084064" y="4343400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阶段二 · IDE 插件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4544568" y="4782312"/>
            <a:ext cx="3099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同一套能力进入 IDE，成为插件</a:t>
            </a:r>
            <a:endParaRPr lang="en-US" sz="900" dirty="0"/>
          </a:p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 的 Agent 能力在 IDE 里以 GUI 出现</a:t>
            </a:r>
            <a:endParaRPr lang="en-US" sz="900" dirty="0"/>
          </a:p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7.1 已合入的「GUI 与 Agent 融合」落在这一段（阶段对应待确认）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8065008" y="4215384"/>
            <a:ext cx="3575304" cy="2276856"/>
          </a:xfrm>
          <a:prstGeom prst="roundRect">
            <a:avLst>
              <a:gd name="adj" fmla="val 7229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302752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8842248" y="4343400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阶段三 · 深层互动场景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8302752" y="5943600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8302752" y="5943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方案未定 · 8.0 候选</a:t>
            </a:r>
            <a:endParaRPr lang="en-US" sz="850" dirty="0"/>
          </a:p>
        </p:txBody>
      </p:sp>
      <p:sp>
        <p:nvSpPr>
          <p:cNvPr id="47" name="Text 43"/>
          <p:cNvSpPr txBox="1"/>
          <p:nvPr/>
        </p:nvSpPr>
        <p:spPr>
          <a:xfrm>
            <a:off x="8302752" y="4782312"/>
            <a:ext cx="3099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方案未定，可能是 8.0 的内容，十月之后启动</a:t>
            </a:r>
            <a:endParaRPr lang="en-US" sz="900" dirty="0"/>
          </a:p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候选：搜索与检索、变成对话、功能创建模板……</a:t>
            </a:r>
            <a:endParaRPr lang="en-US" sz="900" dirty="0"/>
          </a:p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前提：弄清对面部长要的是什么、考核什么——十月汇报就是问的场合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 · 融合后的体验长什么样，以及高老师、盼总问的两个问题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头部公司那一侧的体验面就三处：装得上、调得对、看得懂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754880" cy="5074920"/>
          </a:xfrm>
          <a:prstGeom prst="roundRect">
            <a:avLst>
              <a:gd name="adj" fmla="val 346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60990" t="0" b="26000"/>
          <a:stretch/>
        </p:blipFill>
        <p:spPr>
          <a:xfrm>
            <a:off x="548640" y="1417320"/>
            <a:ext cx="475488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65776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18922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65776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89220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1581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头部公司开发者的一次使用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2960" y="1947672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3A3A3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60120" y="2002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开发者在自己的 Agent 里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" y="2295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/ Codex / 自家 IDE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825496" y="2624328"/>
            <a:ext cx="201168" cy="201168"/>
          </a:xfrm>
          <a:prstGeom prst="downArrow">
            <a:avLst/>
          </a:prstGeom>
          <a:solidFill>
            <a:srgbClr val="9FBBFB"/>
          </a:solidFill>
          <a:ln w="6350">
            <a:solidFill>
              <a:srgbClr val="9FBBF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2843784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0120" y="2898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装上鸿蒙开发工具插件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60120" y="3191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+ Skill / MCP，一条命令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2825496" y="3520440"/>
            <a:ext cx="201168" cy="201168"/>
          </a:xfrm>
          <a:prstGeom prst="downArrow">
            <a:avLst/>
          </a:prstGeom>
          <a:solidFill>
            <a:srgbClr val="9FBBFB"/>
          </a:solidFill>
          <a:ln w="6350">
            <a:solidFill>
              <a:srgbClr val="9FBBF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2960" y="3739896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60120" y="3794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调用一个工具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960120" y="4087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语法检查 · 打包 · 开发工具集 · 模拟器……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825496" y="4416552"/>
            <a:ext cx="201168" cy="201168"/>
          </a:xfrm>
          <a:prstGeom prst="downArrow">
            <a:avLst/>
          </a:prstGeom>
          <a:solidFill>
            <a:srgbClr val="9FBBFB"/>
          </a:solidFill>
          <a:ln w="6350">
            <a:solidFill>
              <a:srgbClr val="9FBBF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2960" y="4636008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60120" y="4690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看到一段反馈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960120" y="4983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成功了吗、哪里错了、下一步去哪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822960" y="5577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体验面就在这三处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22960" y="5824728"/>
            <a:ext cx="1341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22960" y="5852160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装得上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868680" y="6080760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发现与安装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2255520" y="5824728"/>
            <a:ext cx="1341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255520" y="5852160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调得对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2301240" y="6080760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工具描述、参数、失败提示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3688080" y="5824728"/>
            <a:ext cx="1341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3688080" y="5852160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看得懂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3733800" y="6080760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反馈可读、可诊断、能回到 IDE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5532120" y="1417320"/>
            <a:ext cx="6108192" cy="2446020"/>
          </a:xfrm>
          <a:prstGeom prst="roundRect">
            <a:avLst>
              <a:gd name="adj" fmla="val 672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788152" y="1600200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问题一：我们能不能做 Skill？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5788152" y="1929384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能。Skill 是写给 Agent 看的说明书，不是代码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5788152" y="2286000"/>
            <a:ext cx="559612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设计做的是 Skill 的四件事：什么时候触发、需要哪些输入、反馈长什么样、失败了怎么说</a:t>
            </a:r>
            <a:endParaRPr lang="en-US" sz="1000" dirty="0"/>
          </a:p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团队已有把需求文档变成 Skill 流水线的经验，可以直接迁过来</a:t>
            </a:r>
            <a:endParaRPr lang="en-US" sz="1000" dirty="0"/>
          </a:p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先从 KIT 里最常用的一两个工具（语法检查、打包）做样板，进阶段一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5532120" y="4046220"/>
            <a:ext cx="6108192" cy="2446020"/>
          </a:xfrm>
          <a:prstGeom prst="roundRect">
            <a:avLst>
              <a:gd name="adj" fmla="val 6729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788152" y="4229100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问题二：怎么有自己的体验策略？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5788152" y="4558284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三条候选，十月前定一条主线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5788152" y="4914900"/>
            <a:ext cx="559612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在别人的 Agent 里的存在感：每次调用的反馈用同一套语言、同一种状态表达——这是鸿蒙的名片</a:t>
            </a:r>
            <a:endParaRPr lang="en-US" sz="1000" dirty="0"/>
          </a:p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里 GUI 与 Agent 融合的可见、可审阅、可回退（研究洞察里确认过的空位）</a:t>
            </a:r>
            <a:endParaRPr lang="en-US" sz="1000" dirty="0"/>
          </a:p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三形态一致：Studio / CLI / Code 同一套状态、术语与反馈格式，不让开发者感觉是三个产品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 · 融合方案要回答的挑战点——为什么别人要用你的 AI 工具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不卷模型，卷的是在鸿蒙平台上的效率提升与体验提效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5074920"/>
          </a:xfrm>
          <a:prstGeom prst="roundRect">
            <a:avLst>
              <a:gd name="adj" fmla="val 4091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挑战点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842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「为什么别人要用你的 AI 工具？」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横向 AI 工具（Codex / Trae / Cursor）比的是模型，换代以月计，谁都追不上。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平台方比的是可信的执行与真值：编译、真机、UI 意图校验、崩溃修复、API / since 真值——这些只有平台方能做对，也不会因为模型换代而贬值。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所以答案不是「我们的 AI 更聪明」，而是「在鸿蒙上，用我们的更快、更省、更放心」。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562356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87552" y="5669280"/>
            <a:ext cx="3145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打个比方  </a:t>
            </a:r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他们是航空公司，我们做机场——航空公司随时换，机场谁都得经过。</a:t>
            </a:r>
            <a:endParaRPr lang="en-US" sz="96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417320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回答的两个抓手（十月汇报的主线）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1783080"/>
            <a:ext cx="6839712" cy="1760220"/>
          </a:xfrm>
          <a:prstGeom prst="roundRect">
            <a:avLst>
              <a:gd name="adj" fmla="val 9351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56632" y="1965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94767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2313432"/>
            <a:ext cx="5833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开发者在鸿蒙上完成一个任务的耗时、一次成功率、返工次数。融合方案把 Agent 接进 GUI 之后，这些数字怎么变。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3086100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候选指标  </a:t>
            </a:r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任务耗时 / 一次成功率 / 返工次数 / 从写到真机跑通的步数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00600" y="3680460"/>
            <a:ext cx="6839712" cy="1760220"/>
          </a:xfrm>
          <a:prstGeom prst="roundRect">
            <a:avLst>
              <a:gd name="adj" fmla="val 9351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56632" y="38633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3845052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体验提效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4210812"/>
            <a:ext cx="5833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开发者感知到的顺畅：不用切工具、等待可见、改动可审阅可回退、出错有恢复路径。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4983480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候选指标  </a:t>
            </a:r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步数与切换次数 / 等待可见 / 审阅与回退 / 满意度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00600" y="5577840"/>
            <a:ext cx="6839712" cy="914400"/>
          </a:xfrm>
          <a:prstGeom prst="roundRect">
            <a:avLst>
              <a:gd name="adj" fmla="val 1800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56632" y="5687568"/>
            <a:ext cx="6327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融合方案怎么回答这个问题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056632" y="5943600"/>
            <a:ext cx="6327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头部公司：不劝他们换 Agent，把鸿蒙的开放能力（Skill / MCP、打包）装进他们已有的工作流——用我们的，因为不用换工具、不用改习惯</a:t>
            </a:r>
            <a:endParaRPr lang="en-US" sz="90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中小与独立开发者：一站式 IDE + Code，装好就能开始——用我们的，因为最省事；一种语言，做得深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 · 十月汇报：讲什么、怎么讲「已落地」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汇报融合方案本身与演示；口径建议：已合入 7.1，12/30 随版本发布，效果数据发布后回收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417320"/>
          </a:xfrm>
          <a:prstGeom prst="roundRect">
            <a:avLst>
              <a:gd name="adj" fmla="val 1161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9002" t="0" b="79333"/>
          <a:stretch/>
        </p:blipFill>
        <p:spPr>
          <a:xfrm>
            <a:off x="548640" y="1417320"/>
            <a:ext cx="11091672" cy="1417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27203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25968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02568" y="27203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526012" y="25968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1645920"/>
            <a:ext cx="253288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0120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月上中旬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2002536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7.1 规划对口（张明修 / 赵吉昌 / 肖政峰）确认合入范围、定指标口径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374136" y="1984248"/>
            <a:ext cx="100584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493008" y="1645920"/>
            <a:ext cx="253288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630168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月下旬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630168" y="2002536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在内部版本上把入口、流程、界面走通，录屏备份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044184" y="1984248"/>
            <a:ext cx="100584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63056" y="1645920"/>
            <a:ext cx="2532888" cy="960120"/>
          </a:xfrm>
          <a:prstGeom prst="roundRect">
            <a:avLst>
              <a:gd name="adj" fmla="val 9524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00216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月上旬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300216" y="2002536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演示脚本 + 内部预讲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714232" y="1984248"/>
            <a:ext cx="100584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833104" y="1645920"/>
            <a:ext cx="2532888" cy="960120"/>
          </a:xfrm>
          <a:prstGeom prst="roundRect">
            <a:avLst>
              <a:gd name="adj" fmla="val 9524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970264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月中下旬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8970264" y="2002536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向毛总、高老师汇报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48640" y="3017520"/>
            <a:ext cx="3575304" cy="3474720"/>
          </a:xfrm>
          <a:prstGeom prst="roundRect">
            <a:avLst>
              <a:gd name="adj" fmla="val 473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04672" y="32186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讲什么</a:t>
            </a:r>
            <a:endParaRPr lang="en-US" sz="1350" dirty="0"/>
          </a:p>
        </p:txBody>
      </p:sp>
      <p:sp>
        <p:nvSpPr>
          <p:cNvPr id="32" name="Text 28"/>
          <p:cNvSpPr txBox="1"/>
          <p:nvPr/>
        </p:nvSpPr>
        <p:spPr>
          <a:xfrm>
            <a:off x="804672" y="3621024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挑战点的回答：不卷模型，卷鸿蒙上的效率与体验（上一页）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阶段一已上线的部分：CLI 与 DevEco Code，可以现场演示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阶段二 7.1 的 GUI 融合：用路线图与原型讲，不做演示 + 内部客户样本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现场演示：一个任务从写到真机跑通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下一步：12/30 与 8.0 的延续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306824" y="3017520"/>
            <a:ext cx="3575304" cy="3474720"/>
          </a:xfrm>
          <a:prstGeom prst="roundRect">
            <a:avLst>
              <a:gd name="adj" fmla="val 4737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562856" y="32186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「已落地」怎么说</a:t>
            </a:r>
            <a:endParaRPr lang="en-US" sz="1350" dirty="0"/>
          </a:p>
        </p:txBody>
      </p:sp>
      <p:sp>
        <p:nvSpPr>
          <p:cNvPr id="35" name="Text 31"/>
          <p:cNvSpPr txBox="1"/>
          <p:nvPr/>
        </p:nvSpPr>
        <p:spPr>
          <a:xfrm>
            <a:off x="4562856" y="3621024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说事实：阶段一已上线可演示；阶段二方案已定稿、研发中，随 12/30 的 7.1 发布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说验证：十月给的是阶段一的实际效果 + 阶段二的原型，阶段二的数据在 12/30 之后回收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不说「已完成」「全面落地」——留出效果不及预期的余地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把「验证中」讲成设计的方法：先进版本，再用数据迭代——这本身就是打法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065008" y="3017520"/>
            <a:ext cx="3575304" cy="3474720"/>
          </a:xfrm>
          <a:prstGeom prst="roundRect">
            <a:avLst>
              <a:gd name="adj" fmla="val 473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321040" y="32186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风险与准备</a:t>
            </a:r>
            <a:endParaRPr lang="en-US" sz="1350" dirty="0"/>
          </a:p>
        </p:txBody>
      </p:sp>
      <p:sp>
        <p:nvSpPr>
          <p:cNvPr id="38" name="Text 34"/>
          <p:cNvSpPr txBox="1"/>
          <p:nvPr/>
        </p:nvSpPr>
        <p:spPr>
          <a:xfrm>
            <a:off x="8321040" y="3621024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阶段二十月还不能演示——用阶段一的实际使用 + 原型走查补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效果不及预期：提前准备「哪里没达到、下一版怎么改」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演示故障：录屏备份 + 真机备机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口径不一致：汇报前与凌云及 7.1 对口对齐指标定义，再向盼总同步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重点二 · 体验设计：七项，一张总表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每一项都有固定节奏、固定对口与固定产出；人按战线分：主攻（我 + ACL）、守成（视觉合作）、机制（ACL 执行、我定口径）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663190" cy="2464308"/>
          </a:xfrm>
          <a:prstGeom prst="roundRect">
            <a:avLst>
              <a:gd name="adj" fmla="val 667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当前版本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84248"/>
            <a:ext cx="2205990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问题闭环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日常迭代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7240" y="347014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47014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每个版本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58134" y="1417320"/>
            <a:ext cx="2663190" cy="2464308"/>
          </a:xfrm>
          <a:prstGeom prst="roundRect">
            <a:avLst>
              <a:gd name="adj" fmla="val 667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86734" y="1600200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3586734" y="1984248"/>
            <a:ext cx="2205990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多设备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调优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86734" y="3470148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86734" y="347014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 8.0 规划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67628" y="1417320"/>
            <a:ext cx="2663190" cy="2464308"/>
          </a:xfrm>
          <a:prstGeom prst="roundRect">
            <a:avLst>
              <a:gd name="adj" fmla="val 667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6228" y="1600200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体验评估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396228" y="1984248"/>
            <a:ext cx="2205990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已有评估模型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930 / 1030 重新迭代优化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96228" y="347014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96228" y="347014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每个版本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977122" y="1417320"/>
            <a:ext cx="2663190" cy="2464308"/>
          </a:xfrm>
          <a:prstGeom prst="roundRect">
            <a:avLst>
              <a:gd name="adj" fmla="val 667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05722" y="1600200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客户互动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9205722" y="1984248"/>
            <a:ext cx="2205990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问卷访谈、现场支撑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外部客户 / 内部客户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关键角色互动 · 产品经理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205722" y="3470148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05722" y="34701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" y="4027932"/>
            <a:ext cx="2663190" cy="2464308"/>
          </a:xfrm>
          <a:prstGeom prst="roundRect">
            <a:avLst>
              <a:gd name="adj" fmla="val 667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210812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落地质量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594860"/>
            <a:ext cx="2205990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体验例会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版本检视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日常体验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77240" y="6080760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608076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每周 / 每版本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358134" y="4027932"/>
            <a:ext cx="2663190" cy="2464308"/>
          </a:xfrm>
          <a:prstGeom prst="roundRect">
            <a:avLst>
              <a:gd name="adj" fmla="val 667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86734" y="4210812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舆情跟踪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3586734" y="4594860"/>
            <a:ext cx="2205990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外部客户舆情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双周监测机制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586734" y="6080760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586734" y="60807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双周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167628" y="4027932"/>
            <a:ext cx="2663190" cy="2464308"/>
          </a:xfrm>
          <a:prstGeom prst="roundRect">
            <a:avLst>
              <a:gd name="adj" fmla="val 667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96228" y="4210812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活动支撑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6396228" y="4594860"/>
            <a:ext cx="2205990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930 鸿蒙版本发布活动支撑</a:t>
            </a:r>
            <a:endParaRPr lang="en-US" sz="10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内部汇报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396228" y="608076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96228" y="60807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按节点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8977122" y="4027932"/>
            <a:ext cx="2663190" cy="2464308"/>
          </a:xfrm>
          <a:prstGeom prst="roundRect">
            <a:avLst>
              <a:gd name="adj" fmla="val 6679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205722" y="4210812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责任人与产出</a:t>
            </a:r>
            <a:endParaRPr lang="en-US" sz="1350" dirty="0"/>
          </a:p>
        </p:txBody>
      </p:sp>
      <p:sp>
        <p:nvSpPr>
          <p:cNvPr id="42" name="Text 39"/>
          <p:cNvSpPr txBox="1"/>
          <p:nvPr/>
        </p:nvSpPr>
        <p:spPr>
          <a:xfrm>
            <a:off x="9205722" y="4530852"/>
            <a:ext cx="22059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按战线分人，不按触点分人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9205722" y="4805172"/>
            <a:ext cx="22059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当前版本 · 落地质量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9205722" y="500634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GJL + 视觉合作顶产能，我终审；例会我参加，ACL 跟问题清单</a:t>
            </a:r>
            <a:endParaRPr lang="en-US" sz="860" dirty="0"/>
          </a:p>
        </p:txBody>
      </p:sp>
      <p:sp>
        <p:nvSpPr>
          <p:cNvPr id="45" name="Text 42"/>
          <p:cNvSpPr txBox="1"/>
          <p:nvPr/>
        </p:nvSpPr>
        <p:spPr>
          <a:xfrm>
            <a:off x="9205722" y="5353812"/>
            <a:ext cx="22059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 · 体验评估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9205722" y="555498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 + ACL 主攻；评估由 ACL 执行、我定口径，对口毛方竹</a:t>
            </a:r>
            <a:endParaRPr lang="en-US" sz="860" dirty="0"/>
          </a:p>
        </p:txBody>
      </p:sp>
      <p:sp>
        <p:nvSpPr>
          <p:cNvPr id="47" name="Text 44"/>
          <p:cNvSpPr txBox="1"/>
          <p:nvPr/>
        </p:nvSpPr>
        <p:spPr>
          <a:xfrm>
            <a:off x="9205722" y="5902452"/>
            <a:ext cx="22059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客户互动 · 舆情 · 活动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9205722" y="610362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D9D9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访谈我主谈、ACL 记录；监测我维护逐步交 ACL；物料视觉合作，汇报我出</a:t>
            </a:r>
            <a:endParaRPr lang="en-US" sz="860" dirty="0"/>
          </a:p>
        </p:txBody>
      </p:sp>
      <p:sp>
        <p:nvSpPr>
          <p:cNvPr id="49" name="Text 46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当前版本与落地质量：问题从哪里来、到哪里闭环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问题闭环、日常迭代、体验例会、版本检视、日常体验，五件事构成一个环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2377440"/>
          </a:xfrm>
          <a:prstGeom prst="roundRect">
            <a:avLst>
              <a:gd name="adj" fmla="val 692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9002" t="0" b="65333"/>
          <a:stretch/>
        </p:blipFill>
        <p:spPr>
          <a:xfrm>
            <a:off x="548640" y="1417320"/>
            <a:ext cx="11091672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36804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35570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02568" y="36804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526012" y="35570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1737360"/>
            <a:ext cx="1566672" cy="1234440"/>
          </a:xfrm>
          <a:prstGeom prst="roundRect">
            <a:avLst>
              <a:gd name="adj" fmla="val 8889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0120" y="1828800"/>
            <a:ext cx="129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日常体验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2139696"/>
            <a:ext cx="1292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自己用、内部客户用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发现问题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417064" y="2221992"/>
            <a:ext cx="173736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618232" y="1737360"/>
            <a:ext cx="1566672" cy="1234440"/>
          </a:xfrm>
          <a:prstGeom prst="roundRect">
            <a:avLst>
              <a:gd name="adj" fmla="val 8889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755392" y="1828800"/>
            <a:ext cx="129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舆情 / 客户反馈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2755392" y="2139696"/>
            <a:ext cx="1292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外部渠道、访谈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汇入同一清单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212336" y="2221992"/>
            <a:ext cx="173736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13504" y="1737360"/>
            <a:ext cx="1566672" cy="1234440"/>
          </a:xfrm>
          <a:prstGeom prst="roundRect">
            <a:avLst>
              <a:gd name="adj" fmla="val 8889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50664" y="1828800"/>
            <a:ext cx="129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产品体验例会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550664" y="2139696"/>
            <a:ext cx="1292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周四 · 凌云主持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UX 与 PD 主导，定级分派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007608" y="2221992"/>
            <a:ext cx="173736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08776" y="1737360"/>
            <a:ext cx="1566672" cy="1234440"/>
          </a:xfrm>
          <a:prstGeom prst="roundRect">
            <a:avLst>
              <a:gd name="adj" fmla="val 88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345936" y="1828800"/>
            <a:ext cx="129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日常迭代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6345936" y="2139696"/>
            <a:ext cx="1292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进版本的设计修改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参考实现优先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7802880" y="2221992"/>
            <a:ext cx="173736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04048" y="1737360"/>
            <a:ext cx="1566672" cy="1234440"/>
          </a:xfrm>
          <a:prstGeom prst="roundRect">
            <a:avLst>
              <a:gd name="adj" fmla="val 8889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141208" y="1828800"/>
            <a:ext cx="129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版本检视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8141208" y="2139696"/>
            <a:ext cx="1292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OSG 周二同步进展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发布前对照评估模型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9598152" y="2221992"/>
            <a:ext cx="173736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799320" y="1737360"/>
            <a:ext cx="1566672" cy="1234440"/>
          </a:xfrm>
          <a:prstGeom prst="roundRect">
            <a:avLst>
              <a:gd name="adj" fmla="val 8889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936480" y="1828800"/>
            <a:ext cx="129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问题闭环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9936480" y="2139696"/>
            <a:ext cx="1292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CCB 例会问题单闭环</a:t>
            </a:r>
            <a:endParaRPr lang="en-US" sz="9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结论回给来源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822960" y="31089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闭环的结论回到「日常体验」与「舆情 / 客户反馈」的来源，形成下一轮输入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548640" y="3977640"/>
            <a:ext cx="5454396" cy="2514600"/>
          </a:xfrm>
          <a:prstGeom prst="roundRect">
            <a:avLst>
              <a:gd name="adj" fmla="val 6545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04672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节奏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804672" y="4480560"/>
            <a:ext cx="49423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周四：DevEco Code 产品体验例会（凌云）——定级、分派、验收</a:t>
            </a:r>
            <a:endParaRPr lang="en-US" sz="1050" dirty="0"/>
          </a:p>
          <a:p>
            <a:pPr algn="l" marL="177800" indent="-1778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周一 SEG（任晗）· 周二 OSG（汪剑）· 周二 CCB（唐春，问题单闭环）</a:t>
            </a:r>
            <a:endParaRPr lang="en-US" sz="1050" dirty="0"/>
          </a:p>
          <a:p>
            <a:pPr algn="l" marL="177800" indent="-1778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每个版本：版本检视，发布前对照评估模型</a:t>
            </a:r>
            <a:endParaRPr lang="en-US" sz="1050" dirty="0"/>
          </a:p>
          <a:p>
            <a:pPr algn="l" marL="177800" indent="-177800">
              <a:lnSpc>
                <a:spcPct val="13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每天：日常体验（自用 + 内部客户）；每个问题：结论回给来源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185916" y="3977640"/>
            <a:ext cx="545439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9FBBFB"/>
            </a:solidFill>
            <a:prstDash val="dash"/>
          </a:ln>
        </p:spPr>
      </p:sp>
      <p:sp>
        <p:nvSpPr>
          <p:cNvPr id="43" name="Text 39"/>
          <p:cNvSpPr txBox="1"/>
          <p:nvPr/>
        </p:nvSpPr>
        <p:spPr>
          <a:xfrm>
            <a:off x="6387084" y="4105656"/>
            <a:ext cx="5052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待补充  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现有数据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6387084" y="4398264"/>
            <a:ext cx="50520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补：问题清单在哪、上一版本的问题数与闭环率；日常迭代进版本的通道（谁评审、谁合入）；例会里 UX 议题目前的占比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体验评估：一个已有的评估模型，两个版本重新迭代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930 版本做基线，1030 版本迭代模型，之后每个版本按模型验收；结果进体验治理的一致性度量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463040"/>
          </a:xfrm>
          <a:prstGeom prst="roundRect">
            <a:avLst>
              <a:gd name="adj" fmla="val 1125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9002" t="0" b="78667"/>
          <a:stretch/>
        </p:blipFill>
        <p:spPr>
          <a:xfrm>
            <a:off x="548640" y="1417320"/>
            <a:ext cx="11091672" cy="1463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27660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26426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02568" y="27660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526012" y="26426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1645920"/>
            <a:ext cx="253288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0120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 30 日版本  基线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20208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用现有模型做一次完整评估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374136" y="2011680"/>
            <a:ext cx="100584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493008" y="1645920"/>
            <a:ext cx="2532888" cy="1005840"/>
          </a:xfrm>
          <a:prstGeom prst="roundRect">
            <a:avLst>
              <a:gd name="adj" fmla="val 9091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630168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 30 日版本  迭代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3630168" y="20208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按基线结果重新迭代：维度、权重、采集方式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044184" y="2011680"/>
            <a:ext cx="100584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63056" y="1645920"/>
            <a:ext cx="253288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00216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之后每个版本  验收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300216" y="20208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版本检视对照模型验收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714232" y="2011680"/>
            <a:ext cx="100584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833104" y="1645920"/>
            <a:ext cx="253288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970264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  沉淀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970264" y="20208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结果进体验治理的一致性度量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48640" y="3063240"/>
            <a:ext cx="5431536" cy="3429000"/>
          </a:xfrm>
          <a:prstGeom prst="roundRect">
            <a:avLst>
              <a:gd name="adj" fmla="val 4800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04672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对口与分工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04672" y="3566160"/>
            <a:ext cx="4919472" cy="566928"/>
          </a:xfrm>
          <a:prstGeom prst="roundRect">
            <a:avLst>
              <a:gd name="adj" fmla="val 16129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60120" y="35661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毛方竹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2743200" y="356616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辅助开发体验评估系统 · UX 体验指标；模型迭代的对口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804672" y="4224528"/>
            <a:ext cx="4919472" cy="566928"/>
          </a:xfrm>
          <a:prstGeom prst="roundRect">
            <a:avLst>
              <a:gd name="adj" fmla="val 16129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60120" y="42245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汤中民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2743200" y="422452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辅助开发测试专项；体验问题一起推动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804672" y="4882896"/>
            <a:ext cx="4919472" cy="566928"/>
          </a:xfrm>
          <a:prstGeom prst="roundRect">
            <a:avLst>
              <a:gd name="adj" fmla="val 16129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60120" y="48828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ACL 执行 · 我定口径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2743200" y="488289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什么算不一致、怎么打分一次定清，之后只看结果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804672" y="5541264"/>
            <a:ext cx="4919472" cy="566928"/>
          </a:xfrm>
          <a:prstGeom prst="roundRect">
            <a:avLst>
              <a:gd name="adj" fmla="val 16129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60120" y="5541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结果去向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2743200" y="55412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版本检视验收；三触点一致性治理的度量基线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6208776" y="3063240"/>
            <a:ext cx="5431536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9FBBFB"/>
            </a:solidFill>
            <a:prstDash val="dash"/>
          </a:ln>
        </p:spPr>
      </p:sp>
      <p:sp>
        <p:nvSpPr>
          <p:cNvPr id="45" name="Text 41"/>
          <p:cNvSpPr txBox="1"/>
          <p:nvPr/>
        </p:nvSpPr>
        <p:spPr>
          <a:xfrm>
            <a:off x="6409944" y="31912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待补充  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评估模型本身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6409944" y="3483864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补：现有模型的维度与评分方式、上次评估结果、930 / 1030 各要改什么、采集方式（自评 / 用户 / 数据）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客户互动、舆情跟踪与活动支撑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客户的声音从三个口进来，两个节点要出去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6184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客户互动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04672" y="210312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21284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问卷访谈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523744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外部客户经柳能（外部 beta 接口人）约；内部客户经李广（内部 beta）约。外部问工作流嵌入点与 CI 诉求，内部问 DevEco 使用痛点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04672" y="352044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363016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现场支撑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3941064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到客户现场看真实工作流，比问卷更准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4672" y="493776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504748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关键角色互动 · 产品经理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5358384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凌云（Code / AI）、何国平（鸿蒙版 / 模拟器）、余小陆（Win/Mac / CLI）；周四例会 + 一对一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06824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62856" y="16184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舆情跟踪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62856" y="210312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18304" y="221284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外部客户舆情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718304" y="2523744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固定八渠道、固定 12 主题，证据分级 A–E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62856" y="352044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18304" y="363016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双周机制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718304" y="3941064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每月 1 / 15 日体验监测，8 / 22 日竞品雷达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62856" y="493776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18304" y="504748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4718304" y="5358384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每期简报 + 累积文档；厂商已确认的问题直接转设计动作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065008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21040" y="16184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活动支撑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8321040" y="210312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76488" y="221284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930 鸿蒙版本发布活动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8476488" y="2523744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发布物料、演示、现场体验支撑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321040" y="352044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76488" y="363016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内部汇报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8476488" y="3941064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十月融合方案汇报；年底向 +3 / +4 汇报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321040" y="493776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76488" y="504748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8476488" y="5358384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其他活动节点（HDC 2027 选题机制）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方向核对：现有方案的六条前提，逐条对证据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证据等级：A 一手可验证 · B 官方口径 · C 二手转述；结论分成 成立 / 部分成立 / 待核实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365760"/>
          </a:xfrm>
          <a:prstGeom prst="roundRect">
            <a:avLst>
              <a:gd name="adj" fmla="val 2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" y="1417320"/>
            <a:ext cx="25671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426657" y="1417320"/>
            <a:ext cx="40337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643326" y="1417320"/>
            <a:ext cx="4587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等级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84993" y="1417320"/>
            <a:ext cx="330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1783080"/>
            <a:ext cx="256712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2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方向本身：三个产品融合，对大厂走「开放能力 + 打包」而不是推 Agent</a:t>
            </a:r>
            <a:endParaRPr lang="en-US" sz="920" dirty="0"/>
          </a:p>
        </p:txBody>
      </p:sp>
      <p:sp>
        <p:nvSpPr>
          <p:cNvPr id="11" name="Text 8"/>
          <p:cNvSpPr txBox="1"/>
          <p:nvPr/>
        </p:nvSpPr>
        <p:spPr>
          <a:xfrm>
            <a:off x="3426657" y="1783080"/>
            <a:ext cx="40337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年内四家平台厂商七个月里各自独立转向「IDE 做宿主、任意 Agent 做大脑」：JetBrains + Zed 01-28、Apple 02-03、Google 05-19、Microsoft 08-26；R02 又见 Apple 在 Xcode 27 Beta 6 上架 Google Antigravity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661614" y="1993392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61614" y="1993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284993" y="1783080"/>
            <a:ext cx="3300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成立</a:t>
            </a:r>
            <a:pPr algn="l" indent="0" marL="0">
              <a:lnSpc>
                <a:spcPct val="122000"/>
              </a:lnSpc>
              <a:buNone/>
            </a:pPr>
            <a:endParaRPr lang="en-US" sz="86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这次核对里证据最硬的一条，可以作为汇报主张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548640" y="2459736"/>
            <a:ext cx="11091672" cy="6766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" y="2459736"/>
            <a:ext cx="256712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2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大厂只要打包与鸿蒙相关的能力，不要 TUI 与完整 IDE</a:t>
            </a:r>
            <a:endParaRPr lang="en-US" sz="920" dirty="0"/>
          </a:p>
        </p:txBody>
      </p:sp>
      <p:sp>
        <p:nvSpPr>
          <p:cNvPr id="17" name="Text 14"/>
          <p:cNvSpPr txBox="1"/>
          <p:nvPr/>
        </p:nvSpPr>
        <p:spPr>
          <a:xfrm>
            <a:off x="3426657" y="2459736"/>
            <a:ext cx="40337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「38+ 头部公司」名单口径、「开源才放心用」是否客户明确提出，目前都只有交接转述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661614" y="2670048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61614" y="2670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284993" y="2459736"/>
            <a:ext cx="3300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待核实</a:t>
            </a:r>
            <a:pPr algn="l" indent="0" marL="0">
              <a:lnSpc>
                <a:spcPct val="122000"/>
              </a:lnSpc>
              <a:buNone/>
            </a:pPr>
            <a:endParaRPr lang="en-US" sz="86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这条前提撑着已经讲出去的结论，与马汉卿的下一场应优先问实</a:t>
            </a:r>
            <a:endParaRPr lang="en-US" sz="860" dirty="0"/>
          </a:p>
        </p:txBody>
      </p:sp>
      <p:sp>
        <p:nvSpPr>
          <p:cNvPr id="21" name="Text 18"/>
          <p:cNvSpPr txBox="1"/>
          <p:nvPr/>
        </p:nvSpPr>
        <p:spPr>
          <a:xfrm>
            <a:off x="676656" y="3136392"/>
            <a:ext cx="256712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2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三阶段路径（CLI 终端 → IDE 插件 → 深层互动）是收敛出来的，不是拍脑袋</a:t>
            </a:r>
            <a:endParaRPr lang="en-US" sz="920" dirty="0"/>
          </a:p>
        </p:txBody>
      </p:sp>
      <p:sp>
        <p:nvSpPr>
          <p:cNvPr id="22" name="Text 19"/>
          <p:cNvSpPr txBox="1"/>
          <p:nvPr/>
        </p:nvSpPr>
        <p:spPr>
          <a:xfrm>
            <a:off x="3426657" y="3136392"/>
            <a:ext cx="40337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版本一模式切换因商业模式不符放弃、版本二独立 Agent 工具因不绑目标搁置——两次原因具体、可复盘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661614" y="3346704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5A8DFF"/>
          </a:solidFill>
          <a:ln w="6350">
            <a:solidFill>
              <a:srgbClr val="5A8D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61614" y="33467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284993" y="3136392"/>
            <a:ext cx="3300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成立</a:t>
            </a:r>
            <a:pPr algn="l" indent="0" marL="0">
              <a:lnSpc>
                <a:spcPct val="122000"/>
              </a:lnSpc>
              <a:buNone/>
            </a:pPr>
            <a:endParaRPr lang="en-US" sz="86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三个版本的演进是十月汇报最有说服力的一段；但只覆盖前两段，阶段三空白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48640" y="3813048"/>
            <a:ext cx="11091672" cy="6766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" y="3813048"/>
            <a:ext cx="256712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2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落地卡点在于服务对象（中小开发者 / TUI）不在出资方目标范围内</a:t>
            </a:r>
            <a:endParaRPr lang="en-US" sz="920" dirty="0"/>
          </a:p>
        </p:txBody>
      </p:sp>
      <p:sp>
        <p:nvSpPr>
          <p:cNvPr id="28" name="Text 25"/>
          <p:cNvSpPr txBox="1"/>
          <p:nvPr/>
        </p:nvSpPr>
        <p:spPr>
          <a:xfrm>
            <a:off x="3426657" y="3813048"/>
            <a:ext cx="40337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来自交接材料对终端侧立场的转述，未经本人核实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61614" y="402336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661614" y="4023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284993" y="3813048"/>
            <a:ext cx="3300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待核实</a:t>
            </a:r>
            <a:pPr algn="l" indent="0" marL="0">
              <a:lnSpc>
                <a:spcPct val="122000"/>
              </a:lnSpc>
              <a:buNone/>
            </a:pPr>
            <a:endParaRPr lang="en-US" sz="86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比「上层保守」更可操作，但仍是假设，宜作为问题而非结论</a:t>
            </a:r>
            <a:endParaRPr lang="en-US" sz="860" dirty="0"/>
          </a:p>
        </p:txBody>
      </p:sp>
      <p:sp>
        <p:nvSpPr>
          <p:cNvPr id="32" name="Text 29"/>
          <p:cNvSpPr txBox="1"/>
          <p:nvPr/>
        </p:nvSpPr>
        <p:spPr>
          <a:xfrm>
            <a:off x="676656" y="4489704"/>
            <a:ext cx="256712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2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面向中小与个人开发者</a:t>
            </a:r>
            <a:endParaRPr lang="en-US" sz="920" dirty="0"/>
          </a:p>
        </p:txBody>
      </p:sp>
      <p:sp>
        <p:nvSpPr>
          <p:cNvPr id="33" name="Text 30"/>
          <p:cNvSpPr txBox="1"/>
          <p:nvPr/>
        </p:nvSpPr>
        <p:spPr>
          <a:xfrm>
            <a:off x="3426657" y="4489704"/>
            <a:ext cx="40337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生态调研：长尾用一站式 GUI；头部公司已有自研 Agent 工具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661614" y="4700016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5A8DFF"/>
          </a:solidFill>
          <a:ln w="6350">
            <a:solidFill>
              <a:srgbClr val="5A8D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661614" y="47000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8284993" y="4489704"/>
            <a:ext cx="3300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成立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548640" y="5166360"/>
            <a:ext cx="11091672" cy="6766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76656" y="5166360"/>
            <a:ext cx="256712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2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文档站属另一部门，暂不纳入</a:t>
            </a:r>
            <a:endParaRPr lang="en-US" sz="920" dirty="0"/>
          </a:p>
        </p:txBody>
      </p:sp>
      <p:sp>
        <p:nvSpPr>
          <p:cNvPr id="39" name="Text 36"/>
          <p:cNvSpPr txBox="1"/>
          <p:nvPr/>
        </p:nvSpPr>
        <p:spPr>
          <a:xfrm>
            <a:off x="3426657" y="5166360"/>
            <a:ext cx="40337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R02 实测：llms.txt 已存在且在维护，但 /consumer/cn 路径 502、官网一级导航没有 Agent / MCP / Skills 入口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661614" y="5376672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661614" y="5376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8284993" y="5166360"/>
            <a:ext cx="3300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部分成立</a:t>
            </a:r>
            <a:pPr algn="l" indent="0" marL="0">
              <a:lnSpc>
                <a:spcPct val="122000"/>
              </a:lnSpc>
              <a:buNone/>
            </a:pPr>
            <a:endParaRPr lang="en-US" sz="86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文档站可以不接，官网侧的 Agent 入口是本部门能做的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548640" y="5952744"/>
            <a:ext cx="11091672" cy="521208"/>
          </a:xfrm>
          <a:prstGeom prst="roundRect">
            <a:avLst>
              <a:gd name="adj" fmla="val 3157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2960" y="5989320"/>
            <a:ext cx="10543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核对结果  </a:t>
            </a:r>
            <a:pPr algn="l" indent="0" marL="0">
              <a:buNone/>
            </a:pPr>
            <a:r>
              <a:rPr lang="en-US" sz="9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方向站得住，是证据最硬的一条；但目前是「两段定稿 + 一段空白」，两条关键前提还停在转述层。写进材料时用「判断是……，待验证」的口吻，不用「事实是……」。</a:t>
            </a:r>
            <a:endParaRPr lang="en-US" sz="96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外部证据：JetBrains + Zed 2026-01-28 · Apple 2026-02-03 与 Xcode 27 Beta 6 · Google Android CLI 1.0 2026-05-19 · Microsoft 2026-08-26 · developer.huawei.com/llms.txt 与 agentskills.io 实测 2026-09-08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方向矩阵：哪些能力该我们投，哪些不该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横轴 对头部公司的价值，纵轴 是否只有平台方能做；坐标为本方判断，依据见研究洞察各页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7589520" cy="507492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37734" t="0" b="26000"/>
          <a:stretch/>
        </p:blipFill>
        <p:spPr>
          <a:xfrm>
            <a:off x="548640" y="1417320"/>
            <a:ext cx="758952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00416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2386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00416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023860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94860" y="1737360"/>
            <a:ext cx="3131820" cy="2011680"/>
          </a:xfrm>
          <a:prstGeom prst="roundRect">
            <a:avLst>
              <a:gd name="adj" fmla="val 1818"/>
            </a:avLst>
          </a:prstGeom>
          <a:solidFill>
            <a:srgbClr val="DCE7FD"/>
          </a:solidFill>
          <a:ln w="6350">
            <a:solidFill>
              <a:srgbClr val="DCE7F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94860" y="1737360"/>
            <a:ext cx="0" cy="4023360"/>
          </a:xfrm>
          <a:prstGeom prst="line">
            <a:avLst/>
          </a:prstGeom>
          <a:noFill/>
          <a:ln w="12700">
            <a:solidFill>
              <a:srgbClr val="C9D2DD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1463040" y="3749040"/>
            <a:ext cx="6263640" cy="0"/>
          </a:xfrm>
          <a:prstGeom prst="line">
            <a:avLst/>
          </a:prstGeom>
          <a:noFill/>
          <a:ln w="12700">
            <a:solidFill>
              <a:srgbClr val="C9D2DD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1463040" y="1737360"/>
            <a:ext cx="0" cy="4023360"/>
          </a:xfrm>
          <a:prstGeom prst="line">
            <a:avLst/>
          </a:prstGeom>
          <a:noFill/>
          <a:ln w="15875">
            <a:solidFill>
              <a:srgbClr val="B8BEC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463040" y="5760720"/>
            <a:ext cx="6263640" cy="0"/>
          </a:xfrm>
          <a:prstGeom prst="line">
            <a:avLst/>
          </a:prstGeom>
          <a:noFill/>
          <a:ln w="15875">
            <a:solidFill>
              <a:srgbClr val="B8BEC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76656" y="1792224"/>
            <a:ext cx="74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↑</a:t>
            </a:r>
            <a:endParaRPr lang="en-US" sz="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只有平台方</a:t>
            </a:r>
            <a:endParaRPr lang="en-US" sz="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能做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5815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对头部公司的价值  →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6446520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572768" y="17922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留给长尾与后续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4704588" y="55046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不自研，接别人的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572768" y="55046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优先级最低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915607" y="1999793"/>
            <a:ext cx="118872" cy="118872"/>
          </a:xfrm>
          <a:prstGeom prst="ellipse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26203" y="193121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打包 · 签名 · 上架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6289243" y="1838858"/>
            <a:ext cx="118872" cy="118872"/>
          </a:xfrm>
          <a:prstGeom prst="ellipse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199839" y="177027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编译与真机</a:t>
            </a:r>
            <a:endParaRPr lang="en-US" sz="860" dirty="0"/>
          </a:p>
        </p:txBody>
      </p:sp>
      <p:sp>
        <p:nvSpPr>
          <p:cNvPr id="30" name="Shape 26"/>
          <p:cNvSpPr/>
          <p:nvPr/>
        </p:nvSpPr>
        <p:spPr>
          <a:xfrm>
            <a:off x="5537606" y="2241194"/>
            <a:ext cx="118872" cy="118872"/>
          </a:xfrm>
          <a:prstGeom prst="ellipse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448202" y="217261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ArkTS / API 真值</a:t>
            </a:r>
            <a:endParaRPr lang="en-US" sz="860" dirty="0"/>
          </a:p>
        </p:txBody>
      </p:sp>
      <p:sp>
        <p:nvSpPr>
          <p:cNvPr id="32" name="Shape 28"/>
          <p:cNvSpPr/>
          <p:nvPr/>
        </p:nvSpPr>
        <p:spPr>
          <a:xfrm>
            <a:off x="6790334" y="2884932"/>
            <a:ext cx="118872" cy="118872"/>
          </a:xfrm>
          <a:prstGeom prst="ellipse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700930" y="2816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Skills / MCP 开放接口</a:t>
            </a:r>
            <a:endParaRPr lang="en-US" sz="860" dirty="0"/>
          </a:p>
        </p:txBody>
      </p:sp>
      <p:sp>
        <p:nvSpPr>
          <p:cNvPr id="34" name="Shape 30"/>
          <p:cNvSpPr/>
          <p:nvPr/>
        </p:nvSpPr>
        <p:spPr>
          <a:xfrm>
            <a:off x="4034333" y="2080260"/>
            <a:ext cx="118872" cy="118872"/>
          </a:xfrm>
          <a:prstGeom prst="ellipse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212641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多设备预览与验证</a:t>
            </a:r>
            <a:endParaRPr lang="en-US" sz="860" dirty="0"/>
          </a:p>
        </p:txBody>
      </p:sp>
      <p:sp>
        <p:nvSpPr>
          <p:cNvPr id="36" name="Shape 32"/>
          <p:cNvSpPr/>
          <p:nvPr/>
        </p:nvSpPr>
        <p:spPr>
          <a:xfrm>
            <a:off x="4911242" y="2563063"/>
            <a:ext cx="118872" cy="118872"/>
          </a:xfrm>
          <a:prstGeom prst="ellipse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089550" y="249448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官网的 Agent 入口</a:t>
            </a:r>
            <a:endParaRPr lang="en-US" sz="860" dirty="0"/>
          </a:p>
        </p:txBody>
      </p:sp>
      <p:sp>
        <p:nvSpPr>
          <p:cNvPr id="38" name="Shape 34"/>
          <p:cNvSpPr/>
          <p:nvPr/>
        </p:nvSpPr>
        <p:spPr>
          <a:xfrm>
            <a:off x="4284878" y="3206801"/>
            <a:ext cx="118872" cy="118872"/>
          </a:xfrm>
          <a:prstGeom prst="ellipse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463186" y="3138221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体验与性能调优</a:t>
            </a:r>
            <a:endParaRPr lang="en-US" sz="860" dirty="0"/>
          </a:p>
        </p:txBody>
      </p:sp>
      <p:sp>
        <p:nvSpPr>
          <p:cNvPr id="40" name="Shape 36"/>
          <p:cNvSpPr/>
          <p:nvPr/>
        </p:nvSpPr>
        <p:spPr>
          <a:xfrm>
            <a:off x="2781605" y="3528670"/>
            <a:ext cx="118872" cy="118872"/>
          </a:xfrm>
          <a:prstGeom prst="ellipse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959913" y="346009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GUI 一站式（Studio）</a:t>
            </a:r>
            <a:endParaRPr lang="en-US" sz="860" dirty="0"/>
          </a:p>
        </p:txBody>
      </p:sp>
      <p:sp>
        <p:nvSpPr>
          <p:cNvPr id="42" name="Shape 38"/>
          <p:cNvSpPr/>
          <p:nvPr/>
        </p:nvSpPr>
        <p:spPr>
          <a:xfrm>
            <a:off x="2405786" y="4655210"/>
            <a:ext cx="118872" cy="118872"/>
          </a:xfrm>
          <a:prstGeom prst="ellipse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2584094" y="458663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 TUI Agent</a:t>
            </a:r>
            <a:endParaRPr lang="en-US" sz="860" dirty="0"/>
          </a:p>
        </p:txBody>
      </p:sp>
      <p:sp>
        <p:nvSpPr>
          <p:cNvPr id="44" name="Shape 40"/>
          <p:cNvSpPr/>
          <p:nvPr/>
        </p:nvSpPr>
        <p:spPr>
          <a:xfrm>
            <a:off x="3282696" y="5218481"/>
            <a:ext cx="118872" cy="118872"/>
          </a:xfrm>
          <a:prstGeom prst="ellipse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3461004" y="5149901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自研模型能力</a:t>
            </a:r>
            <a:endParaRPr lang="en-US" sz="860" dirty="0"/>
          </a:p>
        </p:txBody>
      </p:sp>
      <p:sp>
        <p:nvSpPr>
          <p:cNvPr id="46" name="Shape 42"/>
          <p:cNvSpPr/>
          <p:nvPr/>
        </p:nvSpPr>
        <p:spPr>
          <a:xfrm>
            <a:off x="8366760" y="1417320"/>
            <a:ext cx="3273552" cy="1594104"/>
          </a:xfrm>
          <a:prstGeom prst="roundRect">
            <a:avLst>
              <a:gd name="adj" fmla="val 10325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8604504" y="156362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先做（右上）</a:t>
            </a:r>
            <a:endParaRPr lang="en-US" sz="1200" dirty="0"/>
          </a:p>
        </p:txBody>
      </p:sp>
      <p:sp>
        <p:nvSpPr>
          <p:cNvPr id="48" name="Text 44"/>
          <p:cNvSpPr txBox="1"/>
          <p:nvPr/>
        </p:nvSpPr>
        <p:spPr>
          <a:xfrm>
            <a:off x="8604504" y="1892808"/>
            <a:ext cx="2798064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2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打包与签名上架、编译与真机、ArkTS / API 真值、Skills 与 MCP 开放接口——头部公司要，也只有平台方能做对。今年的投入重心。</a:t>
            </a:r>
            <a:endParaRPr lang="en-US" sz="920" dirty="0"/>
          </a:p>
        </p:txBody>
      </p:sp>
      <p:sp>
        <p:nvSpPr>
          <p:cNvPr id="49" name="Shape 45"/>
          <p:cNvSpPr/>
          <p:nvPr/>
        </p:nvSpPr>
        <p:spPr>
          <a:xfrm>
            <a:off x="8366760" y="3157728"/>
            <a:ext cx="3273552" cy="1594104"/>
          </a:xfrm>
          <a:prstGeom prst="roundRect">
            <a:avLst>
              <a:gd name="adj" fmla="val 10325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604504" y="330403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留给长尾与后续（左上）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8604504" y="3633216"/>
            <a:ext cx="2798064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多设备预览、体验与性能调优、GUI 一站式：只有平台方能做，但不是头部公司现在要的。放在长尾侧与 8.0 规划里。</a:t>
            </a:r>
            <a:endParaRPr lang="en-US" sz="920" dirty="0"/>
          </a:p>
        </p:txBody>
      </p:sp>
      <p:sp>
        <p:nvSpPr>
          <p:cNvPr id="52" name="Shape 48"/>
          <p:cNvSpPr/>
          <p:nvPr/>
        </p:nvSpPr>
        <p:spPr>
          <a:xfrm>
            <a:off x="8366760" y="4898136"/>
            <a:ext cx="3273552" cy="1594104"/>
          </a:xfrm>
          <a:prstGeom prst="roundRect">
            <a:avLst>
              <a:gd name="adj" fmla="val 10325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8604504" y="504444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优先级最低（左下）</a:t>
            </a:r>
            <a:endParaRPr lang="en-US" sz="1200" dirty="0"/>
          </a:p>
        </p:txBody>
      </p:sp>
      <p:sp>
        <p:nvSpPr>
          <p:cNvPr id="54" name="Text 50"/>
          <p:cNvSpPr txBox="1"/>
          <p:nvPr/>
        </p:nvSpPr>
        <p:spPr>
          <a:xfrm>
            <a:off x="8604504" y="5373624"/>
            <a:ext cx="2798064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 TUI Agent 与自研模型能力：头部公司不用，别人也在做。TUI 的价值先验证再决定投入。</a:t>
            </a:r>
            <a:endParaRPr lang="en-US" sz="920" dirty="0"/>
          </a:p>
        </p:txBody>
      </p:sp>
      <p:sp>
        <p:nvSpPr>
          <p:cNvPr id="55" name="Text 51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依据：Android CLI 1.0 官方声明 · Xcode 27 官方文档与 mcpbridge 能力清单 · agentskills.io 采纳名单 · Stack Overflow 2025 / JetBrains 2026 调研 · 坐标为本方判断（E 级）</a:t>
            </a:r>
            <a:endParaRPr lang="en-US" sz="750" dirty="0"/>
          </a:p>
        </p:txBody>
      </p:sp>
      <p:sp>
        <p:nvSpPr>
          <p:cNvPr id="56" name="Text 52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INNOV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757" y="2331720"/>
            <a:ext cx="8372547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745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创新：研究洞察 → 创新 → 8.0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体验设计七项里的创新一项；三个方向 AI · 多设备 · 调优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11091672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279392"/>
            <a:ext cx="1726692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645152"/>
            <a:ext cx="1360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节奏：10 月启动 → 10–11 月 BP 规划 → 2027 H1 进 8.0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2421636" y="4279392"/>
            <a:ext cx="1726692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04516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604516" y="4645152"/>
            <a:ext cx="1360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依据一：BUTP 四维与冲击的定量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4294632" y="4279392"/>
            <a:ext cx="1726692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7512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477512" y="4645152"/>
            <a:ext cx="1360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依据二：横向拉通三页（界面 / 回退 / 十个体验维度）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167628" y="4279392"/>
            <a:ext cx="1726692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50508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50508" y="4645152"/>
            <a:ext cx="1360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依据三：三条路与竞品雷达 R01 · R02、四家官网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040624" y="4279392"/>
            <a:ext cx="1726692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3504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223504" y="4645152"/>
            <a:ext cx="1360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依据四：CodeGenie 为什么日落，缺口会搬到哪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9913620" y="4279392"/>
            <a:ext cx="1726692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96500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096500" y="4645152"/>
            <a:ext cx="1360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产出：候选创新点四个、机会点七条与优先级 → 做进 8.0（HDC 2027）</a:t>
            </a:r>
            <a:endParaRPr lang="en-US" sz="920" dirty="0"/>
          </a:p>
        </p:txBody>
      </p:sp>
      <p:sp>
        <p:nvSpPr>
          <p:cNvPr id="25" name="Text 22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创新：研究洞察 → 创新 → 8.0，今年 10 月启动，10–11 月做 BP 规划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三个方向：AI · 多设备 · 调优；最大的机会空位就是融合方案留白的阶段三——十月之后与马汉卿的下一场正是创新方案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463040"/>
          </a:xfrm>
          <a:prstGeom prst="roundRect">
            <a:avLst>
              <a:gd name="adj" fmla="val 1125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9002" t="0" b="78667"/>
          <a:stretch/>
        </p:blipFill>
        <p:spPr>
          <a:xfrm>
            <a:off x="548640" y="1417320"/>
            <a:ext cx="11091672" cy="1463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27660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26426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02568" y="27660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526012" y="26426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1645920"/>
            <a:ext cx="253288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0120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  启动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20208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监测 + 竞品雷达 + 头部公司定向调研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374136" y="2011680"/>
            <a:ext cx="100584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493008" y="1645920"/>
            <a:ext cx="2532888" cy="1005840"/>
          </a:xfrm>
          <a:prstGeom prst="roundRect">
            <a:avLst>
              <a:gd name="adj" fmla="val 9091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630168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月下旬  洞察 → 创新点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3630168" y="20208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候选创新点清单，与产品线讨论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044184" y="2011680"/>
            <a:ext cx="100584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63056" y="1645920"/>
            <a:ext cx="2532888" cy="1005840"/>
          </a:xfrm>
          <a:prstGeom prst="roundRect">
            <a:avLst>
              <a:gd name="adj" fmla="val 9091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00216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10–11 月  BP 规划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300216" y="20208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创新点进 8.0 规划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714232" y="2011680"/>
            <a:ext cx="100584" cy="274320"/>
          </a:xfrm>
          <a:prstGeom prst="rightArrow">
            <a:avLst/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833104" y="1645920"/>
            <a:ext cx="253288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970264" y="17099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H1  做进 8.0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970264" y="20208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样板 → 版本 → HDC 2027 发布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48640" y="3063240"/>
            <a:ext cx="5431536" cy="3429000"/>
          </a:xfrm>
          <a:prstGeom prst="roundRect">
            <a:avLst>
              <a:gd name="adj" fmla="val 480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04672" y="324612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三个方向与已有的候选创新点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804672" y="3566160"/>
            <a:ext cx="49194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AI：Agent 执行过程可见与可干预（静默排队官方已确认；对照 Codex Interrupt hooks、Cursor steering）；多文件改动审阅与回退（ACP 跨协议不支持 undo / redo）</a:t>
            </a:r>
            <a:endParaRPr lang="en-US" sz="950" dirty="0"/>
          </a:p>
          <a:p>
            <a:pPr algn="l" marL="177800" indent="-1778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AI：嵌入式工作流体验——CLI 输出可读、Skills / MCP 一条命令装进已有 Agent、最小插件闭环；平台知识以 Agent 可消费的形态交付</a:t>
            </a:r>
            <a:endParaRPr lang="en-US" sz="950" dirty="0"/>
          </a:p>
          <a:p>
            <a:pPr algn="l" marL="177800" indent="-1778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多设备：一次改动在多设备上的预览、验证与差异呈现；真机执行面是别人没有的差异化（Anthropic Model Hardware Standard 研究预览）</a:t>
            </a:r>
            <a:endParaRPr lang="en-US" sz="950" dirty="0"/>
          </a:p>
          <a:p>
            <a:pPr algn="l" marL="177800" indent="-1778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调优：从「症状」进入的性能与体验调优，可视、可回溯，AI 修复闭环（承接 DevKit 调优设计经验）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208776" y="3063240"/>
            <a:ext cx="5431536" cy="1812798"/>
          </a:xfrm>
          <a:prstGeom prst="roundRect">
            <a:avLst>
              <a:gd name="adj" fmla="val 6053"/>
            </a:avLst>
          </a:prstGeom>
          <a:solidFill>
            <a:srgbClr val="FFFFFF"/>
          </a:solidFill>
          <a:ln w="12700">
            <a:solidFill>
              <a:srgbClr val="9FBBFB"/>
            </a:solidFill>
            <a:prstDash val="dash"/>
          </a:ln>
        </p:spPr>
      </p:sp>
      <p:sp>
        <p:nvSpPr>
          <p:cNvPr id="34" name="Text 30"/>
          <p:cNvSpPr txBox="1"/>
          <p:nvPr/>
        </p:nvSpPr>
        <p:spPr>
          <a:xfrm>
            <a:off x="6409944" y="31912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待补充  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与产品线的讨论机制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409944" y="3483864"/>
            <a:ext cx="5029200" cy="1264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已知对口：凌云（AI 特性需求与规划建议）、何国平（鸿蒙版）、任晗（SEG）；平台知识 Agent 化找李国坤（知识语料）；Open IDE（高翔宇）需摸清与 DevEco Code 的关系。补：创新点怎么被采纳进 8.0 规划、BP 格式与提交时间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208776" y="5022342"/>
            <a:ext cx="5431536" cy="1469898"/>
          </a:xfrm>
          <a:prstGeom prst="roundRect">
            <a:avLst>
              <a:gd name="adj" fmla="val 7465"/>
            </a:avLst>
          </a:prstGeom>
          <a:solidFill>
            <a:srgbClr val="FFFFFF"/>
          </a:solidFill>
          <a:ln w="12700">
            <a:solidFill>
              <a:srgbClr val="9FBBFB"/>
            </a:solidFill>
            <a:prstDash val="dash"/>
          </a:ln>
        </p:spPr>
      </p:sp>
      <p:sp>
        <p:nvSpPr>
          <p:cNvPr id="37" name="Text 33"/>
          <p:cNvSpPr txBox="1"/>
          <p:nvPr/>
        </p:nvSpPr>
        <p:spPr>
          <a:xfrm>
            <a:off x="6409944" y="515035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待补充  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研究线的人力与产出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6409944" y="5442966"/>
            <a:ext cx="5029200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补：由谁做定向调研、双周监测由谁维护、11 月交付物清单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BUTP 四维分析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业务 · U 用户 · T 技术 · P 产品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81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075688"/>
            <a:ext cx="494233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今年目标：进军 38+ 头部公司，不是中长尾（内部）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一年三个版本窗口：9/30 · 12/30 · HDC 6 月，HDC 最重要（内部）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月产品规划节点：调研结论要进规划（内部）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生态盘子：注册开发者 1100 万+、上架 40 万+（HDC 2026）；转化发生在工具与文档这一步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804672" y="3204972"/>
            <a:ext cx="4942332" cy="493776"/>
          </a:xfrm>
          <a:prstGeom prst="roundRect">
            <a:avLst>
              <a:gd name="adj" fmla="val 14815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322326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推论  </a:t>
            </a:r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头部公司不换工具、只给 CLI / TUI / 插件的门；本季度的成果必须卡 12/30 版本，10 月前把调研做完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185916" y="14173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1948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963156" y="1581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41948" y="2075688"/>
            <a:ext cx="494233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 / 头部团队最在意 CI 自动化：Testing 缺脚本化、Linter 不接 Git hook（生态调研）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口碑不差：使用率 93.7%、满意 75.7%（InfoQ 2025，n=625）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文档可检索是七类人群唯一的共同抱怨，持续三年（生态调研）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P03：静默排队（官方已确认）、安装即失败、发布通道倒挂、版本号双线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6441948" y="3204972"/>
            <a:ext cx="4942332" cy="493776"/>
          </a:xfrm>
          <a:prstGeom prst="roundRect">
            <a:avLst>
              <a:gd name="adj" fmla="val 14815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69964" y="322326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推论  </a:t>
            </a:r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头部公司要的是嵌入工作流的可靠性与透明度；长尾要的是一站式 GUI——两类客户，两种形态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548640" y="40462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" y="42108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2108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" y="4704588"/>
            <a:ext cx="494233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走向「宿主 + 任意 Agent」：AHP / ACP / MCP 三层分工已成事实（雷达 R01）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是 OpenCode 下游；上游归属变更并进入 2.0 重写（R01）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平台知识开放的主流形态：skills 包 + CLI + MCP server（R01）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存量 IDE 三条路：开门 / 绕行 / 闭门，分组线与「有无自家 AI 要卖」重合（存量 IDE 分析）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脱 GUI：六家里只有 DevEco 的构建调试仍依赖无 Linux 版的 Studio（存量 IDE 分析）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804672" y="5833872"/>
            <a:ext cx="4942332" cy="493776"/>
          </a:xfrm>
          <a:prstGeom prst="roundRect">
            <a:avLst>
              <a:gd name="adj" fmla="val 14815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2688" y="585216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推论  </a:t>
            </a:r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护城河不在模型，在平台真值与真机执行；把它们做成协议接口比做界面更有效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185916" y="40462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41948" y="42108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6963156" y="42108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41948" y="4704588"/>
            <a:ext cx="494233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三形态齐备（GUI / CLI / TUI），但都指向同一自研 Agent（竞品分析）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层最开放（MIT、init 装进第三方 Agent），但没有回流 Studio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CodeGenie 下线，Studio 内 AI 入口空出（内部）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能力六维 14/30、姿态六轴 13/30；唯一高于均值的是模型可替换（DevEco Code 默认 GLM-5.1 且可配第三方）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6441948" y="5833872"/>
            <a:ext cx="4942332" cy="493776"/>
          </a:xfrm>
          <a:prstGeom prst="roundRect">
            <a:avLst>
              <a:gd name="adj" fmla="val 14815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69964" y="585216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推论  </a:t>
            </a:r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产品形态已齐，缺的是形态之间的一致性与对外的开放接口——这正是设计能补的</a:t>
            </a:r>
            <a:endParaRPr lang="en-US" sz="88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InfoQ 2025 开发者调研（n=625）· HDC 2026 公开数据 · Android / Xcode 官方文档与发行说明 · AHP / ACP 规范 · 标注「内部」者为内部口径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166" y="1920240"/>
            <a:ext cx="6969985" cy="1417320"/>
          </a:xfrm>
          <a:prstGeom prst="rect">
            <a:avLst/>
          </a:prstGeom>
        </p:spPr>
      </p:pic>
      <p:pic>
        <p:nvPicPr>
          <p:cNvPr id="3" name="Image 1" descr="/root/deck/assets/icon_i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冲击有多大：开发动作正在离开 IDE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丢份额的不是某一个 IDE，是 IDE 这种形态；接走的是两个不在 IDE 里的终端 Agent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10286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" y="1691640"/>
            <a:ext cx="2452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84%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295144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开发者已在用 AI 工具（上年 76%）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Stack Overflow 2025，n=33,662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3504438" y="1691640"/>
            <a:ext cx="2452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33%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3504438" y="2295144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信任 AI 输出准确性（不信任 46%）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同一调研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6140196" y="1691640"/>
            <a:ext cx="2452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39%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6140196" y="2295144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在用 Claude Code（美国 47%）；Codex 3% → 16%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JetBrains 2026，n=15,000+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8775954" y="1691640"/>
            <a:ext cx="24528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65%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8775954" y="2295144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 2027 年，采用智能体编程的团队将把传统 IDE 视为「可选项」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Gartner 2026-05-20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246120"/>
            <a:ext cx="5669280" cy="3246120"/>
          </a:xfrm>
          <a:prstGeom prst="roundRect">
            <a:avLst>
              <a:gd name="adj" fmla="val 507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16" name="Image 2" descr="/root/deck/assets/grid_box.png">    </p:cNvPr>
          <p:cNvPicPr>
            <a:picLocks noChangeAspect="1"/>
          </p:cNvPicPr>
          <p:nvPr/>
        </p:nvPicPr>
        <p:blipFill>
          <a:blip r:embed="rId3"/>
          <a:srcRect l="0" r="53488" t="0" b="52667"/>
          <a:stretch/>
        </p:blipFill>
        <p:spPr>
          <a:xfrm>
            <a:off x="548640" y="3246120"/>
            <a:ext cx="5669280" cy="32461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62940" y="33604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62940" y="33604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80176" y="33604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03620" y="33604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2940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2940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80176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103620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34472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同一份调研里的此消彼长（JetBrains 2026 vs 2025）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3840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Code（终端 Agent）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017520" y="3895344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86400" y="3840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39%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822960" y="44256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Codex（终端 Agent）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017520" y="4480560"/>
            <a:ext cx="975360" cy="274320"/>
          </a:xfrm>
          <a:prstGeom prst="roundRect">
            <a:avLst>
              <a:gd name="adj" fmla="val 16667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084320" y="4425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3% → 16%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822960" y="5010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Copilot（IDE 插件）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3017520" y="5065776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389120" y="50109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29% → 21%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822960" y="5596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Cursor（AI 原生 IDE）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3017520" y="5650992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840480" y="55961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18% → 12%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822960" y="6035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蓝：不在 IDE 里的终端 Agent，上升；灰：IDE 里的 AI（插件或 AI 原生 IDE），下降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6446520" y="3246120"/>
            <a:ext cx="5193792" cy="1600200"/>
          </a:xfrm>
          <a:prstGeom prst="roundRect">
            <a:avLst>
              <a:gd name="adj" fmla="val 10286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720840" y="3447288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 IDE 形态同时丢份额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720840" y="3749040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Copilot（IDE 插件）和 Cursor（AI 原生 IDE）双双下滑——两种 IDE 形态同时丢份额。把冲击理解成「IDE 被更好的 IDE 取代」会做错所有判断：真正发生的是开发动作正在离开 IDE。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446520" y="5029200"/>
            <a:ext cx="5193792" cy="1463040"/>
          </a:xfrm>
          <a:prstGeom prst="roundRect">
            <a:avLst>
              <a:gd name="adj" fmla="val 625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6675120" y="5102352"/>
            <a:ext cx="47365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打个比方  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像一个装修好的办公室，AI 以前是办公室里新添的一把好椅子。现在的变化是：很多人开始在办公室外面干活了，再好的椅子也留不住他们。所以要争的不是椅子，是不管人在哪儿干活都得经过的那几件事——编译、真机、上架。</a:t>
            </a:r>
            <a:endParaRPr lang="en-US" sz="105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Stack Overflow 2025（n=33,662）· JetBrains 开发者生态 2026（n=15,000+）· Gartner 新闻稿 2026-05-20（未取到完整报告）</a:t>
            </a:r>
            <a:endParaRPr lang="en-US" sz="750" dirty="0"/>
          </a:p>
        </p:txBody>
      </p:sp>
      <p:sp>
        <p:nvSpPr>
          <p:cNvPr id="45" name="Text 40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横向拉通 ①：Agent 改代码的那一刻，三家给开发者看什么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同一个动作——Agent 提出一处改动——三家给开发者看到的界面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54533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Studio · Agent Mode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9808" y="1856232"/>
            <a:ext cx="317296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pic>
        <p:nvPicPr>
          <p:cNvPr id="8" name="Image 1" descr="/root/deck/shots/as_accept_chan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92" y="1965960"/>
            <a:ext cx="2605200" cy="20756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" y="4133088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改动先展示 diff，Accept / Reject / Auto-Approve 三个按钮，下方一行「Waiting for you to accept…」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4572000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设计上的三点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4828032"/>
            <a:ext cx="317296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改动不直接落盘：先给看 diff（−0 +19），人点了才生效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三档信任：逐条接受 / 拒绝 / 以后自动批准——把「信任」做成了一个可调的开关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等待人的时候明确说「在等你」，并给 Stop；开发者永远知道现在轮到谁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306824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07992" y="154533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 27 · Coding Assistant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07992" y="1856232"/>
            <a:ext cx="317296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pic>
        <p:nvPicPr>
          <p:cNvPr id="15" name="Image 2" descr="/root/deck/shots/xcode_wr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965960"/>
            <a:ext cx="2953512" cy="17145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17720" y="4133088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对话在左，改动在右侧面板逐文件呈现，标题栏计数 +4；输入框写着「Follow up with Claude Agent」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4507992" y="4572000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设计上的三点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507992" y="4828032"/>
            <a:ext cx="317296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对话与改动分开两栏：左边讲「为什么」，右边看「改了什么」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每次回答结尾给耗时（1m 19s）和「1 file edited」——结果可核对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用「Follow up」而不是「New chat」：默认你会接着改，任务是连续的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065008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66176" y="154533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· TUI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266176" y="1856232"/>
            <a:ext cx="317296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pic>
        <p:nvPicPr>
          <p:cNvPr id="22" name="Image 3" descr="/root/deck/shots/deveco_tu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1965960"/>
            <a:ext cx="2953512" cy="158927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75904" y="4133088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终端首屏：一个输入框 + Build 模式 + 模型名；tab 切 agents，ctrl+p 命令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8266176" y="4572000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设计上的三点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266176" y="4828032"/>
            <a:ext cx="317296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输入框即产品：说一句话就开始，模式与模型摆在眼前，起步很轻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过程与改动都以终端文本流呈现，沿用 OpenCode——审阅与批准没有专门的界面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排队时没有位次与等待提示（P03 官方已确认）：开发者交出去后，不知道现在轮到谁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截图：Android Studio Agent Mode 官方文档 · Xcode 27 Coding Assistant 官方教程 · DevEco Code 发布稿（华为开发者联盟 2026-06-26）· 均 2026-09 取；读法为本方体验判断</a:t>
            </a:r>
            <a:endParaRPr lang="en-US" sz="750" dirty="0"/>
          </a:p>
        </p:txBody>
      </p:sp>
      <p:sp>
        <p:nvSpPr>
          <p:cNvPr id="27" name="Text 21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横向拉通 ②：做错了能不能回去、几件事能不能一起做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两个最影响「敢不敢放手」的界面：Xcode 的历史回退与 Android Studio 的多会话；DevEco 这两处目前没有对应界面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854196" cy="5074920"/>
          </a:xfrm>
          <a:prstGeom prst="roundRect">
            <a:avLst>
              <a:gd name="adj" fmla="val 427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545336"/>
            <a:ext cx="3451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 27 · 历史回退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49808" y="1856232"/>
            <a:ext cx="34518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pic>
        <p:nvPicPr>
          <p:cNvPr id="8" name="Image 1" descr="/root/deck/shots/xcode_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03" y="1965960"/>
            <a:ext cx="3103071" cy="18013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" y="3858768"/>
            <a:ext cx="3232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左侧对话时间轴可拖动，任选一个节点，Cancel / Restore 一键回到那一刻的代码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4297680"/>
            <a:ext cx="3451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设计上的三点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4553712"/>
            <a:ext cx="345186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把「回退」做成时间轴而不是 git 操作：拖到哪一步，代码就回到哪一步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回退是整段对话粒度，不是逐文件——符合人的记忆方式（「加地图之前」）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Restore 之前右侧先预览那一刻的文件，看清再回；回退可撤销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85716" y="1417320"/>
            <a:ext cx="3854196" cy="5074920"/>
          </a:xfrm>
          <a:prstGeom prst="roundRect">
            <a:avLst>
              <a:gd name="adj" fmla="val 427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86884" y="1545336"/>
            <a:ext cx="3451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Studio · 多会话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86884" y="1856232"/>
            <a:ext cx="34518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pic>
        <p:nvPicPr>
          <p:cNvPr id="15" name="Image 2" descr="/root/deck/shots/as_sess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296" y="1965960"/>
            <a:ext cx="3157037" cy="18013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6612" y="3858768"/>
            <a:ext cx="3232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Sessions 面板：当前任务在跑（Active），Recent Chats 列出最近几条，随时切回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4786884" y="4297680"/>
            <a:ext cx="3451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设计上的三点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786884" y="4553712"/>
            <a:ext cx="345186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多个任务并行，每条有状态与时间；开发者可以「交出去一件、先干别的」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任务用一句话命名（你当时说的那句话），找回时不用回忆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左侧每一步（Read / Thought / Searched）都留痕，回来能接上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622792" y="1417320"/>
            <a:ext cx="3017520" cy="5074920"/>
          </a:xfrm>
          <a:prstGeom prst="roundRect">
            <a:avLst>
              <a:gd name="adj" fmla="val 5455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823960" y="15453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· 现状示意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823960" y="1856232"/>
            <a:ext cx="261518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006840" y="2039112"/>
            <a:ext cx="22494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修复登录页在折叠屏上的崩溃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F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排队中…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排在第几位        —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预计等待          —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取消 / 换方向     —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（改动完成后）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逐文件审阅        终端 diff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回到改之前        —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823960" y="420624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「—」= 目前没有界面；排队无提示为 P03 官方确认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8823960" y="449884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空位就在这两处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823960" y="4754880"/>
            <a:ext cx="261518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交出去之后看不见队伍——第一件要补的是「轮到谁」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回退没有入口：ACP 协议层也不支持 undo / redo，谁先做谁差异化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多会话继承自 OpenCode，能用，但没有按任务命名与状态的设计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截图：Xcode 27 官方教程 history view · Android Studio Agent Mode 官方文档 Agent Sessions · ACP 规范（undo / redo 跨协议不支持）· DevEco 示意为本方绘制</a:t>
            </a:r>
            <a:endParaRPr lang="en-US" sz="750" dirty="0"/>
          </a:p>
        </p:txBody>
      </p:sp>
      <p:sp>
        <p:nvSpPr>
          <p:cNvPr id="27" name="Text 22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横向拉通 ③：按十个体验维度看三家——不看技术参数，看开发者的感受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● 完整  ◐ 部分  ○ 缺失；DevEco 列写现状，标 * 的两项待实测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461356"/>
          </a:xfrm>
          <a:prstGeom prst="roundRect">
            <a:avLst>
              <a:gd name="adj" fmla="val 1982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" y="1417320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体验维度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868323" y="1417320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大白话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334991" y="1417320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Studio（Quail 4）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176659" y="1417320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 27（beta）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834993" y="1417320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DevEco（Studio 26.0 / Code / CLI 1.3.1）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1878676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说需求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868323" y="1878676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怎么告诉它要做什么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334991" y="1878676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聊天框，@文件附上下文，可贴图</a:t>
            </a:r>
            <a:endParaRPr lang="en-US" sz="840" dirty="0"/>
          </a:p>
        </p:txBody>
      </p:sp>
      <p:sp>
        <p:nvSpPr>
          <p:cNvPr id="14" name="Text 11"/>
          <p:cNvSpPr txBox="1"/>
          <p:nvPr/>
        </p:nvSpPr>
        <p:spPr>
          <a:xfrm>
            <a:off x="6176659" y="1878676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侧栏对话，可选 Agent，可附文件</a:t>
            </a:r>
            <a:endParaRPr lang="en-US" sz="840" dirty="0"/>
          </a:p>
        </p:txBody>
      </p:sp>
      <p:sp>
        <p:nvSpPr>
          <p:cNvPr id="15" name="Text 12"/>
          <p:cNvSpPr txBox="1"/>
          <p:nvPr/>
        </p:nvSpPr>
        <p:spPr>
          <a:xfrm>
            <a:off x="8834993" y="1878676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终端一句话；Build / Plan / Goal 三种模式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548640" y="2340033"/>
            <a:ext cx="11091672" cy="4613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" y="2340033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先看计划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868323" y="2340033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动手前先给我看步骤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3334991" y="2340033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对话里先列步骤，再执行</a:t>
            </a:r>
            <a:endParaRPr lang="en-US" sz="840" dirty="0"/>
          </a:p>
        </p:txBody>
      </p:sp>
      <p:sp>
        <p:nvSpPr>
          <p:cNvPr id="20" name="Text 17"/>
          <p:cNvSpPr txBox="1"/>
          <p:nvPr/>
        </p:nvSpPr>
        <p:spPr>
          <a:xfrm>
            <a:off x="6176659" y="2340033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计划是可编辑的 Markdown，改完再跑</a:t>
            </a:r>
            <a:endParaRPr lang="en-US" sz="840" dirty="0"/>
          </a:p>
        </p:txBody>
      </p:sp>
      <p:sp>
        <p:nvSpPr>
          <p:cNvPr id="21" name="Text 18"/>
          <p:cNvSpPr txBox="1"/>
          <p:nvPr/>
        </p:nvSpPr>
        <p:spPr>
          <a:xfrm>
            <a:off x="8834993" y="2340033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 Plan 模式；计划以文本呈现 *</a:t>
            </a:r>
            <a:endParaRPr lang="en-US" sz="840" dirty="0"/>
          </a:p>
        </p:txBody>
      </p:sp>
      <p:sp>
        <p:nvSpPr>
          <p:cNvPr id="22" name="Text 19"/>
          <p:cNvSpPr txBox="1"/>
          <p:nvPr/>
        </p:nvSpPr>
        <p:spPr>
          <a:xfrm>
            <a:off x="676656" y="2801389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看得见过程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868323" y="2801389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它现在在干什么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3334991" y="2801389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每步（读 / 搜 / 想）逐条留痕；多 Agent 状态实时</a:t>
            </a:r>
            <a:endParaRPr lang="en-US" sz="840" dirty="0"/>
          </a:p>
        </p:txBody>
      </p:sp>
      <p:sp>
        <p:nvSpPr>
          <p:cNvPr id="25" name="Text 22"/>
          <p:cNvSpPr txBox="1"/>
          <p:nvPr/>
        </p:nvSpPr>
        <p:spPr>
          <a:xfrm>
            <a:off x="6176659" y="2801389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逐步展示；改动计数 +4 −1</a:t>
            </a:r>
            <a:endParaRPr lang="en-US" sz="840" dirty="0"/>
          </a:p>
        </p:txBody>
      </p:sp>
      <p:sp>
        <p:nvSpPr>
          <p:cNvPr id="26" name="Text 23"/>
          <p:cNvSpPr txBox="1"/>
          <p:nvPr/>
        </p:nvSpPr>
        <p:spPr>
          <a:xfrm>
            <a:off x="8834993" y="2801389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B8BE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○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排队无提示（官方确认）；过程为终端文本流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548640" y="3262745"/>
            <a:ext cx="11091672" cy="4613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6656" y="3262745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改动先看后收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868323" y="3262745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改之前先让我过目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334991" y="3262745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diff + Accept / Reject / Auto-Approve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6176659" y="3262745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右侧面板逐文件呈现改动</a:t>
            </a:r>
            <a:endParaRPr lang="en-US" sz="840" dirty="0"/>
          </a:p>
        </p:txBody>
      </p:sp>
      <p:sp>
        <p:nvSpPr>
          <p:cNvPr id="32" name="Text 29"/>
          <p:cNvSpPr txBox="1"/>
          <p:nvPr/>
        </p:nvSpPr>
        <p:spPr>
          <a:xfrm>
            <a:off x="8834993" y="3262745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 diff；无专门审阅界面</a:t>
            </a:r>
            <a:endParaRPr lang="en-US" sz="840" dirty="0"/>
          </a:p>
        </p:txBody>
      </p:sp>
      <p:sp>
        <p:nvSpPr>
          <p:cNvPr id="33" name="Text 30"/>
          <p:cNvSpPr txBox="1"/>
          <p:nvPr/>
        </p:nvSpPr>
        <p:spPr>
          <a:xfrm>
            <a:off x="676656" y="3724102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能回去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1868323" y="3724102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后悔了能不能撤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3334991" y="3724102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逐处拒绝；整体回退靠 git / 本地历史</a:t>
            </a:r>
            <a:endParaRPr lang="en-US" sz="840" dirty="0"/>
          </a:p>
        </p:txBody>
      </p:sp>
      <p:sp>
        <p:nvSpPr>
          <p:cNvPr id="36" name="Text 33"/>
          <p:cNvSpPr txBox="1"/>
          <p:nvPr/>
        </p:nvSpPr>
        <p:spPr>
          <a:xfrm>
            <a:off x="6176659" y="3724102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时间轴任选节点 Restore</a:t>
            </a:r>
            <a:endParaRPr lang="en-US" sz="840" dirty="0"/>
          </a:p>
        </p:txBody>
      </p:sp>
      <p:sp>
        <p:nvSpPr>
          <p:cNvPr id="37" name="Text 34"/>
          <p:cNvSpPr txBox="1"/>
          <p:nvPr/>
        </p:nvSpPr>
        <p:spPr>
          <a:xfrm>
            <a:off x="8834993" y="3724102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B8BE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○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无回退入口（协议层也不支持）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548640" y="4185458"/>
            <a:ext cx="11091672" cy="4613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76656" y="4185458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能打断、换方向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868323" y="4185458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中途叫停或改主意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3334991" y="4185458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Stop 随时；等我时明确提示</a:t>
            </a:r>
            <a:endParaRPr lang="en-US" sz="840" dirty="0"/>
          </a:p>
        </p:txBody>
      </p:sp>
      <p:sp>
        <p:nvSpPr>
          <p:cNvPr id="42" name="Text 39"/>
          <p:cNvSpPr txBox="1"/>
          <p:nvPr/>
        </p:nvSpPr>
        <p:spPr>
          <a:xfrm>
            <a:off x="6176659" y="4185458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 Cancel</a:t>
            </a:r>
            <a:endParaRPr lang="en-US" sz="840" dirty="0"/>
          </a:p>
        </p:txBody>
      </p:sp>
      <p:sp>
        <p:nvSpPr>
          <p:cNvPr id="43" name="Text 40"/>
          <p:cNvSpPr txBox="1"/>
          <p:nvPr/>
        </p:nvSpPr>
        <p:spPr>
          <a:xfrm>
            <a:off x="8834993" y="4185458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可中断；不中断地插一句修正没有 *</a:t>
            </a:r>
            <a:endParaRPr lang="en-US" sz="840" dirty="0"/>
          </a:p>
        </p:txBody>
      </p:sp>
      <p:sp>
        <p:nvSpPr>
          <p:cNvPr id="44" name="Text 41"/>
          <p:cNvSpPr txBox="1"/>
          <p:nvPr/>
        </p:nvSpPr>
        <p:spPr>
          <a:xfrm>
            <a:off x="676656" y="4646815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做完能验证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1868323" y="4646815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怎么知道它做对了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3334991" y="4646815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可跑构建 / 测试，结果回到对话</a:t>
            </a:r>
            <a:endParaRPr lang="en-US" sz="840" dirty="0"/>
          </a:p>
        </p:txBody>
      </p:sp>
      <p:sp>
        <p:nvSpPr>
          <p:cNvPr id="47" name="Text 44"/>
          <p:cNvSpPr txBox="1"/>
          <p:nvPr/>
        </p:nvSpPr>
        <p:spPr>
          <a:xfrm>
            <a:off x="6176659" y="4646815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改动即时预览；构建结果回流</a:t>
            </a:r>
            <a:endParaRPr lang="en-US" sz="840" dirty="0"/>
          </a:p>
        </p:txBody>
      </p:sp>
      <p:sp>
        <p:nvSpPr>
          <p:cNvPr id="48" name="Text 45"/>
          <p:cNvSpPr txBox="1"/>
          <p:nvPr/>
        </p:nvSpPr>
        <p:spPr>
          <a:xfrm>
            <a:off x="8834993" y="4646815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verify_ui 雏形；构建与真机仍靠 Studio</a:t>
            </a:r>
            <a:endParaRPr lang="en-US" sz="840" dirty="0"/>
          </a:p>
        </p:txBody>
      </p:sp>
      <p:sp>
        <p:nvSpPr>
          <p:cNvPr id="49" name="Shape 46"/>
          <p:cNvSpPr/>
          <p:nvPr/>
        </p:nvSpPr>
        <p:spPr>
          <a:xfrm>
            <a:off x="548640" y="5108171"/>
            <a:ext cx="11091672" cy="4613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76656" y="5108171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几件事一起做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1868323" y="5108171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交出去一件，先干别的</a:t>
            </a:r>
            <a:endParaRPr lang="en-US" sz="850" dirty="0"/>
          </a:p>
        </p:txBody>
      </p:sp>
      <p:sp>
        <p:nvSpPr>
          <p:cNvPr id="52" name="Text 49"/>
          <p:cNvSpPr txBox="1"/>
          <p:nvPr/>
        </p:nvSpPr>
        <p:spPr>
          <a:xfrm>
            <a:off x="3334991" y="5108171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Sessions + Recent Chats</a:t>
            </a:r>
            <a:endParaRPr lang="en-US" sz="840" dirty="0"/>
          </a:p>
        </p:txBody>
      </p:sp>
      <p:sp>
        <p:nvSpPr>
          <p:cNvPr id="53" name="Text 50"/>
          <p:cNvSpPr txBox="1"/>
          <p:nvPr/>
        </p:nvSpPr>
        <p:spPr>
          <a:xfrm>
            <a:off x="6176659" y="5108171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侧栏并行会话，可归档</a:t>
            </a:r>
            <a:endParaRPr lang="en-US" sz="840" dirty="0"/>
          </a:p>
        </p:txBody>
      </p:sp>
      <p:sp>
        <p:nvSpPr>
          <p:cNvPr id="54" name="Text 51"/>
          <p:cNvSpPr txBox="1"/>
          <p:nvPr/>
        </p:nvSpPr>
        <p:spPr>
          <a:xfrm>
            <a:off x="8834993" y="5108171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会话可恢复；无任务命名与状态</a:t>
            </a:r>
            <a:endParaRPr lang="en-US" sz="840" dirty="0"/>
          </a:p>
        </p:txBody>
      </p:sp>
      <p:sp>
        <p:nvSpPr>
          <p:cNvPr id="55" name="Text 52"/>
          <p:cNvSpPr txBox="1"/>
          <p:nvPr/>
        </p:nvSpPr>
        <p:spPr>
          <a:xfrm>
            <a:off x="676656" y="5569527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等待心里有数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1868323" y="5569527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要等多久、还剩多少额度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3334991" y="5569527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本地模型内存要求明示；进度可见</a:t>
            </a:r>
            <a:endParaRPr lang="en-US" sz="840" dirty="0"/>
          </a:p>
        </p:txBody>
      </p:sp>
      <p:sp>
        <p:nvSpPr>
          <p:cNvPr id="58" name="Text 55"/>
          <p:cNvSpPr txBox="1"/>
          <p:nvPr/>
        </p:nvSpPr>
        <p:spPr>
          <a:xfrm>
            <a:off x="6176659" y="5569527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端侧补全，源码不出机</a:t>
            </a:r>
            <a:endParaRPr lang="en-US" sz="840" dirty="0"/>
          </a:p>
        </p:txBody>
      </p:sp>
      <p:sp>
        <p:nvSpPr>
          <p:cNvPr id="59" name="Text 56"/>
          <p:cNvSpPr txBox="1"/>
          <p:nvPr/>
        </p:nvSpPr>
        <p:spPr>
          <a:xfrm>
            <a:off x="8834993" y="5569527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B8BE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○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排队 / 配额 / 上下文均不可见</a:t>
            </a:r>
            <a:endParaRPr lang="en-US" sz="840" dirty="0"/>
          </a:p>
        </p:txBody>
      </p:sp>
      <p:sp>
        <p:nvSpPr>
          <p:cNvPr id="60" name="Shape 57"/>
          <p:cNvSpPr/>
          <p:nvPr/>
        </p:nvSpPr>
        <p:spPr>
          <a:xfrm>
            <a:off x="548640" y="6030884"/>
            <a:ext cx="11091672" cy="4613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76656" y="6030884"/>
            <a:ext cx="1008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在自己的工具里用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1868323" y="6030884"/>
            <a:ext cx="1283787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不换工具也能用上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3334991" y="6030884"/>
            <a:ext cx="2658788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 CLI + 23 个 Skills 装进 Claude Code / Codex</a:t>
            </a:r>
            <a:endParaRPr lang="en-US" sz="840" dirty="0"/>
          </a:p>
        </p:txBody>
      </p:sp>
      <p:sp>
        <p:nvSpPr>
          <p:cNvPr id="64" name="Text 61"/>
          <p:cNvSpPr txBox="1"/>
          <p:nvPr/>
        </p:nvSpPr>
        <p:spPr>
          <a:xfrm>
            <a:off x="6176659" y="6030884"/>
            <a:ext cx="2475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能力经 mcpbridge 给外部 Agent；7 个 Skills 可导出</a:t>
            </a:r>
            <a:endParaRPr lang="en-US" sz="840" dirty="0"/>
          </a:p>
        </p:txBody>
      </p:sp>
      <p:sp>
        <p:nvSpPr>
          <p:cNvPr id="65" name="Text 62"/>
          <p:cNvSpPr txBox="1"/>
          <p:nvPr/>
        </p:nvSpPr>
        <p:spPr>
          <a:xfrm>
            <a:off x="8834993" y="6030884"/>
            <a:ext cx="2750455" cy="46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5A8D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◐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init 可装 Skills / MCP；无 Linux、无 VS Code 插件</a:t>
            </a:r>
            <a:endParaRPr lang="en-US" sz="840" dirty="0"/>
          </a:p>
        </p:txBody>
      </p:sp>
      <p:sp>
        <p:nvSpPr>
          <p:cNvPr id="66" name="Shape 63"/>
          <p:cNvSpPr/>
          <p:nvPr/>
        </p:nvSpPr>
        <p:spPr>
          <a:xfrm>
            <a:off x="8706977" y="1417320"/>
            <a:ext cx="2933335" cy="5074920"/>
          </a:xfrm>
          <a:prstGeom prst="roundRect">
            <a:avLst>
              <a:gd name="adj" fmla="val 3117"/>
            </a:avLst>
          </a:prstGeom>
          <a:solidFill>
            <a:srgbClr val="0A59F7">
              <a:alpha val="6000"/>
            </a:srgbClr>
          </a:solidFill>
          <a:ln w="12700">
            <a:solidFill>
              <a:srgbClr val="0A59F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信息截至 2026-09-04：Android Studio Agent Mode 官方文档、Android CLI 1.0 · Xcode 27 beta 6 与官方教程 · 评级为本方体验判断，非官方数据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POS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6795" y="1920240"/>
            <a:ext cx="8970380" cy="1417320"/>
          </a:xfrm>
          <a:prstGeom prst="rect">
            <a:avLst/>
          </a:prstGeom>
        </p:spPr>
      </p:pic>
      <p:pic>
        <p:nvPicPr>
          <p:cNvPr id="3" name="Image 1" descr="/root/deck/assets/icon_do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平台厂商自带的 IDE 面对 AI，走出了三条路：开门、绕行、闭门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六家产品，三种姿态；分组线和「厂商有没有自家 AI 要卖」几乎重合。DevEco 目前与 Visual Studio、微信开发者工具同在闭门一组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548640" y="1417320"/>
            <a:ext cx="3575304" cy="365760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4672" y="1581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开门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1874520" y="16184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 · Unity · Unreal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804672" y="256032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" y="25603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· 预览 · 调试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011680" y="2862072"/>
            <a:ext cx="457200" cy="219456"/>
          </a:xfrm>
          <a:prstGeom prst="rightArrow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542032" y="224028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587752" y="22402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542032" y="278892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587752" y="278892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542032" y="333756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587752" y="33375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804672" y="34747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能力向外交出去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804672" y="37216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的能力交给外面任何 Agent 调用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04672" y="4014216"/>
            <a:ext cx="3063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谁：Apple、Unity、Epic——自己没有编码模型要卖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开发者感受：用惯的 Agent 不用换，IDE 成了它的「手」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为什么：不赚 AI 的钱，就把 IDE 做成大家都要经过的地方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4306824" y="1417320"/>
            <a:ext cx="3575304" cy="3657600"/>
          </a:xfrm>
          <a:prstGeom prst="roundRect">
            <a:avLst>
              <a:gd name="adj" fmla="val 4604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62856" y="1581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绕行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5632704" y="16184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Studio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62856" y="292608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3D74F0"/>
          </a:solidFill>
          <a:ln w="9525">
            <a:solidFill>
              <a:srgbClr val="9FBBFB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4608576" y="29260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IDE（可选）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888736" y="292608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934456" y="29260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 CLI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888736" y="21945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934456" y="21945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任意 Agent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364224" y="2679192"/>
            <a:ext cx="201168" cy="219456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14616" y="2926080"/>
            <a:ext cx="411480" cy="5943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260336" y="292608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· 真机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7050024" y="3118104"/>
            <a:ext cx="146304" cy="201168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562856" y="35661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不进 IDE 也能干活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4562856" y="37216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 CLI：不开 IDE 也能完成开发动作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4562856" y="4014216"/>
            <a:ext cx="3063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谁：Google——有 Gemini，但模型跟着 CLI 走，不绑 IDE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开发者感受：在终端、在别人的 Agent 里，Android 都「在场」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为什么：承认开发动作正在离开 IDE，先去人在的地方</a:t>
            </a:r>
            <a:endParaRPr lang="en-US" sz="880" dirty="0"/>
          </a:p>
        </p:txBody>
      </p:sp>
      <p:sp>
        <p:nvSpPr>
          <p:cNvPr id="37" name="Shape 33"/>
          <p:cNvSpPr/>
          <p:nvPr/>
        </p:nvSpPr>
        <p:spPr>
          <a:xfrm>
            <a:off x="8065008" y="1417320"/>
            <a:ext cx="3575304" cy="3657600"/>
          </a:xfrm>
          <a:prstGeom prst="roundRect">
            <a:avLst>
              <a:gd name="adj" fmla="val 4604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321040" y="1581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闭门</a:t>
            </a:r>
            <a:endParaRPr lang="en-US" sz="2200" dirty="0"/>
          </a:p>
        </p:txBody>
      </p:sp>
      <p:sp>
        <p:nvSpPr>
          <p:cNvPr id="39" name="Text 35"/>
          <p:cNvSpPr txBox="1"/>
          <p:nvPr/>
        </p:nvSpPr>
        <p:spPr>
          <a:xfrm>
            <a:off x="9390888" y="16184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Visual Studio · 微信开发者工具 · DevEco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8321040" y="219456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F1F1F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430768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8549640" y="26060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595360" y="2606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自研 AI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（内置）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10561320" y="2331720"/>
            <a:ext cx="822960" cy="438912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 w="9525">
            <a:solidFill>
              <a:srgbClr val="5A5A5A"/>
            </a:solidFill>
            <a:prstDash val="dash"/>
          </a:ln>
        </p:spPr>
      </p:sp>
      <p:sp>
        <p:nvSpPr>
          <p:cNvPr id="45" name="Text 41"/>
          <p:cNvSpPr txBox="1"/>
          <p:nvPr/>
        </p:nvSpPr>
        <p:spPr>
          <a:xfrm>
            <a:off x="10607040" y="23317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10561320" y="2898648"/>
            <a:ext cx="822960" cy="438912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 w="9525">
            <a:solidFill>
              <a:srgbClr val="5A5A5A"/>
            </a:solidFill>
            <a:prstDash val="dash"/>
          </a:ln>
        </p:spPr>
      </p:sp>
      <p:sp>
        <p:nvSpPr>
          <p:cNvPr id="47" name="Text 43"/>
          <p:cNvSpPr txBox="1"/>
          <p:nvPr/>
        </p:nvSpPr>
        <p:spPr>
          <a:xfrm>
            <a:off x="10607040" y="289864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10259568" y="2240280"/>
            <a:ext cx="0" cy="1234440"/>
          </a:xfrm>
          <a:prstGeom prst="line">
            <a:avLst/>
          </a:prstGeom>
          <a:noFill/>
          <a:ln w="19050">
            <a:solidFill>
              <a:srgbClr val="8C8C8C"/>
            </a:solidFill>
            <a:prstDash val="dash"/>
          </a:ln>
        </p:spPr>
      </p:sp>
      <p:sp>
        <p:nvSpPr>
          <p:cNvPr id="49" name="Text 45"/>
          <p:cNvSpPr txBox="1"/>
          <p:nvPr/>
        </p:nvSpPr>
        <p:spPr>
          <a:xfrm>
            <a:off x="8321040" y="35661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门朝里开，外面的进不来</a:t>
            </a:r>
            <a:endParaRPr lang="en-US" sz="850" dirty="0"/>
          </a:p>
        </p:txBody>
      </p:sp>
      <p:sp>
        <p:nvSpPr>
          <p:cNvPr id="50" name="Text 46"/>
          <p:cNvSpPr txBox="1"/>
          <p:nvPr/>
        </p:nvSpPr>
        <p:spPr>
          <a:xfrm>
            <a:off x="8321040" y="37216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自研 AI 装在 IDE 里；对外只当客户端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8321040" y="4014216"/>
            <a:ext cx="3063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谁：微软、腾讯、华为——三家都有自家 AI 要推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开发者感受：好用与否取决于自家 AI；想用别的，要出 IDE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为什么：有产品要卖时，门自然朝里开；微软 2026-08 已开始松动（BYOM 扩到 Agent Mode）</a:t>
            </a:r>
            <a:endParaRPr lang="en-US" sz="880" dirty="0"/>
          </a:p>
        </p:txBody>
      </p:sp>
      <p:sp>
        <p:nvSpPr>
          <p:cNvPr id="52" name="Shape 48"/>
          <p:cNvSpPr/>
          <p:nvPr/>
        </p:nvSpPr>
        <p:spPr>
          <a:xfrm>
            <a:off x="548640" y="5257800"/>
            <a:ext cx="5454396" cy="1234440"/>
          </a:xfrm>
          <a:prstGeom prst="roundRect">
            <a:avLst>
              <a:gd name="adj" fmla="val 13333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822960" y="5404104"/>
            <a:ext cx="4905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 DevEco 的含义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822960" y="5660136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「学 Apple 全开放」不能直接抄：Apple 的开放建立在它不靠编码 AI 赚钱；更像的参照是微软的渐进开放</a:t>
            </a:r>
            <a:endParaRPr lang="en-US" sz="920" dirty="0"/>
          </a:p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CodeGenie 下线后，闭门的商业理由减弱——这是从闭门走向绕行的窗口，CLI 与 Skills 已经具备起步条件</a:t>
            </a:r>
            <a:endParaRPr lang="en-US" sz="920" dirty="0"/>
          </a:p>
        </p:txBody>
      </p:sp>
      <p:sp>
        <p:nvSpPr>
          <p:cNvPr id="55" name="Shape 51"/>
          <p:cNvSpPr/>
          <p:nvPr/>
        </p:nvSpPr>
        <p:spPr>
          <a:xfrm>
            <a:off x="6185916" y="5257800"/>
            <a:ext cx="5454396" cy="1234440"/>
          </a:xfrm>
          <a:prstGeom prst="roundRect">
            <a:avLst>
              <a:gd name="adj" fmla="val 1333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460236" y="5404104"/>
            <a:ext cx="4905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两条硬发现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6460236" y="5660136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同样叫「支持 MCP」，方向相反：当客户端是给自家 AI 加料，当服务端才是开门；DevEco 的 serve mcp 方向对，但只暴露语法检查</a:t>
            </a:r>
            <a:endParaRPr lang="en-US" sz="920" dirty="0"/>
          </a:p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脱 GUI 是老账：微信最封闭却有 miniprogram-ci；六家里只有 DevEco 的构建与调试仍依赖无 Linux 版的 Studio</a:t>
            </a:r>
            <a:endParaRPr lang="en-US" sz="920" dirty="0"/>
          </a:p>
        </p:txBody>
      </p:sp>
      <p:sp>
        <p:nvSpPr>
          <p:cNvPr id="58" name="Text 54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Visual Studio BYOM 扩展 2026-08 · Android CLI 1.0 官方声明 2026-05-19 · Unity / Unreal / 微信开发者工具官方文档 · 姿态评分与图解为本方判断</a:t>
            </a:r>
            <a:endParaRPr lang="en-US" sz="750" dirty="0"/>
          </a:p>
        </p:txBody>
      </p:sp>
      <p:sp>
        <p:nvSpPr>
          <p:cNvPr id="59" name="Text 5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行业动向：竞品雷达 R01（09-03）的三条判定，以及设计要跟着改什么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双周机制（每月 8 / 22 日），采集窗口 2026-08-11 → 09-03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160020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IDE 变成「宿主」，Agent 随便换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6384" y="196596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1965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已成事实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86384" y="2313432"/>
            <a:ext cx="3099816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0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74569" t="0" b="80667"/>
          <a:stretch/>
        </p:blipFill>
        <p:spPr>
          <a:xfrm>
            <a:off x="786384" y="2313432"/>
            <a:ext cx="3099816" cy="1325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0684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00684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48456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771900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00684" y="352501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0684" y="340156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48456" y="352501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71900" y="340156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833372" y="2496312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0A59F7"/>
          </a:solidFill>
          <a:ln w="9525">
            <a:solidFill>
              <a:srgbClr val="0A59F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879092" y="24963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（宿主）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77824" y="2514600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23544" y="251460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1719072" y="2688336"/>
            <a:ext cx="114300" cy="0"/>
          </a:xfrm>
          <a:prstGeom prst="line">
            <a:avLst/>
          </a:prstGeom>
          <a:noFill/>
          <a:ln w="15875">
            <a:solidFill>
              <a:srgbClr val="9FBBF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77824" y="2953512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23544" y="295351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1719072" y="3127248"/>
            <a:ext cx="114300" cy="0"/>
          </a:xfrm>
          <a:prstGeom prst="line">
            <a:avLst/>
          </a:prstGeom>
          <a:noFill/>
          <a:ln w="15875">
            <a:solidFill>
              <a:srgbClr val="9FBBF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953512" y="2514600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999232" y="251460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2839212" y="2688336"/>
            <a:ext cx="114300" cy="0"/>
          </a:xfrm>
          <a:prstGeom prst="line">
            <a:avLst/>
          </a:prstGeom>
          <a:noFill/>
          <a:ln w="15875">
            <a:solidFill>
              <a:srgbClr val="9FBBF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953512" y="2953512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999232" y="295351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2839212" y="3127248"/>
            <a:ext cx="114300" cy="0"/>
          </a:xfrm>
          <a:prstGeom prst="line">
            <a:avLst/>
          </a:prstGeom>
          <a:noFill/>
          <a:ln w="15875">
            <a:solidFill>
              <a:srgbClr val="9FBBFB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86384" y="340156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任何 Agent 都能接进来</a:t>
            </a:r>
            <a:endParaRPr lang="en-US" sz="750" dirty="0"/>
          </a:p>
        </p:txBody>
      </p:sp>
      <p:sp>
        <p:nvSpPr>
          <p:cNvPr id="34" name="Text 30"/>
          <p:cNvSpPr txBox="1"/>
          <p:nvPr/>
        </p:nvSpPr>
        <p:spPr>
          <a:xfrm>
            <a:off x="786384" y="374904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发生了什么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786384" y="400507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微软 AHP 与 JetBrains ACP 同月开放，VS Code 首屏改成「Your home for multi-agent development」</a:t>
            </a:r>
            <a:endParaRPr lang="en-US" sz="860" dirty="0"/>
          </a:p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Apple 工程师公开：内置 chat agent「hasn't changed」，重心转向 ACP + MCP</a:t>
            </a:r>
            <a:endParaRPr lang="en-US" sz="860" dirty="0"/>
          </a:p>
        </p:txBody>
      </p:sp>
      <p:sp>
        <p:nvSpPr>
          <p:cNvPr id="36" name="Text 32"/>
          <p:cNvSpPr txBox="1"/>
          <p:nvPr/>
        </p:nvSpPr>
        <p:spPr>
          <a:xfrm>
            <a:off x="786384" y="46817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对开发者意味着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786384" y="493776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开发者不再问「这个 IDE 的 AI 好不好」，而是问「我的 Agent 能不能在这里用」</a:t>
            </a:r>
            <a:endParaRPr lang="en-US" sz="860" dirty="0"/>
          </a:p>
        </p:txBody>
      </p:sp>
      <p:sp>
        <p:nvSpPr>
          <p:cNvPr id="38" name="Shape 34"/>
          <p:cNvSpPr/>
          <p:nvPr/>
        </p:nvSpPr>
        <p:spPr>
          <a:xfrm>
            <a:off x="786384" y="5285232"/>
            <a:ext cx="3099816" cy="1060704"/>
          </a:xfrm>
          <a:prstGeom prst="roundRect">
            <a:avLst>
              <a:gd name="adj" fmla="val 6897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14400" y="5340096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设计含义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914400" y="5596128"/>
            <a:ext cx="2843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里的 AI 降为基础设施；设计的竞争面上移到「宿主与治理」：选哪个 Agent、给多大权限、花了多少——Studio 空出的 AI 入口正好按这个做</a:t>
            </a:r>
            <a:endParaRPr lang="en-US" sz="860" dirty="0"/>
          </a:p>
        </p:txBody>
      </p:sp>
      <p:sp>
        <p:nvSpPr>
          <p:cNvPr id="41" name="Shape 37"/>
          <p:cNvSpPr/>
          <p:nvPr/>
        </p:nvSpPr>
        <p:spPr>
          <a:xfrm>
            <a:off x="4306824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544568" y="160020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终端 Agent 的交互，五项已成标配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4544568" y="196596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544568" y="1965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第六项在形成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4544568" y="2313432"/>
            <a:ext cx="3099816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46" name="Image 2" descr="/root/deck/assets/grid_box.png">    </p:cNvPr>
          <p:cNvPicPr>
            <a:picLocks noChangeAspect="1"/>
          </p:cNvPicPr>
          <p:nvPr/>
        </p:nvPicPr>
        <p:blipFill>
          <a:blip r:embed="rId3"/>
          <a:srcRect l="0" r="74569" t="0" b="80667"/>
          <a:stretch/>
        </p:blipFill>
        <p:spPr>
          <a:xfrm>
            <a:off x="4544568" y="2313432"/>
            <a:ext cx="3099816" cy="1325880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4658868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4658868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7406640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530084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658868" y="352501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4658868" y="340156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7406640" y="352501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7530084" y="340156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681728" y="2404872"/>
            <a:ext cx="1367028" cy="292608"/>
          </a:xfrm>
          <a:prstGeom prst="roundRect">
            <a:avLst>
              <a:gd name="adj" fmla="val 18750"/>
            </a:avLst>
          </a:prstGeom>
          <a:solidFill>
            <a:srgbClr val="E6EEFE"/>
          </a:solidFill>
          <a:ln w="12700">
            <a:solidFill>
              <a:srgbClr val="E6EEFE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4773168" y="2404872"/>
            <a:ext cx="122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权限三态</a:t>
            </a:r>
            <a:endParaRPr lang="en-US" sz="850" dirty="0"/>
          </a:p>
        </p:txBody>
      </p:sp>
      <p:sp>
        <p:nvSpPr>
          <p:cNvPr id="57" name="Shape 52"/>
          <p:cNvSpPr/>
          <p:nvPr/>
        </p:nvSpPr>
        <p:spPr>
          <a:xfrm>
            <a:off x="6140196" y="2404872"/>
            <a:ext cx="1367028" cy="292608"/>
          </a:xfrm>
          <a:prstGeom prst="roundRect">
            <a:avLst>
              <a:gd name="adj" fmla="val 18750"/>
            </a:avLst>
          </a:prstGeom>
          <a:solidFill>
            <a:srgbClr val="E6EEFE"/>
          </a:solidFill>
          <a:ln w="12700">
            <a:solidFill>
              <a:srgbClr val="E6EEFE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6231636" y="2404872"/>
            <a:ext cx="122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可编辑审批</a:t>
            </a:r>
            <a:endParaRPr lang="en-US" sz="850" dirty="0"/>
          </a:p>
        </p:txBody>
      </p:sp>
      <p:sp>
        <p:nvSpPr>
          <p:cNvPr id="59" name="Shape 54"/>
          <p:cNvSpPr/>
          <p:nvPr/>
        </p:nvSpPr>
        <p:spPr>
          <a:xfrm>
            <a:off x="4681728" y="2752344"/>
            <a:ext cx="1367028" cy="292608"/>
          </a:xfrm>
          <a:prstGeom prst="roundRect">
            <a:avLst>
              <a:gd name="adj" fmla="val 18750"/>
            </a:avLst>
          </a:prstGeom>
          <a:solidFill>
            <a:srgbClr val="E6EEFE"/>
          </a:solidFill>
          <a:ln w="12700">
            <a:solidFill>
              <a:srgbClr val="E6EEFE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4773168" y="2752344"/>
            <a:ext cx="122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可编程中断</a:t>
            </a:r>
            <a:endParaRPr lang="en-US" sz="850" dirty="0"/>
          </a:p>
        </p:txBody>
      </p:sp>
      <p:sp>
        <p:nvSpPr>
          <p:cNvPr id="61" name="Shape 56"/>
          <p:cNvSpPr/>
          <p:nvPr/>
        </p:nvSpPr>
        <p:spPr>
          <a:xfrm>
            <a:off x="6140196" y="2752344"/>
            <a:ext cx="1367028" cy="292608"/>
          </a:xfrm>
          <a:prstGeom prst="roundRect">
            <a:avLst>
              <a:gd name="adj" fmla="val 18750"/>
            </a:avLst>
          </a:prstGeom>
          <a:solidFill>
            <a:srgbClr val="E6EEFE"/>
          </a:solidFill>
          <a:ln w="12700">
            <a:solidFill>
              <a:srgbClr val="E6EEFE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6231636" y="2752344"/>
            <a:ext cx="122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多任务分诊</a:t>
            </a:r>
            <a:endParaRPr lang="en-US" sz="850" dirty="0"/>
          </a:p>
        </p:txBody>
      </p:sp>
      <p:sp>
        <p:nvSpPr>
          <p:cNvPr id="63" name="Shape 58"/>
          <p:cNvSpPr/>
          <p:nvPr/>
        </p:nvSpPr>
        <p:spPr>
          <a:xfrm>
            <a:off x="4681728" y="3099816"/>
            <a:ext cx="1367028" cy="292608"/>
          </a:xfrm>
          <a:prstGeom prst="roundRect">
            <a:avLst>
              <a:gd name="adj" fmla="val 18750"/>
            </a:avLst>
          </a:prstGeom>
          <a:solidFill>
            <a:srgbClr val="E6EEFE"/>
          </a:solidFill>
          <a:ln w="12700">
            <a:solidFill>
              <a:srgbClr val="E6EEFE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4773168" y="3099816"/>
            <a:ext cx="122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会话可恢复</a:t>
            </a:r>
            <a:endParaRPr lang="en-US" sz="850" dirty="0"/>
          </a:p>
        </p:txBody>
      </p:sp>
      <p:sp>
        <p:nvSpPr>
          <p:cNvPr id="65" name="Shape 60"/>
          <p:cNvSpPr/>
          <p:nvPr/>
        </p:nvSpPr>
        <p:spPr>
          <a:xfrm>
            <a:off x="6140196" y="3099816"/>
            <a:ext cx="136702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9FBBFB"/>
            </a:solidFill>
            <a:prstDash val="dash"/>
          </a:ln>
        </p:spPr>
      </p:sp>
      <p:sp>
        <p:nvSpPr>
          <p:cNvPr id="66" name="Text 61"/>
          <p:cNvSpPr txBox="1"/>
          <p:nvPr/>
        </p:nvSpPr>
        <p:spPr>
          <a:xfrm>
            <a:off x="6231636" y="3099816"/>
            <a:ext cx="122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◌ </a:t>
            </a:r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长时自治 + 硬边界</a:t>
            </a:r>
            <a:endParaRPr lang="en-US" sz="850" dirty="0"/>
          </a:p>
        </p:txBody>
      </p:sp>
      <p:sp>
        <p:nvSpPr>
          <p:cNvPr id="67" name="Text 62"/>
          <p:cNvSpPr txBox="1"/>
          <p:nvPr/>
        </p:nvSpPr>
        <p:spPr>
          <a:xfrm>
            <a:off x="4544568" y="3438144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已收敛（及格线）  ◌ 形成中</a:t>
            </a:r>
            <a:endParaRPr lang="en-US" sz="750" dirty="0"/>
          </a:p>
        </p:txBody>
      </p:sp>
      <p:sp>
        <p:nvSpPr>
          <p:cNvPr id="68" name="Text 63"/>
          <p:cNvSpPr txBox="1"/>
          <p:nvPr/>
        </p:nvSpPr>
        <p:spPr>
          <a:xfrm>
            <a:off x="4544568" y="374904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发生了什么</a:t>
            </a:r>
            <a:endParaRPr lang="en-US" sz="900" dirty="0"/>
          </a:p>
        </p:txBody>
      </p:sp>
      <p:sp>
        <p:nvSpPr>
          <p:cNvPr id="69" name="Text 64"/>
          <p:cNvSpPr txBox="1"/>
          <p:nvPr/>
        </p:nvSpPr>
        <p:spPr>
          <a:xfrm>
            <a:off x="4544568" y="400507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权限三态 · 可编辑审批 · 可编程中断 · 多任务分诊 · 会话可恢复，五项各家都有了</a:t>
            </a:r>
            <a:endParaRPr lang="en-US" sz="860" dirty="0"/>
          </a:p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长时自治 + 硬边界正在形成；多文件 diff 仍是公认弱项，ACP 明确 undo / redo 跨协议不支持</a:t>
            </a:r>
            <a:endParaRPr lang="en-US" sz="860" dirty="0"/>
          </a:p>
        </p:txBody>
      </p:sp>
      <p:sp>
        <p:nvSpPr>
          <p:cNvPr id="70" name="Text 65"/>
          <p:cNvSpPr txBox="1"/>
          <p:nvPr/>
        </p:nvSpPr>
        <p:spPr>
          <a:xfrm>
            <a:off x="4544568" y="46817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对开发者意味着</a:t>
            </a:r>
            <a:endParaRPr lang="en-US" sz="900" dirty="0"/>
          </a:p>
        </p:txBody>
      </p:sp>
      <p:sp>
        <p:nvSpPr>
          <p:cNvPr id="71" name="Text 66"/>
          <p:cNvSpPr txBox="1"/>
          <p:nvPr/>
        </p:nvSpPr>
        <p:spPr>
          <a:xfrm>
            <a:off x="4544568" y="493776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五项是「及格线」：没有会被立刻感知；有了也不加分</a:t>
            </a:r>
            <a:endParaRPr lang="en-US" sz="860" dirty="0"/>
          </a:p>
        </p:txBody>
      </p:sp>
      <p:sp>
        <p:nvSpPr>
          <p:cNvPr id="72" name="Shape 67"/>
          <p:cNvSpPr/>
          <p:nvPr/>
        </p:nvSpPr>
        <p:spPr>
          <a:xfrm>
            <a:off x="4544568" y="5285232"/>
            <a:ext cx="3099816" cy="1060704"/>
          </a:xfrm>
          <a:prstGeom prst="roundRect">
            <a:avLst>
              <a:gd name="adj" fmla="val 6897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4672584" y="5340096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设计含义</a:t>
            </a:r>
            <a:endParaRPr lang="en-US" sz="900" dirty="0"/>
          </a:p>
        </p:txBody>
      </p:sp>
      <p:sp>
        <p:nvSpPr>
          <p:cNvPr id="74" name="Text 69"/>
          <p:cNvSpPr txBox="1"/>
          <p:nvPr/>
        </p:nvSpPr>
        <p:spPr>
          <a:xfrm>
            <a:off x="4672584" y="5596128"/>
            <a:ext cx="2843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可差异化的是及格线之外的三处：改动审阅与回退、不打断地插一句修正（steering）、成本与等待可见</a:t>
            </a:r>
            <a:endParaRPr lang="en-US" sz="860" dirty="0"/>
          </a:p>
        </p:txBody>
      </p:sp>
      <p:sp>
        <p:nvSpPr>
          <p:cNvPr id="75" name="Shape 70"/>
          <p:cNvSpPr/>
          <p:nvPr/>
        </p:nvSpPr>
        <p:spPr>
          <a:xfrm>
            <a:off x="8065008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8302752" y="160020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平台知识开始「给 Agent 装」</a:t>
            </a:r>
            <a:endParaRPr lang="en-US" sz="1250" dirty="0"/>
          </a:p>
        </p:txBody>
      </p:sp>
      <p:sp>
        <p:nvSpPr>
          <p:cNvPr id="77" name="Shape 72"/>
          <p:cNvSpPr/>
          <p:nvPr/>
        </p:nvSpPr>
        <p:spPr>
          <a:xfrm>
            <a:off x="8302752" y="1965960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8302752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形态已定，空位仍在</a:t>
            </a:r>
            <a:endParaRPr lang="en-US" sz="850" dirty="0"/>
          </a:p>
        </p:txBody>
      </p:sp>
      <p:sp>
        <p:nvSpPr>
          <p:cNvPr id="79" name="Shape 74"/>
          <p:cNvSpPr/>
          <p:nvPr/>
        </p:nvSpPr>
        <p:spPr>
          <a:xfrm>
            <a:off x="8302752" y="2313432"/>
            <a:ext cx="3099816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80" name="Image 3" descr="/root/deck/assets/grid_box.png">    </p:cNvPr>
          <p:cNvPicPr>
            <a:picLocks noChangeAspect="1"/>
          </p:cNvPicPr>
          <p:nvPr/>
        </p:nvPicPr>
        <p:blipFill>
          <a:blip r:embed="rId4"/>
          <a:srcRect l="0" r="74569" t="0" b="80667"/>
          <a:stretch/>
        </p:blipFill>
        <p:spPr>
          <a:xfrm>
            <a:off x="8302752" y="2313432"/>
            <a:ext cx="3099816" cy="1325880"/>
          </a:xfrm>
          <a:prstGeom prst="rect">
            <a:avLst/>
          </a:prstGeom>
        </p:spPr>
      </p:pic>
      <p:sp>
        <p:nvSpPr>
          <p:cNvPr id="81" name="Shape 75"/>
          <p:cNvSpPr/>
          <p:nvPr/>
        </p:nvSpPr>
        <p:spPr>
          <a:xfrm>
            <a:off x="8417052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8417052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11164824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>
            <a:off x="11288268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8417052" y="352501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8417052" y="340156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11164824" y="352501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11288268" y="340156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8439912" y="2404872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90" name="Text 84"/>
          <p:cNvSpPr txBox="1"/>
          <p:nvPr/>
        </p:nvSpPr>
        <p:spPr>
          <a:xfrm>
            <a:off x="8485632" y="2404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Skills 包</a:t>
            </a:r>
            <a:endParaRPr lang="en-US" sz="850" dirty="0"/>
          </a:p>
        </p:txBody>
      </p:sp>
      <p:sp>
        <p:nvSpPr>
          <p:cNvPr id="91" name="Shape 85"/>
          <p:cNvSpPr/>
          <p:nvPr/>
        </p:nvSpPr>
        <p:spPr>
          <a:xfrm>
            <a:off x="8439912" y="2752344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92" name="Text 86"/>
          <p:cNvSpPr txBox="1"/>
          <p:nvPr/>
        </p:nvSpPr>
        <p:spPr>
          <a:xfrm>
            <a:off x="8485632" y="27523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</a:t>
            </a:r>
            <a:endParaRPr lang="en-US" sz="850" dirty="0"/>
          </a:p>
        </p:txBody>
      </p:sp>
      <p:sp>
        <p:nvSpPr>
          <p:cNvPr id="93" name="Shape 87"/>
          <p:cNvSpPr/>
          <p:nvPr/>
        </p:nvSpPr>
        <p:spPr>
          <a:xfrm>
            <a:off x="8439912" y="3099816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94" name="Text 88"/>
          <p:cNvSpPr txBox="1"/>
          <p:nvPr/>
        </p:nvSpPr>
        <p:spPr>
          <a:xfrm>
            <a:off x="8485632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server</a:t>
            </a:r>
            <a:endParaRPr lang="en-US" sz="850" dirty="0"/>
          </a:p>
        </p:txBody>
      </p:sp>
      <p:sp>
        <p:nvSpPr>
          <p:cNvPr id="95" name="Shape 89"/>
          <p:cNvSpPr/>
          <p:nvPr/>
        </p:nvSpPr>
        <p:spPr>
          <a:xfrm>
            <a:off x="9720072" y="2770632"/>
            <a:ext cx="457200" cy="237744"/>
          </a:xfrm>
          <a:prstGeom prst="rightArrow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96" name="Shape 90"/>
          <p:cNvSpPr/>
          <p:nvPr/>
        </p:nvSpPr>
        <p:spPr>
          <a:xfrm>
            <a:off x="10268712" y="2496312"/>
            <a:ext cx="996696" cy="777240"/>
          </a:xfrm>
          <a:prstGeom prst="roundRect">
            <a:avLst>
              <a:gd name="adj" fmla="val 9412"/>
            </a:avLst>
          </a:prstGeom>
          <a:solidFill>
            <a:srgbClr val="0A59F7"/>
          </a:solidFill>
          <a:ln w="9525">
            <a:solidFill>
              <a:srgbClr val="0A59F7"/>
            </a:solidFill>
            <a:prstDash val="solid"/>
          </a:ln>
        </p:spPr>
      </p:sp>
      <p:sp>
        <p:nvSpPr>
          <p:cNvPr id="97" name="Text 91"/>
          <p:cNvSpPr txBox="1"/>
          <p:nvPr/>
        </p:nvSpPr>
        <p:spPr>
          <a:xfrm>
            <a:off x="10314432" y="2496312"/>
            <a:ext cx="905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开发者已有的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900" dirty="0"/>
          </a:p>
        </p:txBody>
      </p:sp>
      <p:sp>
        <p:nvSpPr>
          <p:cNvPr id="98" name="Text 92"/>
          <p:cNvSpPr txBox="1"/>
          <p:nvPr/>
        </p:nvSpPr>
        <p:spPr>
          <a:xfrm>
            <a:off x="8302752" y="3419856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平台知识装进 Agent，而不是让人来读</a:t>
            </a:r>
            <a:endParaRPr lang="en-US" sz="750" dirty="0"/>
          </a:p>
        </p:txBody>
      </p:sp>
      <p:sp>
        <p:nvSpPr>
          <p:cNvPr id="99" name="Text 93"/>
          <p:cNvSpPr txBox="1"/>
          <p:nvPr/>
        </p:nvSpPr>
        <p:spPr>
          <a:xfrm>
            <a:off x="8302752" y="374904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发生了什么</a:t>
            </a:r>
            <a:endParaRPr lang="en-US" sz="900" dirty="0"/>
          </a:p>
        </p:txBody>
      </p:sp>
      <p:sp>
        <p:nvSpPr>
          <p:cNvPr id="100" name="Text 94"/>
          <p:cNvSpPr txBox="1"/>
          <p:nvPr/>
        </p:nvSpPr>
        <p:spPr>
          <a:xfrm>
            <a:off x="8302752" y="400507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主流不是 llms.txt，而是 skills 包 + CLI + MCP server 三件套（Android 走 agentskills.io 开放标准）</a:t>
            </a:r>
            <a:endParaRPr lang="en-US" sz="860" dirty="0"/>
          </a:p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OpenCode 归属由 sst 变更为 anomalyco，进入 2.0 重写——DevEco Code 的上游</a:t>
            </a:r>
            <a:endParaRPr lang="en-US" sz="860" dirty="0"/>
          </a:p>
        </p:txBody>
      </p:sp>
      <p:sp>
        <p:nvSpPr>
          <p:cNvPr id="101" name="Text 95"/>
          <p:cNvSpPr txBox="1"/>
          <p:nvPr/>
        </p:nvSpPr>
        <p:spPr>
          <a:xfrm>
            <a:off x="8302752" y="46817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对开发者意味着</a:t>
            </a:r>
            <a:endParaRPr lang="en-US" sz="900" dirty="0"/>
          </a:p>
        </p:txBody>
      </p:sp>
      <p:sp>
        <p:nvSpPr>
          <p:cNvPr id="102" name="Text 96"/>
          <p:cNvSpPr txBox="1"/>
          <p:nvPr/>
        </p:nvSpPr>
        <p:spPr>
          <a:xfrm>
            <a:off x="8302752" y="493776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开发者的 Agent 需要「装上鸿蒙知识」，而不是去官网读文档</a:t>
            </a:r>
            <a:endParaRPr lang="en-US" sz="860" dirty="0"/>
          </a:p>
        </p:txBody>
      </p:sp>
      <p:sp>
        <p:nvSpPr>
          <p:cNvPr id="103" name="Shape 97"/>
          <p:cNvSpPr/>
          <p:nvPr/>
        </p:nvSpPr>
        <p:spPr>
          <a:xfrm>
            <a:off x="8302752" y="5285232"/>
            <a:ext cx="3099816" cy="1060704"/>
          </a:xfrm>
          <a:prstGeom prst="roundRect">
            <a:avLst>
              <a:gd name="adj" fmla="val 6897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04" name="Text 98"/>
          <p:cNvSpPr txBox="1"/>
          <p:nvPr/>
        </p:nvSpPr>
        <p:spPr>
          <a:xfrm>
            <a:off x="8430768" y="5340096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设计含义</a:t>
            </a:r>
            <a:endParaRPr lang="en-US" sz="900" dirty="0"/>
          </a:p>
        </p:txBody>
      </p:sp>
      <p:sp>
        <p:nvSpPr>
          <p:cNvPr id="105" name="Text 99"/>
          <p:cNvSpPr txBox="1"/>
          <p:nvPr/>
        </p:nvSpPr>
        <p:spPr>
          <a:xfrm>
            <a:off x="8430768" y="5596128"/>
            <a:ext cx="2843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官网从「人读的文档」扩成「Agent 装的能力包」的分发入口；DevEco Code 的上游变动要立刻复核同步路径与 License</a:t>
            </a:r>
            <a:endParaRPr lang="en-US" sz="860" dirty="0"/>
          </a:p>
        </p:txBody>
      </p:sp>
      <p:sp>
        <p:nvSpPr>
          <p:cNvPr id="106" name="Text 100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竞品雷达 R01 简报（2026-09-03）：VS Code v1.136 · IntelliJ 2026.2.2 · OpenCode v1.18.27（npm）· Codex 0.153.0（npm）· Apple Developer Forums · 图解为本方绘制</a:t>
            </a:r>
            <a:endParaRPr lang="en-US" sz="750" dirty="0"/>
          </a:p>
        </p:txBody>
      </p:sp>
      <p:sp>
        <p:nvSpPr>
          <p:cNvPr id="107" name="Text 101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竞品雷达 R02（09-08）：五天里的三件事，两条判断要改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采集窗口 2026-09-03 → 09-08；按同口径与 R01 比对；标 [A] 为一手可验证，[E] 为本方判断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160020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开放第三方 Agent 成了「入场费」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6384" y="1965960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R01 判断要改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86384" y="2313432"/>
            <a:ext cx="3099816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0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74569" t="0" b="82667"/>
          <a:stretch/>
        </p:blipFill>
        <p:spPr>
          <a:xfrm>
            <a:off x="786384" y="2313432"/>
            <a:ext cx="3099816" cy="1188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0684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00684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48456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771900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00684" y="338785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0684" y="326440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48456" y="338785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71900" y="326440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23544" y="2423160"/>
            <a:ext cx="2825496" cy="804672"/>
          </a:xfrm>
          <a:prstGeom prst="roundRect">
            <a:avLst>
              <a:gd name="adj" fmla="val 9091"/>
            </a:avLst>
          </a:prstGeom>
          <a:solidFill>
            <a:srgbClr val="0A59F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14984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 27（宿主）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060704" y="2724912"/>
            <a:ext cx="801624" cy="384048"/>
          </a:xfrm>
          <a:prstGeom prst="roundRect">
            <a:avLst>
              <a:gd name="adj" fmla="val 19048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106424" y="2724912"/>
            <a:ext cx="710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Agent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935480" y="2724912"/>
            <a:ext cx="801624" cy="384048"/>
          </a:xfrm>
          <a:prstGeom prst="roundRect">
            <a:avLst>
              <a:gd name="adj" fmla="val 19048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981200" y="2724912"/>
            <a:ext cx="710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2810256" y="2724912"/>
            <a:ext cx="80162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855976" y="2724912"/>
            <a:ext cx="710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Antigravity（Google）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786384" y="326440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连竞争对手的 Agent 也上架</a:t>
            </a:r>
            <a:endParaRPr lang="en-US" sz="750" dirty="0"/>
          </a:p>
        </p:txBody>
      </p:sp>
      <p:sp>
        <p:nvSpPr>
          <p:cNvPr id="28" name="Text 24"/>
          <p:cNvSpPr txBox="1"/>
          <p:nvPr/>
        </p:nvSpPr>
        <p:spPr>
          <a:xfrm>
            <a:off x="786384" y="361188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发生了什么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786384" y="3867912"/>
            <a:ext cx="30998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 27 Beta 6 把 Google Antigravity 上架进 coding assistant；同页写明支持 ACP，插件可带 skills / MCP / ACP 配置 [A]</a:t>
            </a:r>
            <a:endParaRPr lang="en-US" sz="820" dirty="0"/>
          </a:p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R01 说这是「开放型厂商的差异化选择」——现在连竞争对手的 Agent 都上架了</a:t>
            </a:r>
            <a:endParaRPr lang="en-US" sz="820" dirty="0"/>
          </a:p>
        </p:txBody>
      </p:sp>
      <p:sp>
        <p:nvSpPr>
          <p:cNvPr id="30" name="Text 26"/>
          <p:cNvSpPr txBox="1"/>
          <p:nvPr/>
        </p:nvSpPr>
        <p:spPr>
          <a:xfrm>
            <a:off x="786384" y="483717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对开发者意味着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786384" y="509320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开发者默认自己的 Agent 在任何 IDE 里都能用；「专属 AI Agent」读起来是限制而非卖点 [E]</a:t>
            </a:r>
            <a:endParaRPr lang="en-US" sz="820" dirty="0"/>
          </a:p>
        </p:txBody>
      </p:sp>
      <p:sp>
        <p:nvSpPr>
          <p:cNvPr id="32" name="Shape 28"/>
          <p:cNvSpPr/>
          <p:nvPr/>
        </p:nvSpPr>
        <p:spPr>
          <a:xfrm>
            <a:off x="786384" y="5404104"/>
            <a:ext cx="3099816" cy="941832"/>
          </a:xfrm>
          <a:prstGeom prst="roundRect">
            <a:avLst>
              <a:gd name="adj" fmla="val 7767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14400" y="545896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设计含义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914400" y="5715000"/>
            <a:ext cx="2843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官网与产品里的「专属 / 独占」措辞要重看；Studio 空出的 AI 入口按「宿主」做，第一批就接外部 Agent</a:t>
            </a:r>
            <a:endParaRPr lang="en-US" sz="820" dirty="0"/>
          </a:p>
        </p:txBody>
      </p:sp>
      <p:sp>
        <p:nvSpPr>
          <p:cNvPr id="35" name="Shape 31"/>
          <p:cNvSpPr/>
          <p:nvPr/>
        </p:nvSpPr>
        <p:spPr>
          <a:xfrm>
            <a:off x="4306824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544568" y="160020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华为的 llms.txt 早就有，只是找不到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4544568" y="1965960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44568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R01 前提错误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544568" y="2313432"/>
            <a:ext cx="3099816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40" name="Image 2" descr="/root/deck/assets/grid_box.png">    </p:cNvPr>
          <p:cNvPicPr>
            <a:picLocks noChangeAspect="1"/>
          </p:cNvPicPr>
          <p:nvPr/>
        </p:nvPicPr>
        <p:blipFill>
          <a:blip r:embed="rId3"/>
          <a:srcRect l="0" r="74569" t="0" b="82667"/>
          <a:stretch/>
        </p:blipFill>
        <p:spPr>
          <a:xfrm>
            <a:off x="4544568" y="2313432"/>
            <a:ext cx="3099816" cy="1188720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4658868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658868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406640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530084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658868" y="338785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658868" y="326440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7406640" y="338785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7530084" y="326440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4681728" y="2404872"/>
            <a:ext cx="2825496" cy="246888"/>
          </a:xfrm>
          <a:prstGeom prst="roundRect">
            <a:avLst>
              <a:gd name="adj" fmla="val 1851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4773168" y="2404872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developer.huawei.com/llms.txt</a:t>
            </a:r>
            <a:endParaRPr lang="en-US" sz="750" dirty="0"/>
          </a:p>
        </p:txBody>
      </p:sp>
      <p:sp>
        <p:nvSpPr>
          <p:cNvPr id="51" name="Text 46"/>
          <p:cNvSpPr txBox="1"/>
          <p:nvPr/>
        </p:nvSpPr>
        <p:spPr>
          <a:xfrm>
            <a:off x="6318504" y="240487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存在，09-07 更新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4681728" y="2697480"/>
            <a:ext cx="2825496" cy="246888"/>
          </a:xfrm>
          <a:prstGeom prst="roundRect">
            <a:avLst>
              <a:gd name="adj" fmla="val 1851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4773168" y="2697480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/consumer/cn/llms.txt</a:t>
            </a:r>
            <a:endParaRPr lang="en-US" sz="750" dirty="0"/>
          </a:p>
        </p:txBody>
      </p:sp>
      <p:sp>
        <p:nvSpPr>
          <p:cNvPr id="54" name="Text 49"/>
          <p:cNvSpPr txBox="1"/>
          <p:nvPr/>
        </p:nvSpPr>
        <p:spPr>
          <a:xfrm>
            <a:off x="6318504" y="26974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502</a:t>
            </a:r>
            <a:endParaRPr lang="en-US" sz="750" dirty="0"/>
          </a:p>
        </p:txBody>
      </p:sp>
      <p:sp>
        <p:nvSpPr>
          <p:cNvPr id="55" name="Shape 50"/>
          <p:cNvSpPr/>
          <p:nvPr/>
        </p:nvSpPr>
        <p:spPr>
          <a:xfrm>
            <a:off x="4681728" y="2990088"/>
            <a:ext cx="2825496" cy="246888"/>
          </a:xfrm>
          <a:prstGeom prst="roundRect">
            <a:avLst>
              <a:gd name="adj" fmla="val 1851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4773168" y="2990088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产品页 · 文档站 · 一级导航</a:t>
            </a:r>
            <a:endParaRPr lang="en-US" sz="750" dirty="0"/>
          </a:p>
        </p:txBody>
      </p:sp>
      <p:sp>
        <p:nvSpPr>
          <p:cNvPr id="57" name="Text 52"/>
          <p:cNvSpPr txBox="1"/>
          <p:nvPr/>
        </p:nvSpPr>
        <p:spPr>
          <a:xfrm>
            <a:off x="6318504" y="299008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无入口</a:t>
            </a:r>
            <a:endParaRPr lang="en-US" sz="750" dirty="0"/>
          </a:p>
        </p:txBody>
      </p:sp>
      <p:sp>
        <p:nvSpPr>
          <p:cNvPr id="58" name="Text 53"/>
          <p:cNvSpPr txBox="1"/>
          <p:nvPr/>
        </p:nvSpPr>
        <p:spPr>
          <a:xfrm>
            <a:off x="4544568" y="331012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有资产，缺可发现性</a:t>
            </a:r>
            <a:endParaRPr lang="en-US" sz="750" dirty="0"/>
          </a:p>
        </p:txBody>
      </p:sp>
      <p:sp>
        <p:nvSpPr>
          <p:cNvPr id="59" name="Text 54"/>
          <p:cNvSpPr txBox="1"/>
          <p:nvPr/>
        </p:nvSpPr>
        <p:spPr>
          <a:xfrm>
            <a:off x="4544568" y="361188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发生了什么</a:t>
            </a:r>
            <a:endParaRPr lang="en-US" sz="900" dirty="0"/>
          </a:p>
        </p:txBody>
      </p:sp>
      <p:sp>
        <p:nvSpPr>
          <p:cNvPr id="60" name="Text 55"/>
          <p:cNvSpPr txBox="1"/>
          <p:nvPr/>
        </p:nvSpPr>
        <p:spPr>
          <a:xfrm>
            <a:off x="4544568" y="3867912"/>
            <a:ext cx="30998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developer.huawei.com/llms.txt 存在且在维护（DevEco Studio 分片 09-07 更新）[A]</a:t>
            </a:r>
            <a:endParaRPr lang="en-US" sz="820" dirty="0"/>
          </a:p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/consumer/cn/llms.txt 返回 502，产品页与文档站都没有入口 [A]</a:t>
            </a:r>
            <a:endParaRPr lang="en-US" sz="820" dirty="0"/>
          </a:p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agentskills.io 采纳方 47 家（含 TRAE、Kiro、Cursor、OpenCode），DevEco 不在名单 [A]</a:t>
            </a:r>
            <a:endParaRPr lang="en-US" sz="820" dirty="0"/>
          </a:p>
        </p:txBody>
      </p:sp>
      <p:sp>
        <p:nvSpPr>
          <p:cNvPr id="61" name="Text 56"/>
          <p:cNvSpPr txBox="1"/>
          <p:nvPr/>
        </p:nvSpPr>
        <p:spPr>
          <a:xfrm>
            <a:off x="4544568" y="483717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对开发者意味着</a:t>
            </a:r>
            <a:endParaRPr lang="en-US" sz="900" dirty="0"/>
          </a:p>
        </p:txBody>
      </p:sp>
      <p:sp>
        <p:nvSpPr>
          <p:cNvPr id="62" name="Text 57"/>
          <p:cNvSpPr txBox="1"/>
          <p:nvPr/>
        </p:nvSpPr>
        <p:spPr>
          <a:xfrm>
            <a:off x="4544568" y="509320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开发者的 Agent 装不上鸿蒙知识，不是因为没有，是因为找不到</a:t>
            </a:r>
            <a:endParaRPr lang="en-US" sz="820" dirty="0"/>
          </a:p>
        </p:txBody>
      </p:sp>
      <p:sp>
        <p:nvSpPr>
          <p:cNvPr id="63" name="Shape 58"/>
          <p:cNvSpPr/>
          <p:nvPr/>
        </p:nvSpPr>
        <p:spPr>
          <a:xfrm>
            <a:off x="4544568" y="5404104"/>
            <a:ext cx="3099816" cy="941832"/>
          </a:xfrm>
          <a:prstGeom prst="roundRect">
            <a:avLst>
              <a:gd name="adj" fmla="val 7767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4672584" y="545896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设计含义</a:t>
            </a:r>
            <a:endParaRPr lang="en-US" sz="900" dirty="0"/>
          </a:p>
        </p:txBody>
      </p:sp>
      <p:sp>
        <p:nvSpPr>
          <p:cNvPr id="65" name="Text 60"/>
          <p:cNvSpPr txBox="1"/>
          <p:nvPr/>
        </p:nvSpPr>
        <p:spPr>
          <a:xfrm>
            <a:off x="4672584" y="5715000"/>
            <a:ext cx="2843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三件本周可落地：502 改 301 指向根域；产品页与文档站加入口；申请进入 agentskills.io 名单——先做透一件，不必凑三件套</a:t>
            </a:r>
            <a:endParaRPr lang="en-US" sz="820" dirty="0"/>
          </a:p>
        </p:txBody>
      </p:sp>
      <p:sp>
        <p:nvSpPr>
          <p:cNvPr id="66" name="Shape 61"/>
          <p:cNvSpPr/>
          <p:nvPr/>
        </p:nvSpPr>
        <p:spPr>
          <a:xfrm>
            <a:off x="8065008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8302752" y="1600200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四家同时推进同一批位置</a:t>
            </a:r>
            <a:endParaRPr lang="en-US" sz="1250" dirty="0"/>
          </a:p>
        </p:txBody>
      </p:sp>
      <p:sp>
        <p:nvSpPr>
          <p:cNvPr id="68" name="Shape 63"/>
          <p:cNvSpPr/>
          <p:nvPr/>
        </p:nvSpPr>
        <p:spPr>
          <a:xfrm>
            <a:off x="8302752" y="1965960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69" name="Text 64"/>
          <p:cNvSpPr txBox="1"/>
          <p:nvPr/>
        </p:nvSpPr>
        <p:spPr>
          <a:xfrm>
            <a:off x="8302752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差异化窗口以周计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8302752" y="2313432"/>
            <a:ext cx="3099816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71" name="Image 3" descr="/root/deck/assets/grid_box.png">    </p:cNvPr>
          <p:cNvPicPr>
            <a:picLocks noChangeAspect="1"/>
          </p:cNvPicPr>
          <p:nvPr/>
        </p:nvPicPr>
        <p:blipFill>
          <a:blip r:embed="rId4"/>
          <a:srcRect l="0" r="74569" t="0" b="82667"/>
          <a:stretch/>
        </p:blipFill>
        <p:spPr>
          <a:xfrm>
            <a:off x="8302752" y="2313432"/>
            <a:ext cx="3099816" cy="1188720"/>
          </a:xfrm>
          <a:prstGeom prst="rect">
            <a:avLst/>
          </a:prstGeom>
        </p:spPr>
      </p:pic>
      <p:sp>
        <p:nvSpPr>
          <p:cNvPr id="72" name="Shape 66"/>
          <p:cNvSpPr/>
          <p:nvPr/>
        </p:nvSpPr>
        <p:spPr>
          <a:xfrm>
            <a:off x="8417052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8417052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11164824" y="242773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11288268" y="2427732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8417052" y="338785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8417052" y="326440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11164824" y="3387852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11288268" y="3264408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0" name="Text 74"/>
          <p:cNvSpPr txBox="1"/>
          <p:nvPr/>
        </p:nvSpPr>
        <p:spPr>
          <a:xfrm>
            <a:off x="8439912" y="244144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多文件 diff</a:t>
            </a:r>
            <a:endParaRPr lang="en-US" sz="800" dirty="0"/>
          </a:p>
        </p:txBody>
      </p:sp>
      <p:sp>
        <p:nvSpPr>
          <p:cNvPr id="81" name="Shape 75"/>
          <p:cNvSpPr/>
          <p:nvPr/>
        </p:nvSpPr>
        <p:spPr>
          <a:xfrm>
            <a:off x="9308592" y="2441448"/>
            <a:ext cx="630936" cy="329184"/>
          </a:xfrm>
          <a:prstGeom prst="roundRect">
            <a:avLst>
              <a:gd name="adj" fmla="val 22222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82" name="Text 76"/>
          <p:cNvSpPr txBox="1"/>
          <p:nvPr/>
        </p:nvSpPr>
        <p:spPr>
          <a:xfrm>
            <a:off x="9354312" y="244144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✓</a:t>
            </a:r>
            <a:endParaRPr lang="en-US" sz="720" dirty="0"/>
          </a:p>
        </p:txBody>
      </p:sp>
      <p:sp>
        <p:nvSpPr>
          <p:cNvPr id="83" name="Shape 77"/>
          <p:cNvSpPr/>
          <p:nvPr/>
        </p:nvSpPr>
        <p:spPr>
          <a:xfrm>
            <a:off x="9994392" y="2441448"/>
            <a:ext cx="630936" cy="329184"/>
          </a:xfrm>
          <a:prstGeom prst="roundRect">
            <a:avLst>
              <a:gd name="adj" fmla="val 22222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84" name="Text 78"/>
          <p:cNvSpPr txBox="1"/>
          <p:nvPr/>
        </p:nvSpPr>
        <p:spPr>
          <a:xfrm>
            <a:off x="10040112" y="244144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Code ✓</a:t>
            </a:r>
            <a:endParaRPr lang="en-US" sz="720" dirty="0"/>
          </a:p>
        </p:txBody>
      </p:sp>
      <p:sp>
        <p:nvSpPr>
          <p:cNvPr id="85" name="Shape 79"/>
          <p:cNvSpPr/>
          <p:nvPr/>
        </p:nvSpPr>
        <p:spPr>
          <a:xfrm>
            <a:off x="10680192" y="2441448"/>
            <a:ext cx="630936" cy="329184"/>
          </a:xfrm>
          <a:prstGeom prst="roundRect">
            <a:avLst>
              <a:gd name="adj" fmla="val 22222"/>
            </a:avLst>
          </a:prstGeom>
          <a:solidFill>
            <a:srgbClr val="F1F3F5"/>
          </a:solidFill>
          <a:ln w="9525">
            <a:solidFill>
              <a:srgbClr val="F1F3F5"/>
            </a:solidFill>
            <a:prstDash val="solid"/>
          </a:ln>
        </p:spPr>
      </p:sp>
      <p:sp>
        <p:nvSpPr>
          <p:cNvPr id="86" name="Text 80"/>
          <p:cNvSpPr txBox="1"/>
          <p:nvPr/>
        </p:nvSpPr>
        <p:spPr>
          <a:xfrm>
            <a:off x="10725912" y="244144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OpenCode ◐</a:t>
            </a:r>
            <a:endParaRPr lang="en-US" sz="720" dirty="0"/>
          </a:p>
        </p:txBody>
      </p:sp>
      <p:sp>
        <p:nvSpPr>
          <p:cNvPr id="87" name="Text 81"/>
          <p:cNvSpPr txBox="1"/>
          <p:nvPr/>
        </p:nvSpPr>
        <p:spPr>
          <a:xfrm>
            <a:off x="8439912" y="289864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成本可见</a:t>
            </a:r>
            <a:endParaRPr lang="en-US" sz="800" dirty="0"/>
          </a:p>
        </p:txBody>
      </p:sp>
      <p:sp>
        <p:nvSpPr>
          <p:cNvPr id="88" name="Shape 82"/>
          <p:cNvSpPr/>
          <p:nvPr/>
        </p:nvSpPr>
        <p:spPr>
          <a:xfrm>
            <a:off x="9308592" y="2898648"/>
            <a:ext cx="630936" cy="329184"/>
          </a:xfrm>
          <a:prstGeom prst="roundRect">
            <a:avLst>
              <a:gd name="adj" fmla="val 22222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9354312" y="289864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Code 总量 ✓</a:t>
            </a:r>
            <a:endParaRPr lang="en-US" sz="720" dirty="0"/>
          </a:p>
        </p:txBody>
      </p:sp>
      <p:sp>
        <p:nvSpPr>
          <p:cNvPr id="90" name="Shape 84"/>
          <p:cNvSpPr/>
          <p:nvPr/>
        </p:nvSpPr>
        <p:spPr>
          <a:xfrm>
            <a:off x="9994392" y="2898648"/>
            <a:ext cx="630936" cy="329184"/>
          </a:xfrm>
          <a:prstGeom prst="roundRect">
            <a:avLst>
              <a:gd name="adj" fmla="val 22222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91" name="Text 85"/>
          <p:cNvSpPr txBox="1"/>
          <p:nvPr/>
        </p:nvSpPr>
        <p:spPr>
          <a:xfrm>
            <a:off x="10040112" y="289864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归因 ✓</a:t>
            </a:r>
            <a:endParaRPr lang="en-US" sz="720" dirty="0"/>
          </a:p>
        </p:txBody>
      </p:sp>
      <p:sp>
        <p:nvSpPr>
          <p:cNvPr id="92" name="Shape 86"/>
          <p:cNvSpPr/>
          <p:nvPr/>
        </p:nvSpPr>
        <p:spPr>
          <a:xfrm>
            <a:off x="10680192" y="2898648"/>
            <a:ext cx="630936" cy="329184"/>
          </a:xfrm>
          <a:prstGeom prst="roundRect">
            <a:avLst>
              <a:gd name="adj" fmla="val 22222"/>
            </a:avLst>
          </a:prstGeom>
          <a:solidFill>
            <a:srgbClr val="F1F3F5"/>
          </a:solidFill>
          <a:ln w="9525">
            <a:solidFill>
              <a:srgbClr val="F1F3F5"/>
            </a:solidFill>
            <a:prstDash val="solid"/>
          </a:ln>
        </p:spPr>
      </p:sp>
      <p:sp>
        <p:nvSpPr>
          <p:cNvPr id="93" name="Text 87"/>
          <p:cNvSpPr txBox="1"/>
          <p:nvPr/>
        </p:nvSpPr>
        <p:spPr>
          <a:xfrm>
            <a:off x="10725912" y="289864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 ◐</a:t>
            </a:r>
            <a:endParaRPr lang="en-US" sz="720" dirty="0"/>
          </a:p>
        </p:txBody>
      </p:sp>
      <p:sp>
        <p:nvSpPr>
          <p:cNvPr id="94" name="Text 88"/>
          <p:cNvSpPr txBox="1"/>
          <p:nvPr/>
        </p:nvSpPr>
        <p:spPr>
          <a:xfrm>
            <a:off x="8302752" y="3282696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同一批位置，四家一起推——以周计</a:t>
            </a:r>
            <a:endParaRPr lang="en-US" sz="750" dirty="0"/>
          </a:p>
        </p:txBody>
      </p:sp>
      <p:sp>
        <p:nvSpPr>
          <p:cNvPr id="95" name="Text 89"/>
          <p:cNvSpPr txBox="1"/>
          <p:nvPr/>
        </p:nvSpPr>
        <p:spPr>
          <a:xfrm>
            <a:off x="8302752" y="361188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发生了什么</a:t>
            </a:r>
            <a:endParaRPr lang="en-US" sz="900" dirty="0"/>
          </a:p>
        </p:txBody>
      </p:sp>
      <p:sp>
        <p:nvSpPr>
          <p:cNvPr id="96" name="Text 90"/>
          <p:cNvSpPr txBox="1"/>
          <p:nvPr/>
        </p:nvSpPr>
        <p:spPr>
          <a:xfrm>
            <a:off x="8302752" y="3867912"/>
            <a:ext cx="30998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多文件 diff：Codex TUI 显示完整补丁、VS Code multi-diff、OpenCode 挂 snapshot-diffs 分支 [A]</a:t>
            </a:r>
            <a:endParaRPr lang="en-US" sz="820" dirty="0"/>
          </a:p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成本可见性形态收敛：一个总量数字（VS Code）+ 一张归因表（Claude Code）[A]</a:t>
            </a:r>
            <a:endParaRPr lang="en-US" sz="820" dirty="0"/>
          </a:p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 子 Agent 恢复时静默回落到默认模型，1M 上下文变 272k [B]</a:t>
            </a:r>
            <a:endParaRPr lang="en-US" sz="820" dirty="0"/>
          </a:p>
        </p:txBody>
      </p:sp>
      <p:sp>
        <p:nvSpPr>
          <p:cNvPr id="97" name="Text 91"/>
          <p:cNvSpPr txBox="1"/>
          <p:nvPr/>
        </p:nvSpPr>
        <p:spPr>
          <a:xfrm>
            <a:off x="8302752" y="483717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对开发者意味着</a:t>
            </a:r>
            <a:endParaRPr lang="en-US" sz="900" dirty="0"/>
          </a:p>
        </p:txBody>
      </p:sp>
      <p:sp>
        <p:nvSpPr>
          <p:cNvPr id="98" name="Text 92"/>
          <p:cNvSpPr txBox="1"/>
          <p:nvPr/>
        </p:nvSpPr>
        <p:spPr>
          <a:xfrm>
            <a:off x="8302752" y="509320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R01 里「可差异化」的多文件 diff，窗口正在关闭；成本可见性不用自己发明，可直接照抄形态</a:t>
            </a:r>
            <a:endParaRPr lang="en-US" sz="820" dirty="0"/>
          </a:p>
        </p:txBody>
      </p:sp>
      <p:sp>
        <p:nvSpPr>
          <p:cNvPr id="99" name="Shape 93"/>
          <p:cNvSpPr/>
          <p:nvPr/>
        </p:nvSpPr>
        <p:spPr>
          <a:xfrm>
            <a:off x="8302752" y="5404104"/>
            <a:ext cx="3099816" cy="941832"/>
          </a:xfrm>
          <a:prstGeom prst="roundRect">
            <a:avLst>
              <a:gd name="adj" fmla="val 7767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00" name="Text 94"/>
          <p:cNvSpPr txBox="1"/>
          <p:nvPr/>
        </p:nvSpPr>
        <p:spPr>
          <a:xfrm>
            <a:off x="8430768" y="545896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设计含义</a:t>
            </a:r>
            <a:endParaRPr lang="en-US" sz="900" dirty="0"/>
          </a:p>
        </p:txBody>
      </p:sp>
      <p:sp>
        <p:nvSpPr>
          <p:cNvPr id="101" name="Text 95"/>
          <p:cNvSpPr txBox="1"/>
          <p:nvPr/>
        </p:nvSpPr>
        <p:spPr>
          <a:xfrm>
            <a:off x="8430768" y="5715000"/>
            <a:ext cx="2843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候选创新点排序要动：审阅与回退提前做样板；新增第四条——模型身份纳入会话状态，恢复时显式比对，不一致要告知</a:t>
            </a:r>
            <a:endParaRPr lang="en-US" sz="820" dirty="0"/>
          </a:p>
        </p:txBody>
      </p:sp>
      <p:sp>
        <p:nvSpPr>
          <p:cNvPr id="102" name="Text 96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竞品雷达 R02 简报（2026-09-08）：Xcode 27 Beta 6 发行说明 · developer.huawei.com/llms.txt 实测 · agentskills.io 名单 · Codex / VS Code / Claude Code 发行说明、Cursor 官方论坛 · 图解为本方绘制</a:t>
            </a:r>
            <a:endParaRPr lang="en-US" sz="750" dirty="0"/>
          </a:p>
        </p:txBody>
      </p:sp>
      <p:sp>
        <p:nvSpPr>
          <p:cNvPr id="103" name="Text 97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do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四家官网怎么说 AI：差别不在「有没有提」，在放在哪一层说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固定比对项：首屏措辞、AI 在能力列表中的位次、下载步数、一级导航是否有 Agent / MCP / Skills 入口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7406640" cy="365760"/>
          </a:xfrm>
          <a:prstGeom prst="roundRect">
            <a:avLst>
              <a:gd name="adj" fmla="val 25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417320"/>
            <a:ext cx="77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站点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594840" y="1417320"/>
            <a:ext cx="2134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首屏主标题 / 副标题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3893452" y="1417320"/>
            <a:ext cx="4313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下载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4489389" y="14173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在哪一屏、有无一级入口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958269" y="1417320"/>
            <a:ext cx="9421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主推第 1 位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1783080"/>
            <a:ext cx="77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Code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594840" y="1783080"/>
            <a:ext cx="21340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「The open source AI code editor / Your home for multi-agent development」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3893452" y="1783080"/>
            <a:ext cx="43134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步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4489389" y="1783080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 屏「Agents that build for you」；Features 含 Agents，Resources 含 MCP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958269" y="1783080"/>
            <a:ext cx="9421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Agent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" y="2459736"/>
            <a:ext cx="7406640" cy="6766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2459736"/>
            <a:ext cx="77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594840" y="2459736"/>
            <a:ext cx="21340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「Xcode」+「generative intelligence powered by the best coding models and agents」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3893452" y="2459736"/>
            <a:ext cx="43134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步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4489389" y="2459736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 屏出现 2 次；措辞是「models and agents」，不是「our AI」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958269" y="2459736"/>
            <a:ext cx="9421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Coding intelligence（已升第 1）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3136392"/>
            <a:ext cx="77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Studio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594840" y="3136392"/>
            <a:ext cx="21340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「Android Studio」+「…with Gemini in Android Studio, your AI-powered coding companion」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3893452" y="3136392"/>
            <a:ext cx="43134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步（↑1）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4489389" y="3136392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 屏 New features 首项；二级导航有 AI agent / Agent tools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958269" y="3136392"/>
            <a:ext cx="9421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8640" y="3813048"/>
            <a:ext cx="7406640" cy="676656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3813048"/>
            <a:ext cx="77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594840" y="3813048"/>
            <a:ext cx="21340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「DevEco Studio」+「…提供 AI 辅助编程、编译构建、UI 实时预览…」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3893452" y="3813048"/>
            <a:ext cx="43134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步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489389" y="3813048"/>
            <a:ext cx="2304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 屏 DevEco Code / CLI，措辞「开箱即用的 HarmonyOS 应用开发专属 AI Agent」；一级导航无 agent / MCP / skills 任一入口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6958269" y="3813048"/>
            <a:ext cx="9421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48640" y="4626864"/>
            <a:ext cx="3611880" cy="1865376"/>
          </a:xfrm>
          <a:prstGeom prst="roundRect">
            <a:avLst>
              <a:gd name="adj" fmla="val 8824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" y="477316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判定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04672" y="5029200"/>
            <a:ext cx="30998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的首屏叙事与 Android Studio 同代，落后 VS Code 与 Xcode 一代：他们把 Agent 写进主标题，DevEco 在第 2 屏说「AI 辅助编程」</a:t>
            </a:r>
            <a:endParaRPr lang="en-US" sz="880" dirty="0"/>
          </a:p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四家中唯一一级导航没有 agent / MCP / skills 入口的——与 llms.txt「存在但找不到」是同一个病 [E]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4343400" y="4626864"/>
            <a:ext cx="3611880" cy="1865376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99432" y="477316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官网这一触点本周可做的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599432" y="5029200"/>
            <a:ext cx="30998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一级导航加「Agent / 工具」入口，把 DevEco Code、CLI、Skills、MCP、llms.txt 收进一处</a:t>
            </a:r>
            <a:endParaRPr lang="en-US" sz="880" dirty="0"/>
          </a:p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首屏措辞从「专属 AI Agent」改为「任何 Agent 都能用上鸿蒙能力」</a:t>
            </a:r>
            <a:endParaRPr lang="en-US" sz="880" dirty="0"/>
          </a:p>
          <a:p>
            <a:pPr algn="l" marL="177800" indent="-177800">
              <a:lnSpc>
                <a:spcPct val="124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R03 起固定盯「专属 / 独占」类措辞是否仍在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8183880" y="1417320"/>
            <a:ext cx="3456432" cy="5074920"/>
          </a:xfrm>
          <a:prstGeom prst="roundRect">
            <a:avLst>
              <a:gd name="adj" fmla="val 4762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439912" y="1636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放在哪一层说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8439912" y="205740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主标题里说 Agent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8439912" y="2313432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3D74F0"/>
          </a:solidFill>
          <a:ln w="9525">
            <a:solidFill>
              <a:srgbClr val="3D74F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485632" y="231343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Code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9957816" y="2313432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3D74F0"/>
          </a:solidFill>
          <a:ln w="9525">
            <a:solidFill>
              <a:srgbClr val="3D74F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003536" y="231343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8439912" y="308152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副标题说「AI 助手」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8439912" y="3337560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485632" y="33375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Studio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9957816" y="3337560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1F3F8F"/>
          </a:solidFill>
          <a:ln w="15875">
            <a:solidFill>
              <a:srgbClr val="7FA6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003536" y="33375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Studio</a:t>
            </a:r>
            <a:endParaRPr lang="en-US" sz="800" dirty="0"/>
          </a:p>
        </p:txBody>
      </p:sp>
      <p:sp>
        <p:nvSpPr>
          <p:cNvPr id="51" name="Text 48"/>
          <p:cNvSpPr txBox="1"/>
          <p:nvPr/>
        </p:nvSpPr>
        <p:spPr>
          <a:xfrm>
            <a:off x="8439912" y="410565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一级导航有 Agent 入口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8439912" y="4361688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485632" y="4361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Code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957816" y="4361688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003536" y="4361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Studio（二级）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8439912" y="502005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在第二层；第三层缺席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8439912" y="5623560"/>
            <a:ext cx="294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官网是三个触点里唯一没有既得格局的——改措辞与导航不需要等版本</a:t>
            </a:r>
            <a:endParaRPr lang="en-US" sz="86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竞品雷达 R02（2026-09-08，文字口径实测）：VS Code / Xcode / Android Studio / DevEco Studio 四站产品页 · 视觉截图基线因云端网络限制未取得 · 判定为本方判断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line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CodeGenie 为什么会日落：不是做得差，是做的是上一代的东西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三条判据看它算不算 Agent：自主多步循环、能调工具动手、执行后闭环验证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371600"/>
          </a:xfrm>
          <a:prstGeom prst="roundRect">
            <a:avLst>
              <a:gd name="adj" fmla="val 1200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9002" t="0" b="80000"/>
          <a:stretch/>
        </p:blipFill>
        <p:spPr>
          <a:xfrm>
            <a:off x="548640" y="1417320"/>
            <a:ext cx="11091672" cy="137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02568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6012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2674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255117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02568" y="2674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526012" y="255117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15636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开发工具里的 AI，两代形态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2960" y="1856232"/>
            <a:ext cx="5042916" cy="777240"/>
          </a:xfrm>
          <a:prstGeom prst="roundRect">
            <a:avLst>
              <a:gd name="adj" fmla="val 11765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05840" y="1901952"/>
            <a:ext cx="46771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2023–2024 · 副驾（Copilot / Assistant）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补全 + 侧边栏问答：你问一句，它答一句；一次性、不迭代</a:t>
            </a:r>
            <a:endParaRPr lang="en-US" sz="860" dirty="0"/>
          </a:p>
        </p:txBody>
      </p:sp>
      <p:sp>
        <p:nvSpPr>
          <p:cNvPr id="19" name="Text 15"/>
          <p:cNvSpPr txBox="1"/>
          <p:nvPr/>
        </p:nvSpPr>
        <p:spPr>
          <a:xfrm>
            <a:off x="2939796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CodeGenie · 早期 Copilot</a:t>
            </a:r>
            <a:endParaRPr lang="en-US" sz="820" dirty="0"/>
          </a:p>
        </p:txBody>
      </p:sp>
      <p:sp>
        <p:nvSpPr>
          <p:cNvPr id="20" name="Shape 16"/>
          <p:cNvSpPr/>
          <p:nvPr/>
        </p:nvSpPr>
        <p:spPr>
          <a:xfrm>
            <a:off x="5957316" y="2130552"/>
            <a:ext cx="274320" cy="237744"/>
          </a:xfrm>
          <a:prstGeom prst="rightArrow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23076" y="1856232"/>
            <a:ext cx="5042916" cy="777240"/>
          </a:xfrm>
          <a:prstGeom prst="roundRect">
            <a:avLst>
              <a:gd name="adj" fmla="val 11765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05956" y="1901952"/>
            <a:ext cx="46771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2025–2026 · Agent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505956" y="2185416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自己规划 → 执行 → 看结果 → 再执行；会动手、会验证</a:t>
            </a:r>
            <a:endParaRPr lang="en-US" sz="860" dirty="0"/>
          </a:p>
        </p:txBody>
      </p:sp>
      <p:sp>
        <p:nvSpPr>
          <p:cNvPr id="24" name="Text 20"/>
          <p:cNvSpPr txBox="1"/>
          <p:nvPr/>
        </p:nvSpPr>
        <p:spPr>
          <a:xfrm>
            <a:off x="8439912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· Cursor · Claude Code · Junie</a:t>
            </a:r>
            <a:endParaRPr lang="en-US" sz="820" dirty="0"/>
          </a:p>
        </p:txBody>
      </p:sp>
      <p:sp>
        <p:nvSpPr>
          <p:cNvPr id="25" name="Shape 21"/>
          <p:cNvSpPr/>
          <p:nvPr/>
        </p:nvSpPr>
        <p:spPr>
          <a:xfrm>
            <a:off x="548640" y="2971800"/>
            <a:ext cx="6766560" cy="3520440"/>
          </a:xfrm>
          <a:prstGeom prst="roundRect">
            <a:avLst>
              <a:gd name="adj" fmla="val 4675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2960" y="311810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三条判据（DevEco Code、Cursor、Junie 都满足的那三条）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822960" y="3410712"/>
            <a:ext cx="6217920" cy="457200"/>
          </a:xfrm>
          <a:prstGeom prst="roundRect">
            <a:avLst>
              <a:gd name="adj" fmla="val 16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32688" y="3410712"/>
            <a:ext cx="1095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2193077" y="3410712"/>
            <a:ext cx="16839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大白话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4041648" y="3410712"/>
            <a:ext cx="1263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CodeGenie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5470089" y="3410712"/>
            <a:ext cx="1515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</a:t>
            </a:r>
            <a:endParaRPr lang="en-US" sz="850" dirty="0"/>
          </a:p>
        </p:txBody>
      </p:sp>
      <p:sp>
        <p:nvSpPr>
          <p:cNvPr id="32" name="Text 28"/>
          <p:cNvSpPr txBox="1"/>
          <p:nvPr/>
        </p:nvSpPr>
        <p:spPr>
          <a:xfrm>
            <a:off x="932688" y="3867912"/>
            <a:ext cx="1095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自主多步循环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2193077" y="3867912"/>
            <a:ext cx="16839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自己规划、执行、看结果、再来一轮</a:t>
            </a:r>
            <a:endParaRPr lang="en-US" sz="820" dirty="0"/>
          </a:p>
        </p:txBody>
      </p:sp>
      <p:sp>
        <p:nvSpPr>
          <p:cNvPr id="34" name="Text 30"/>
          <p:cNvSpPr txBox="1"/>
          <p:nvPr/>
        </p:nvSpPr>
        <p:spPr>
          <a:xfrm>
            <a:off x="4041648" y="3867912"/>
            <a:ext cx="1263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B8BE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○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</a:t>
            </a:r>
            <a:endParaRPr lang="en-US" sz="840" dirty="0"/>
          </a:p>
        </p:txBody>
      </p:sp>
      <p:sp>
        <p:nvSpPr>
          <p:cNvPr id="35" name="Text 31"/>
          <p:cNvSpPr txBox="1"/>
          <p:nvPr/>
        </p:nvSpPr>
        <p:spPr>
          <a:xfrm>
            <a:off x="5470089" y="3867912"/>
            <a:ext cx="1515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</a:t>
            </a:r>
            <a:endParaRPr lang="en-US" sz="840" dirty="0"/>
          </a:p>
        </p:txBody>
      </p:sp>
      <p:sp>
        <p:nvSpPr>
          <p:cNvPr id="36" name="Text 32"/>
          <p:cNvSpPr txBox="1"/>
          <p:nvPr/>
        </p:nvSpPr>
        <p:spPr>
          <a:xfrm>
            <a:off x="932688" y="4325112"/>
            <a:ext cx="1095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能调工具动手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2193077" y="4325112"/>
            <a:ext cx="16839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读写文件、跑命令、看日志</a:t>
            </a:r>
            <a:endParaRPr lang="en-US" sz="820" dirty="0"/>
          </a:p>
        </p:txBody>
      </p:sp>
      <p:sp>
        <p:nvSpPr>
          <p:cNvPr id="38" name="Text 34"/>
          <p:cNvSpPr txBox="1"/>
          <p:nvPr/>
        </p:nvSpPr>
        <p:spPr>
          <a:xfrm>
            <a:off x="4041648" y="4325112"/>
            <a:ext cx="1263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B8BE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○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未见工具调用 / MCP 的公开证据</a:t>
            </a:r>
            <a:endParaRPr lang="en-US" sz="840" dirty="0"/>
          </a:p>
        </p:txBody>
      </p:sp>
      <p:sp>
        <p:nvSpPr>
          <p:cNvPr id="39" name="Text 35"/>
          <p:cNvSpPr txBox="1"/>
          <p:nvPr/>
        </p:nvSpPr>
        <p:spPr>
          <a:xfrm>
            <a:off x="5470089" y="4325112"/>
            <a:ext cx="1515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七个鸿蒙工具</a:t>
            </a:r>
            <a:endParaRPr lang="en-US" sz="840" dirty="0"/>
          </a:p>
        </p:txBody>
      </p:sp>
      <p:sp>
        <p:nvSpPr>
          <p:cNvPr id="40" name="Text 36"/>
          <p:cNvSpPr txBox="1"/>
          <p:nvPr/>
        </p:nvSpPr>
        <p:spPr>
          <a:xfrm>
            <a:off x="932688" y="4782312"/>
            <a:ext cx="1095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执行后闭环验证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2193077" y="4782312"/>
            <a:ext cx="16839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做完自己检查一遍</a:t>
            </a:r>
            <a:endParaRPr lang="en-US" sz="820" dirty="0"/>
          </a:p>
        </p:txBody>
      </p:sp>
      <p:sp>
        <p:nvSpPr>
          <p:cNvPr id="42" name="Text 38"/>
          <p:cNvSpPr txBox="1"/>
          <p:nvPr/>
        </p:nvSpPr>
        <p:spPr>
          <a:xfrm>
            <a:off x="4041648" y="4782312"/>
            <a:ext cx="1263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B8BEC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○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</a:t>
            </a:r>
            <a:endParaRPr lang="en-US" sz="840" dirty="0"/>
          </a:p>
        </p:txBody>
      </p:sp>
      <p:sp>
        <p:nvSpPr>
          <p:cNvPr id="43" name="Text 39"/>
          <p:cNvSpPr txBox="1"/>
          <p:nvPr/>
        </p:nvSpPr>
        <p:spPr>
          <a:xfrm>
            <a:off x="5470089" y="4782312"/>
            <a:ext cx="1515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4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</a:t>
            </a:r>
            <a:pPr algn="l"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UI 意图校验：写完自己跑一遍，多模态看界面</a:t>
            </a:r>
            <a:endParaRPr lang="en-US" sz="840" dirty="0"/>
          </a:p>
        </p:txBody>
      </p:sp>
      <p:sp>
        <p:nvSpPr>
          <p:cNvPr id="44" name="Text 40"/>
          <p:cNvSpPr txBox="1"/>
          <p:nvPr/>
        </p:nvSpPr>
        <p:spPr>
          <a:xfrm>
            <a:off x="822960" y="534924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CodeGenie 的能力清单全是单次问答式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822960" y="5605272"/>
            <a:ext cx="6217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智能问答、ArkTS / C++ 补全（重生成最多 5 次）、编译报错分析、万能卡片生成、代码解读（限 2 万字符）、看图生码、意图装饰器生成（2025-11-20）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最能说明形态的是万能卡片：官方文档写明「不支持增量修改，需一次性完善需求」——一次性、不迭代，这是助手，不是 Agent</a:t>
            </a:r>
            <a:endParaRPr lang="en-US" sz="880" dirty="0"/>
          </a:p>
        </p:txBody>
      </p:sp>
      <p:sp>
        <p:nvSpPr>
          <p:cNvPr id="46" name="Shape 42"/>
          <p:cNvSpPr/>
          <p:nvPr/>
        </p:nvSpPr>
        <p:spPr>
          <a:xfrm>
            <a:off x="7543800" y="2971800"/>
            <a:ext cx="4096512" cy="3520440"/>
          </a:xfrm>
          <a:prstGeom prst="roundRect">
            <a:avLst>
              <a:gd name="adj" fmla="val 4675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799832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7799832" y="3392424"/>
            <a:ext cx="3584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CodeGenie 是 IDE 内的 AI 副驾，产品代际停在 2023–2024</a:t>
            </a:r>
            <a:endParaRPr lang="en-US" sz="1300" dirty="0"/>
          </a:p>
        </p:txBody>
      </p:sp>
      <p:sp>
        <p:nvSpPr>
          <p:cNvPr id="49" name="Text 45"/>
          <p:cNvSpPr txBox="1"/>
          <p:nvPr/>
        </p:nvSpPr>
        <p:spPr>
          <a:xfrm>
            <a:off x="7799832" y="4215384"/>
            <a:ext cx="3584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华为已经用两个产品把这件事分开：CodeGenie 是助手，DevEco Code 是 Agent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开发者心里的基准线已经是 Agent：论坛里讨论 CodeGenie 缺回滚时，拿来做参照的是 Cursor、Trae、Windsurf，不是别的 IDE 助手</a:t>
            </a:r>
            <a:endParaRPr lang="en-US" sz="900" dirty="0"/>
          </a:p>
          <a:p>
            <a:pPr algn="l" marL="177800" indent="-177800">
              <a:lnSpc>
                <a:spcPct val="126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所以日落不是能力问题，是形态换代——今年 AI 的冲击让一切变化很快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7799832" y="5742432"/>
            <a:ext cx="3584448" cy="603504"/>
          </a:xfrm>
          <a:prstGeom prst="roundRect">
            <a:avLst>
              <a:gd name="adj" fmla="val 15152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27848" y="5779008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6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打个比方  </a:t>
            </a:r>
            <a:pPr algn="l" indent="0" marL="0">
              <a:lnSpc>
                <a:spcPct val="126000"/>
              </a:lnSpc>
              <a:buNone/>
            </a:pPr>
            <a:r>
              <a:rPr lang="en-US" sz="86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副驾是坐在旁边提醒你的人；Agent 是能替你开一段的人。乘客换了预期，副驾再好也会被嫌。</a:t>
            </a:r>
            <a:endParaRPr lang="en-US" sz="860" dirty="0"/>
          </a:p>
        </p:txBody>
      </p:sp>
      <p:sp>
        <p:nvSpPr>
          <p:cNvPr id="52" name="Text 48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CodeGenie 官方文档能力清单（含 2025-11-20 意图装饰器）与万能卡片说明 · DevEco Code 内置工具清单 · 华为开发者论坛讨论</a:t>
            </a:r>
            <a:endParaRPr lang="en-US" sz="750" dirty="0"/>
          </a:p>
        </p:txBody>
      </p:sp>
      <p:sp>
        <p:nvSpPr>
          <p:cNvPr id="53" name="Text 49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CodeGenie 满意度差在哪：四类原因，修法各不相同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 NSS 数据未取得，以下从公开抱怨的分布反推；标 ⚠ 的为单一来源，需内部核实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649474" cy="3291840"/>
          </a:xfrm>
          <a:prstGeom prst="roundRect">
            <a:avLst>
              <a:gd name="adj" fmla="val 621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1600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191109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代际差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240280"/>
            <a:ext cx="22105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根因，最容易被误读成「模型不行」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2532888"/>
            <a:ext cx="221056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NSS 是相对满意度：参照系变了分数就掉，即使产品没退步</a:t>
            </a:r>
            <a:endParaRPr lang="en-US" sz="820" dirty="0"/>
          </a:p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用过 Cursor 或 Claude Code 的人回来用，落差不是「好不好用」，是「这不是同一种东西」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768096" y="3941064"/>
            <a:ext cx="2210562" cy="640080"/>
          </a:xfrm>
          <a:prstGeom prst="roundRect">
            <a:avLst>
              <a:gd name="adj" fmla="val 1142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" y="3959352"/>
            <a:ext cx="20276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修法：换形态，不是换模型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3362706" y="1417320"/>
            <a:ext cx="2649474" cy="3291840"/>
          </a:xfrm>
          <a:prstGeom prst="roundRect">
            <a:avLst>
              <a:gd name="adj" fmla="val 6212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82162" y="1600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82162" y="191109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可用性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82162" y="2240280"/>
            <a:ext cx="22105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最伤分，因为是「门打不开」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3582162" y="2532888"/>
            <a:ext cx="221056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静默排队：「一直加载没反应」，官方确认是云端并发排队控制 ⚠——排队不是问题，静默才是：没有状态、位次、预计等待、不能取消，用户按「坏了」打分</a:t>
            </a:r>
            <a:endParaRPr lang="en-US" sz="820" dirty="0"/>
          </a:p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上下文过短（论坛称不到 1K ⚠）；自配付费模型后卡死或崩溃 ⚠</a:t>
            </a:r>
            <a:endParaRPr lang="en-US" sz="820" dirty="0"/>
          </a:p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单次会话次数上限报英文错，解法全靠猜；必须登录华为账号 + 强依赖网络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3582162" y="3941064"/>
            <a:ext cx="2210562" cy="640080"/>
          </a:xfrm>
          <a:prstGeom prst="roundRect">
            <a:avLst>
              <a:gd name="adj" fmla="val 11429"/>
            </a:avLst>
          </a:prstGeom>
          <a:solidFill>
            <a:srgbClr val="3D74F0"/>
          </a:solidFill>
          <a:ln w="6350">
            <a:solidFill>
              <a:srgbClr val="3D74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73602" y="3959352"/>
            <a:ext cx="20276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修法：把等待、上限、前置条件做成看得见的状态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6176772" y="1417320"/>
            <a:ext cx="2649474" cy="3291840"/>
          </a:xfrm>
          <a:prstGeom prst="roundRect">
            <a:avLst>
              <a:gd name="adj" fmla="val 6212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96228" y="1600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96228" y="191109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信任受损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396228" y="2240280"/>
            <a:ext cx="22105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最难修，有长尾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396228" y="2532888"/>
            <a:ext cx="221056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「已经出现两次自己改崩了文件」——而 CodeGenie 不提供 AI 操作历史回滚，只能靠 Ctrl+Z、Local History、Git 兜底</a:t>
            </a:r>
            <a:endParaRPr lang="en-US" sz="820" dirty="0"/>
          </a:p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会改你文件却不给撤销的工具，坏一次永久失分；打过低分的人不再回来改分</a:t>
            </a:r>
            <a:endParaRPr lang="en-US" sz="820" dirty="0"/>
          </a:p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行业本就低信任：SO 2025 信任 AI 输出准确性 33%、不信任 46%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6396228" y="3941064"/>
            <a:ext cx="2210562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87668" y="3959352"/>
            <a:ext cx="20276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修法：把「可撤销」做成产品的一部分——Unity 三级权限 + 回滚标签、Android Studio 先看 diff 再批准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8990838" y="1417320"/>
            <a:ext cx="2649474" cy="3291840"/>
          </a:xfrm>
          <a:prstGeom prst="roundRect">
            <a:avLst>
              <a:gd name="adj" fmla="val 621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10294" y="1600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210294" y="191109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度量口径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210294" y="2240280"/>
            <a:ext cx="22105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对汇报有用的一条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9210294" y="2532888"/>
            <a:ext cx="221056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打分的人未必在给「AI 能力」打分：排队是云端算力、登录是账号体系、上下文是模型采购——三样都不在 IDE 体验设计的控制范围，却都算到 CodeGenie 头上</a:t>
            </a:r>
            <a:endParaRPr lang="en-US" sz="820" dirty="0"/>
          </a:p>
          <a:p>
            <a:pPr algn="l" marL="177800" indent="-1778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不拆开看，会得出「换个更强的模型就好」的结论；真正拉低分数的可能是排队没有提示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9210294" y="3941064"/>
            <a:ext cx="2210562" cy="640080"/>
          </a:xfrm>
          <a:prstGeom prst="roundRect">
            <a:avLst>
              <a:gd name="adj" fmla="val 1142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01734" y="3959352"/>
            <a:ext cx="20276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8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建议：NSS 归因拆成 能力不足 / 服务不可用 / 信任受损 / 前置门槛 四个桶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48640" y="4873752"/>
            <a:ext cx="11091672" cy="1618488"/>
          </a:xfrm>
          <a:prstGeom prst="roundRect">
            <a:avLst>
              <a:gd name="adj" fmla="val 10169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50017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对眼下最有用的一点：CodeGenie 下线，但三个缺口会原样搬到 DevEco Code 上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" y="5330952"/>
            <a:ext cx="33924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静默排队 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已复现：P03 监测里 DevEco Code 的排队，官方论坛回复确认是同样的并发控制，同样没有状态、位次、预计等待和取消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398264" y="5330952"/>
            <a:ext cx="33924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无回滚 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动作幅度大得多（自己跑、自己改、自己修）：副驾时代是「改崩一个文件没法撤销」，Agent 时代是「一次多文件改动没法审阅」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7973568" y="5330952"/>
            <a:ext cx="33924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上下文不够 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三个缺口没有一个是模型问题，都是产品设计问题——正落在候选创新点的四个设计点上：过程可见、及时打断、多文件审阅、信任校准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华为开发者论坛（排队、上下文、换模型崩溃、改崩文件，均为单一来源 ⚠）· CodeGenie 官方文档 · Stack Overflow 2025（n=33,662）· Unity / Android Studio 官方文档 · 已知局限：内部 NSS 数据未取得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面对 AI 的冲击，DevEco 应该做什么：做鸿蒙生态的执行面与真值面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对标对象是 Xcode 与 Android Studio 这类平台方工具，不是 Codex / Trae / Cursor 这类横向 AI 编码工具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931920" cy="5074920"/>
          </a:xfrm>
          <a:prstGeom prst="roundRect">
            <a:avLst>
              <a:gd name="adj" fmla="val 4186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36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一张图：他们是航空公司，我们做机场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84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横向 AI 编码工具（航空公司：随时换）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822960" y="2203704"/>
            <a:ext cx="618134" cy="384048"/>
          </a:xfrm>
          <a:prstGeom prst="roundRect">
            <a:avLst>
              <a:gd name="adj" fmla="val 19048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203704"/>
            <a:ext cx="526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514246" y="2203704"/>
            <a:ext cx="618134" cy="384048"/>
          </a:xfrm>
          <a:prstGeom prst="roundRect">
            <a:avLst>
              <a:gd name="adj" fmla="val 19048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59966" y="2203704"/>
            <a:ext cx="526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205533" y="2203704"/>
            <a:ext cx="618134" cy="384048"/>
          </a:xfrm>
          <a:prstGeom prst="roundRect">
            <a:avLst>
              <a:gd name="adj" fmla="val 19048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51253" y="2203704"/>
            <a:ext cx="526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896819" y="2203704"/>
            <a:ext cx="618134" cy="384048"/>
          </a:xfrm>
          <a:prstGeom prst="roundRect">
            <a:avLst>
              <a:gd name="adj" fmla="val 19048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42539" y="2203704"/>
            <a:ext cx="526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588106" y="2203704"/>
            <a:ext cx="618134" cy="384048"/>
          </a:xfrm>
          <a:prstGeom prst="roundRect">
            <a:avLst>
              <a:gd name="adj" fmla="val 19048"/>
            </a:avLst>
          </a:prstGeom>
          <a:solidFill>
            <a:srgbClr val="3D74F0"/>
          </a:solidFill>
          <a:ln w="9525">
            <a:solidFill>
              <a:srgbClr val="3D74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33826" y="2203704"/>
            <a:ext cx="5266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414016" y="2660904"/>
            <a:ext cx="201168" cy="274320"/>
          </a:xfrm>
          <a:prstGeom prst="downArrow">
            <a:avLst/>
          </a:prstGeom>
          <a:solidFill>
            <a:srgbClr val="7FA6FF"/>
          </a:solidFill>
          <a:ln w="6350">
            <a:solidFill>
              <a:srgbClr val="7FA6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2990088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3D74F0"/>
          </a:solidFill>
          <a:ln w="6350">
            <a:solidFill>
              <a:srgbClr val="3D74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" y="30632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平台能力（机场：谁都得经过）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60120" y="3355848"/>
            <a:ext cx="9753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60120" y="3410712"/>
            <a:ext cx="97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执行面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3685032"/>
            <a:ext cx="88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 · 真机 · 模拟器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签名 · 上架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2026920" y="3355848"/>
            <a:ext cx="9753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026920" y="3410712"/>
            <a:ext cx="97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真值面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2072640" y="3685032"/>
            <a:ext cx="88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/ since · 示例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审核规则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3093720" y="3355848"/>
            <a:ext cx="9753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093720" y="3410712"/>
            <a:ext cx="97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治理面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3139440" y="3685032"/>
            <a:ext cx="88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配额 · 白名单</a:t>
            </a:r>
            <a:endParaRPr lang="en-US" sz="78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审计 · 可开源检视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2414016" y="4663440"/>
            <a:ext cx="201168" cy="274320"/>
          </a:xfrm>
          <a:prstGeom prst="downArrow">
            <a:avLst/>
          </a:prstGeom>
          <a:solidFill>
            <a:srgbClr val="7FA6FF"/>
          </a:solidFill>
          <a:ln w="6350">
            <a:solidFill>
              <a:srgbClr val="7FA6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2960" y="5001768"/>
            <a:ext cx="618134" cy="36576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68680" y="5001768"/>
            <a:ext cx="526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手机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514246" y="5001768"/>
            <a:ext cx="618134" cy="36576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559966" y="5001768"/>
            <a:ext cx="526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平板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2205533" y="5001768"/>
            <a:ext cx="618134" cy="36576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51253" y="5001768"/>
            <a:ext cx="526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手表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896819" y="5001768"/>
            <a:ext cx="618134" cy="36576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942539" y="5001768"/>
            <a:ext cx="526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车机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588106" y="5001768"/>
            <a:ext cx="618134" cy="36576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633826" y="5001768"/>
            <a:ext cx="526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PC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2960" y="5404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鸿蒙设备（目的地）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822960" y="567842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横向工具比模型，换代以月计；平台工具比可信的执行与真值，不随模型贬值</a:t>
            </a:r>
            <a:endParaRPr lang="en-US" sz="86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Apple、Google 已作同样选择：不争大脑，把平台能力做成任何大脑都要用的接口</a:t>
            </a:r>
            <a:endParaRPr lang="en-US" sz="860" dirty="0"/>
          </a:p>
        </p:txBody>
      </p:sp>
      <p:sp>
        <p:nvSpPr>
          <p:cNvPr id="43" name="Text 40"/>
          <p:cNvSpPr txBox="1"/>
          <p:nvPr/>
        </p:nvSpPr>
        <p:spPr>
          <a:xfrm>
            <a:off x="470916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应该做的三件事（用体验的话说）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663440" y="1783080"/>
            <a:ext cx="4114800" cy="1478280"/>
          </a:xfrm>
          <a:prstGeom prst="roundRect">
            <a:avLst>
              <a:gd name="adj" fmla="val 1113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901184" y="19293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394960" y="1892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做执行面：Agent 做的事看得见、拦得住、回得去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5394960" y="2313432"/>
            <a:ext cx="320040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构建、真机运行、UI 校验、崩溃修复——只有平台方能做对的能力，做成任何 Agent 都能调的工具（MCP / CLI）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过程、审批与回退的体验一起做进去：Unity 的 Ask / Plan / Agent 三级权限、改动回滚打标签可直接借鉴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的 verify_ui 已是雏形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4663440" y="3398520"/>
            <a:ext cx="4114800" cy="1478280"/>
          </a:xfrm>
          <a:prstGeom prst="roundRect">
            <a:avLst>
              <a:gd name="adj" fmla="val 1113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901184" y="35448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394960" y="3508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做真值面：Agent 写鸿蒙代码时不用猜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5394960" y="3928872"/>
            <a:ext cx="320040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API、since、示例、审核规则以 Skills 包与 MCP 接口交付，成为所有 Agent 的事实来源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不重构文档站；把 arkts_knowledge_search 从私有工具变成公共接口</a:t>
            </a:r>
            <a:endParaRPr lang="en-US" sz="880" dirty="0"/>
          </a:p>
        </p:txBody>
      </p:sp>
      <p:sp>
        <p:nvSpPr>
          <p:cNvPr id="52" name="Shape 49"/>
          <p:cNvSpPr/>
          <p:nvPr/>
        </p:nvSpPr>
        <p:spPr>
          <a:xfrm>
            <a:off x="4663440" y="5013960"/>
            <a:ext cx="4114800" cy="1478280"/>
          </a:xfrm>
          <a:prstGeom prst="roundRect">
            <a:avLst>
              <a:gd name="adj" fmla="val 1113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901184" y="5160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5394960" y="5123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做治理面：企业放心把 Agent 放进流水线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5394960" y="5544312"/>
            <a:ext cx="320040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模型托管、配额、白名单、审计、审核前置；输出可读、行为可审计、可开源检视</a:t>
            </a:r>
            <a:endParaRPr lang="en-US" sz="880" dirty="0"/>
          </a:p>
          <a:p>
            <a:pPr algn="l" marL="177800" indent="-177800">
              <a:lnSpc>
                <a:spcPct val="122000"/>
              </a:lnSpc>
              <a:spcAft>
                <a:spcPts val="200"/>
              </a:spcAft>
              <a:buSzPct val="100000"/>
              <a:buChar char="•"/>
            </a:pPr>
            <a:r>
              <a:rPr lang="en-US" sz="8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五家里只有微软做完整——这是空白，不是落后</a:t>
            </a:r>
            <a:endParaRPr lang="en-US" sz="880" dirty="0"/>
          </a:p>
        </p:txBody>
      </p:sp>
      <p:sp>
        <p:nvSpPr>
          <p:cNvPr id="56" name="Shape 53"/>
          <p:cNvSpPr/>
          <p:nvPr/>
        </p:nvSpPr>
        <p:spPr>
          <a:xfrm>
            <a:off x="8961120" y="1417320"/>
            <a:ext cx="2679192" cy="5074920"/>
          </a:xfrm>
          <a:prstGeom prst="roundRect">
            <a:avLst>
              <a:gd name="adj" fmla="val 6143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217152" y="167335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对我们意味着什么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9217152" y="2002536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设计对象变了</a:t>
            </a:r>
            <a:endParaRPr lang="en-US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9217152" y="2514600"/>
            <a:ext cx="216712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2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从「一个 IDE 的界面」变成三层：人与 Agent 之间的执行、审阅与信任界面；嵌进别人工作流的体验；三个触点的一致性</a:t>
            </a:r>
            <a:endParaRPr lang="en-US" sz="940" dirty="0"/>
          </a:p>
          <a:p>
            <a:pPr algn="l" marL="177800" indent="-177800">
              <a:lnSpc>
                <a:spcPct val="132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头部公司经 CLI / MCP / 插件用这套能力，长尾经 Studio 用——同一套能力，两种入口</a:t>
            </a:r>
            <a:endParaRPr lang="en-US" sz="940" dirty="0"/>
          </a:p>
          <a:p>
            <a:pPr algn="l" marL="177800" indent="-177800">
              <a:lnSpc>
                <a:spcPct val="132000"/>
              </a:lnSpc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横向工具的主场在模型，平台工具的主场在可信的执行与真值——体验设计的主场在后者</a:t>
            </a:r>
            <a:endParaRPr lang="en-US" sz="940" dirty="0"/>
          </a:p>
        </p:txBody>
      </p:sp>
      <p:sp>
        <p:nvSpPr>
          <p:cNvPr id="60" name="Text 57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竞品雷达 R01（JetBrains 开销自曝、Apple Developer Forums）· Android CLI 1.0 官方声明（2026-05-19）· Apple Developer Forums · DevEco Code 内置工具清单 · 图解为本方绘制</a:t>
            </a:r>
            <a:endParaRPr lang="en-US" sz="750" dirty="0"/>
          </a:p>
        </p:txBody>
      </p:sp>
      <p:sp>
        <p:nvSpPr>
          <p:cNvPr id="61" name="Text 58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A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6533" y="1920240"/>
            <a:ext cx="6864275" cy="1417320"/>
          </a:xfrm>
          <a:prstGeom prst="rect">
            <a:avLst/>
          </a:prstGeom>
        </p:spPr>
      </p:pic>
      <p:pic>
        <p:nvPicPr>
          <p:cNvPr id="3" name="Image 1" descr="/root/deck/assets/icon_ahe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往前看 12–24 个月：三个趋势，以及 DevEco 应对的方向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趋势有来源，应对方向是本方判断（E 级）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548640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4672" y="1636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04672" y="1984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应用形态从 App 走向 Agent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04672" y="2404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624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HarmonyOS 7 提出 Agentic 自进化架构，应用形态从 App 走向 Agent——官方已发布，不是趋势判断。</a:t>
            </a:r>
            <a:endParaRPr lang="en-US" sz="940" dirty="0"/>
          </a:p>
        </p:txBody>
      </p:sp>
      <p:sp>
        <p:nvSpPr>
          <p:cNvPr id="11" name="Shape 7"/>
          <p:cNvSpPr/>
          <p:nvPr/>
        </p:nvSpPr>
        <p:spPr>
          <a:xfrm>
            <a:off x="804672" y="3611880"/>
            <a:ext cx="306324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2" name="Image 2" descr="/root/deck/assets/grid_box.png">    </p:cNvPr>
          <p:cNvPicPr>
            <a:picLocks noChangeAspect="1"/>
          </p:cNvPicPr>
          <p:nvPr/>
        </p:nvPicPr>
        <p:blipFill>
          <a:blip r:embed="rId3"/>
          <a:srcRect l="0" r="74869" t="0" b="87333"/>
          <a:stretch/>
        </p:blipFill>
        <p:spPr>
          <a:xfrm>
            <a:off x="804672" y="3611880"/>
            <a:ext cx="3063240" cy="8686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8972" y="372618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8972" y="372618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630168" y="372618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753612" y="372618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8972" y="43662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8972" y="42428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30168" y="43662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753612" y="42428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33272" y="385876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E6EEFE"/>
          </a:solidFill>
          <a:ln w="9525">
            <a:solidFill>
              <a:srgbClr val="E6EEF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78992" y="3858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人来用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130552" y="3941064"/>
            <a:ext cx="457200" cy="219456"/>
          </a:xfrm>
          <a:prstGeom prst="rightArrow">
            <a:avLst/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542032" y="385876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0A59F7"/>
          </a:solidFill>
          <a:ln w="9525">
            <a:solidFill>
              <a:srgbClr val="0A59F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2587752" y="38587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人和 Agent 一起用</a:t>
            </a:r>
            <a:endParaRPr lang="en-US" sz="750" dirty="0"/>
          </a:p>
        </p:txBody>
      </p:sp>
      <p:sp>
        <p:nvSpPr>
          <p:cNvPr id="26" name="Text 21"/>
          <p:cNvSpPr txBox="1"/>
          <p:nvPr/>
        </p:nvSpPr>
        <p:spPr>
          <a:xfrm>
            <a:off x="804672" y="45994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应对方向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804672" y="4837176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工具的「用户」里将出现 Agent 本身：要同时服务人和 Agent</a:t>
            </a:r>
            <a:endParaRPr lang="en-US" sz="920" dirty="0"/>
          </a:p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设计对象从界面变成「人—Agent—平台」的协作协议：谁能做什么、做到哪一步要问人、出错怎么回退</a:t>
            </a:r>
            <a:endParaRPr lang="en-US" sz="920" dirty="0"/>
          </a:p>
        </p:txBody>
      </p:sp>
      <p:sp>
        <p:nvSpPr>
          <p:cNvPr id="28" name="Text 23"/>
          <p:cNvSpPr txBox="1"/>
          <p:nvPr/>
        </p:nvSpPr>
        <p:spPr>
          <a:xfrm>
            <a:off x="804672" y="6035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HDC 2026（2026-06-13）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4306824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562856" y="1636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4562856" y="1984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模型换代快于 IDE 发版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4562856" y="2404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4562856" y="2624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四家在七个月内转向宿主；JetBrains 半年模型开销涨 10 倍；Anthropic 于 08-27 发布 Model Hardware Standard（Agent 安全操作物理设备的规范）研究预览。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4562856" y="3611880"/>
            <a:ext cx="306324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35" name="Image 3" descr="/root/deck/assets/grid_box.png">    </p:cNvPr>
          <p:cNvPicPr>
            <a:picLocks noChangeAspect="1"/>
          </p:cNvPicPr>
          <p:nvPr/>
        </p:nvPicPr>
        <p:blipFill>
          <a:blip r:embed="rId4"/>
          <a:srcRect l="0" r="74869" t="0" b="87333"/>
          <a:stretch/>
        </p:blipFill>
        <p:spPr>
          <a:xfrm>
            <a:off x="4562856" y="3611880"/>
            <a:ext cx="3063240" cy="86868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4677156" y="372618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677156" y="372618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388352" y="372618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511796" y="372618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677156" y="43662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677156" y="42428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388352" y="43662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511796" y="42428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4745736" y="3739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模型换代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5477256" y="3776472"/>
            <a:ext cx="256032" cy="164592"/>
          </a:xfrm>
          <a:prstGeom prst="roundRect">
            <a:avLst>
              <a:gd name="adj" fmla="val 16667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806440" y="3776472"/>
            <a:ext cx="256032" cy="164592"/>
          </a:xfrm>
          <a:prstGeom prst="roundRect">
            <a:avLst>
              <a:gd name="adj" fmla="val 16667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135624" y="3776472"/>
            <a:ext cx="256032" cy="164592"/>
          </a:xfrm>
          <a:prstGeom prst="roundRect">
            <a:avLst>
              <a:gd name="adj" fmla="val 16667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464808" y="3776472"/>
            <a:ext cx="256032" cy="164592"/>
          </a:xfrm>
          <a:prstGeom prst="roundRect">
            <a:avLst>
              <a:gd name="adj" fmla="val 16667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6940296" y="37398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以月计</a:t>
            </a:r>
            <a:endParaRPr lang="en-US" sz="750" dirty="0"/>
          </a:p>
        </p:txBody>
      </p:sp>
      <p:sp>
        <p:nvSpPr>
          <p:cNvPr id="50" name="Text 44"/>
          <p:cNvSpPr txBox="1"/>
          <p:nvPr/>
        </p:nvSpPr>
        <p:spPr>
          <a:xfrm>
            <a:off x="4745736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发版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5477256" y="4151376"/>
            <a:ext cx="585216" cy="164592"/>
          </a:xfrm>
          <a:prstGeom prst="roundRect">
            <a:avLst>
              <a:gd name="adj" fmla="val 16667"/>
            </a:avLst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6135624" y="4151376"/>
            <a:ext cx="585216" cy="164592"/>
          </a:xfrm>
          <a:prstGeom prst="roundRect">
            <a:avLst>
              <a:gd name="adj" fmla="val 16667"/>
            </a:avLst>
          </a:prstGeom>
          <a:solidFill>
            <a:srgbClr val="B8BEC5"/>
          </a:solidFill>
          <a:ln w="6350">
            <a:solidFill>
              <a:srgbClr val="B8BEC5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6940296" y="4114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以季计</a:t>
            </a:r>
            <a:endParaRPr lang="en-US" sz="750" dirty="0"/>
          </a:p>
        </p:txBody>
      </p:sp>
      <p:sp>
        <p:nvSpPr>
          <p:cNvPr id="54" name="Text 48"/>
          <p:cNvSpPr txBox="1"/>
          <p:nvPr/>
        </p:nvSpPr>
        <p:spPr>
          <a:xfrm>
            <a:off x="4562856" y="45994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应对方向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4562856" y="4837176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护城河不在模型，在平台真值与真机执行</a:t>
            </a:r>
            <a:endParaRPr lang="en-US" sz="920" dirty="0"/>
          </a:p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鸿蒙的多端与真机是别人没有的执行面；Agent 操作设备的规范对设备生态型 OS 相关度最高，应尽早介入</a:t>
            </a:r>
            <a:endParaRPr lang="en-US" sz="920" dirty="0"/>
          </a:p>
        </p:txBody>
      </p:sp>
      <p:sp>
        <p:nvSpPr>
          <p:cNvPr id="56" name="Text 50"/>
          <p:cNvSpPr txBox="1"/>
          <p:nvPr/>
        </p:nvSpPr>
        <p:spPr>
          <a:xfrm>
            <a:off x="4562856" y="6035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雷达 R01；Anthropic 2026-08-27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8065008" y="1417320"/>
            <a:ext cx="3575304" cy="5074920"/>
          </a:xfrm>
          <a:prstGeom prst="roundRect">
            <a:avLst>
              <a:gd name="adj" fmla="val 4604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8321040" y="1636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A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59" name="Text 53"/>
          <p:cNvSpPr txBox="1"/>
          <p:nvPr/>
        </p:nvSpPr>
        <p:spPr>
          <a:xfrm>
            <a:off x="8321040" y="1984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头部公司的工作流内嵌</a:t>
            </a:r>
            <a:endParaRPr lang="en-US" sz="1400" dirty="0"/>
          </a:p>
        </p:txBody>
      </p:sp>
      <p:sp>
        <p:nvSpPr>
          <p:cNvPr id="60" name="Text 54"/>
          <p:cNvSpPr txBox="1"/>
          <p:nvPr/>
        </p:nvSpPr>
        <p:spPr>
          <a:xfrm>
            <a:off x="8321040" y="2404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</a:t>
            </a:r>
            <a:endParaRPr lang="en-US" sz="900" dirty="0"/>
          </a:p>
        </p:txBody>
      </p:sp>
      <p:sp>
        <p:nvSpPr>
          <p:cNvPr id="61" name="Text 55"/>
          <p:cNvSpPr txBox="1"/>
          <p:nvPr/>
        </p:nvSpPr>
        <p:spPr>
          <a:xfrm>
            <a:off x="8321040" y="26243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头部公司不换工具；Android 与 Xcode 都把能力做成 Skills 可导出、MCP 可桥接，让自家工具「存在于任何 Agent 里」。</a:t>
            </a:r>
            <a:endParaRPr lang="en-US" sz="940" dirty="0"/>
          </a:p>
        </p:txBody>
      </p:sp>
      <p:sp>
        <p:nvSpPr>
          <p:cNvPr id="62" name="Shape 56"/>
          <p:cNvSpPr/>
          <p:nvPr/>
        </p:nvSpPr>
        <p:spPr>
          <a:xfrm>
            <a:off x="8321040" y="3611880"/>
            <a:ext cx="3063240" cy="868680"/>
          </a:xfrm>
          <a:prstGeom prst="roundRect">
            <a:avLst>
              <a:gd name="adj" fmla="val 18947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pic>
        <p:nvPicPr>
          <p:cNvPr id="63" name="Image 4" descr="/root/deck/assets/grid_box.png">    </p:cNvPr>
          <p:cNvPicPr>
            <a:picLocks noChangeAspect="1"/>
          </p:cNvPicPr>
          <p:nvPr/>
        </p:nvPicPr>
        <p:blipFill>
          <a:blip r:embed="rId5"/>
          <a:srcRect l="0" r="74869" t="0" b="87333"/>
          <a:stretch/>
        </p:blipFill>
        <p:spPr>
          <a:xfrm>
            <a:off x="8321040" y="3611880"/>
            <a:ext cx="3063240" cy="868680"/>
          </a:xfrm>
          <a:prstGeom prst="rect">
            <a:avLst/>
          </a:prstGeom>
        </p:spPr>
      </p:pic>
      <p:sp>
        <p:nvSpPr>
          <p:cNvPr id="64" name="Shape 57"/>
          <p:cNvSpPr/>
          <p:nvPr/>
        </p:nvSpPr>
        <p:spPr>
          <a:xfrm>
            <a:off x="8435340" y="372618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8435340" y="372618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1146536" y="372618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1269980" y="372618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8435340" y="43662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8435340" y="42428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1146536" y="43662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11269980" y="424281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8549640" y="3721608"/>
            <a:ext cx="2606040" cy="649224"/>
          </a:xfrm>
          <a:prstGeom prst="roundRect">
            <a:avLst>
              <a:gd name="adj" fmla="val 11268"/>
            </a:avLst>
          </a:prstGeom>
          <a:solidFill>
            <a:srgbClr val="3A3A3A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73" name="Text 66"/>
          <p:cNvSpPr txBox="1"/>
          <p:nvPr/>
        </p:nvSpPr>
        <p:spPr>
          <a:xfrm>
            <a:off x="8641080" y="3749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开发者已有的 Agent（Claude Code / Codex …）</a:t>
            </a:r>
            <a:endParaRPr lang="en-US" sz="750" dirty="0"/>
          </a:p>
        </p:txBody>
      </p:sp>
      <p:sp>
        <p:nvSpPr>
          <p:cNvPr id="74" name="Shape 67"/>
          <p:cNvSpPr/>
          <p:nvPr/>
        </p:nvSpPr>
        <p:spPr>
          <a:xfrm>
            <a:off x="8732520" y="397764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3D74F0"/>
          </a:solidFill>
          <a:ln w="9525">
            <a:solidFill>
              <a:srgbClr val="3D74F0"/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8778240" y="39776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DevEco：CLI · MCP · Skills（看不见，但都在用）</a:t>
            </a:r>
            <a:endParaRPr lang="en-US" sz="800" dirty="0"/>
          </a:p>
        </p:txBody>
      </p:sp>
      <p:sp>
        <p:nvSpPr>
          <p:cNvPr id="76" name="Text 69"/>
          <p:cNvSpPr txBox="1"/>
          <p:nvPr/>
        </p:nvSpPr>
        <p:spPr>
          <a:xfrm>
            <a:off x="8321040" y="45994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应对方向</a:t>
            </a:r>
            <a:endParaRPr lang="en-US" sz="900" dirty="0"/>
          </a:p>
        </p:txBody>
      </p:sp>
      <p:sp>
        <p:nvSpPr>
          <p:cNvPr id="77" name="Text 70"/>
          <p:cNvSpPr txBox="1"/>
          <p:nvPr/>
        </p:nvSpPr>
        <p:spPr>
          <a:xfrm>
            <a:off x="8321040" y="4837176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最终形态可能是「看不见的 DevEco」：以 CLI / MCP / Skills 存在于任何 Agent 中，GUI 留给长尾</a:t>
            </a:r>
            <a:endParaRPr lang="en-US" sz="920" dirty="0"/>
          </a:p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2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前瞻课题：没有界面的产品，体验如何度量与治理——体验治理定位的前瞻版本</a:t>
            </a:r>
            <a:endParaRPr lang="en-US" sz="920" dirty="0"/>
          </a:p>
        </p:txBody>
      </p:sp>
      <p:sp>
        <p:nvSpPr>
          <p:cNvPr id="78" name="Text 71"/>
          <p:cNvSpPr txBox="1"/>
          <p:nvPr/>
        </p:nvSpPr>
        <p:spPr>
          <a:xfrm>
            <a:off x="8321040" y="6035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Skills / xcrun skills export，2026-09</a:t>
            </a:r>
            <a:endParaRPr lang="en-US" sz="800" dirty="0"/>
          </a:p>
        </p:txBody>
      </p:sp>
      <p:sp>
        <p:nvSpPr>
          <p:cNvPr id="79" name="Text 72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IT之家《HDC 2026 开幕，HarmonyOS 7 全新亮相》2026-06 · Anthropic Model Hardware Standard 2026-08-27（未读原文，C 级）· Android Skills / xcrun skills export 官方文档 · 应对方向为本方判断（E 级）</a:t>
            </a:r>
            <a:endParaRPr lang="en-US" sz="750" dirty="0"/>
          </a:p>
        </p:txBody>
      </p:sp>
      <p:sp>
        <p:nvSpPr>
          <p:cNvPr id="80" name="Text 73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研究洞察 · 候选创新点：四个设计点，每一个都对着竞品确认过的空位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 8.0 规划的候选；落点在 DevEco Code / CLI 与官网这三个没有既得格局的触点上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18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00200"/>
            <a:ext cx="4311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执行过程可见与可干预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29384"/>
            <a:ext cx="43113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开发者看得见 Agent 正在做什么、排在哪、要等多久；能在错误方向上及时打断，也能不中断执行就注入修正。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417320" y="2459736"/>
            <a:ext cx="4311396" cy="1239012"/>
          </a:xfrm>
          <a:prstGeom prst="roundRect">
            <a:avLst>
              <a:gd name="adj" fmla="val 738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72768" y="2514600"/>
            <a:ext cx="3991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竞品对照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572768" y="2770632"/>
            <a:ext cx="399135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本方已确认的静默排队：位次 / 预计等待 / 可取消，UI 一件都没有</a:t>
            </a:r>
            <a:endParaRPr lang="en-US" sz="840" dirty="0"/>
          </a:p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Unity Ask / Plan / Agent 三级权限 + 回滚标签；Android Studio 并行 agent 状态</a:t>
            </a:r>
            <a:endParaRPr lang="en-US" sz="840" dirty="0"/>
          </a:p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R02：成本可见性形态已收敛（总量数字 + 归因表），可直接照抄</a:t>
            </a:r>
            <a:endParaRPr lang="en-US" sz="840" dirty="0"/>
          </a:p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R02 新增：模型身份纳入会话状态，恢复时显式比对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6185916" y="14173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60236" y="16184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54596" y="1600200"/>
            <a:ext cx="4311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多文件改动审阅与回退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54596" y="1929384"/>
            <a:ext cx="43113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一次改动按 turn / session 聚合呈现，可逐文件审阅、可整体回退，不绑死 git。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54596" y="2459736"/>
            <a:ext cx="4311396" cy="1239012"/>
          </a:xfrm>
          <a:prstGeom prst="roundRect">
            <a:avLst>
              <a:gd name="adj" fmla="val 738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10044" y="2514600"/>
            <a:ext cx="3991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竞品对照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210044" y="2770632"/>
            <a:ext cx="399135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ACP 明确 undo / redo 跨协议不支持</a:t>
            </a:r>
            <a:endParaRPr lang="en-US" sz="840" dirty="0"/>
          </a:p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OpenCode V2 review panel 绑死 git；Android「Summary of Changes」、Xcode 历史回退</a:t>
            </a:r>
            <a:endParaRPr lang="en-US" sz="840" dirty="0"/>
          </a:p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R02：Codex / VS Code / OpenCode 同时补多文件 diff——差异化窗口以周计，样板要提前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548640" y="40462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2473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229100"/>
            <a:ext cx="4311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嵌入式工作流体验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558284"/>
            <a:ext cx="43113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的输出可读、错误可诊断、版本可锁；Skills 与 MCP 配置一条命令装进头部公司已有的 Agent；最小插件闭环。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417320" y="5088636"/>
            <a:ext cx="4311396" cy="1239012"/>
          </a:xfrm>
          <a:prstGeom prst="roundRect">
            <a:avLst>
              <a:gd name="adj" fmla="val 738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572768" y="5143500"/>
            <a:ext cx="3991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竞品对照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572768" y="5399532"/>
            <a:ext cx="399135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23 个 Skills 可导 CLI</a:t>
            </a:r>
            <a:endParaRPr lang="en-US" sz="840" dirty="0"/>
          </a:p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Xcode mcpbridge 约 20 项能力</a:t>
            </a:r>
            <a:endParaRPr lang="en-US" sz="840" dirty="0"/>
          </a:p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deveco-cli init 仍是硬编码 Agent 列表（建议遵循 AGENTS.md 与 ACP Registry）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6185916" y="40462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60236" y="42473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054596" y="4229100"/>
            <a:ext cx="4311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平台知识以 Agent 可消费的形态交付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054596" y="4558284"/>
            <a:ext cx="43113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API、since、示例、审核规则以 skills 包与 MCP 接口开放；不重构文档站，把私有工具变成公共接口。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054596" y="5088636"/>
            <a:ext cx="4311396" cy="1239012"/>
          </a:xfrm>
          <a:prstGeom prst="roundRect">
            <a:avLst>
              <a:gd name="adj" fmla="val 738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10044" y="5143500"/>
            <a:ext cx="3991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竞品对照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210044" y="5399532"/>
            <a:ext cx="399135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官方 skills + CLI，Apple 全站 .md 镜像，Microsoft Learn MCP</a:t>
            </a:r>
            <a:endParaRPr lang="en-US" sz="840" dirty="0"/>
          </a:p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R02：华为 llms.txt 已存在且在维护，但 /consumer/cn 路径 502、官网无入口</a:t>
            </a:r>
            <a:endParaRPr lang="en-US" sz="840" dirty="0"/>
          </a:p>
          <a:p>
            <a:pPr algn="l" marL="177800" indent="-177800">
              <a:lnSpc>
                <a:spcPct val="114000"/>
              </a:lnSpc>
              <a:spcAft>
                <a:spcPts val="100"/>
              </a:spcAft>
              <a:buSzPct val="100000"/>
              <a:buChar char="•"/>
            </a:pPr>
            <a:r>
              <a:rPr lang="en-US" sz="8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不在 agentskills.io 47 家采纳名单——先做透一件</a:t>
            </a:r>
            <a:endParaRPr lang="en-US" sz="84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ACP 规范（undo / redo 跨协议不支持）· OpenCode V2 review panel · Android Studio / Xcode 官方文档 · Google Developer Knowledge API 与官方 MCP Server（2026-02-04）· Apple 全站 .md 镜像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创新机会点：七条，按执行面 / 真值面 / 治理面排，并标出竞争密度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最大的机会空位就是融合方案留白的阶段三；标「真蓝海」的那条，是六家竞品对照组里都不存在的命题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347472"/>
          </a:xfrm>
          <a:prstGeom prst="roundRect">
            <a:avLst>
              <a:gd name="adj" fmla="val 21053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" y="1417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机会点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739896" y="1417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属于哪一面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654296" y="1417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竞争密度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071616" y="1417320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建议动作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1764792"/>
            <a:ext cx="2880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执行过程可见、可干预，多文件改动可审阅可回退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3666744" y="1764792"/>
            <a:ext cx="8046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执行面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4617720" y="1753362"/>
            <a:ext cx="1197864" cy="237744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7720" y="175336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红海</a:t>
            </a:r>
            <a:endParaRPr lang="en-US" sz="86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00939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窗口以周计</a:t>
            </a:r>
            <a:endParaRPr lang="en-US" sz="780" dirty="0"/>
          </a:p>
        </p:txBody>
      </p:sp>
      <p:sp>
        <p:nvSpPr>
          <p:cNvPr id="15" name="Text 12"/>
          <p:cNvSpPr txBox="1"/>
          <p:nvPr/>
        </p:nvSpPr>
        <p:spPr>
          <a:xfrm>
            <a:off x="6071616" y="1764792"/>
            <a:ext cx="551383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最紧迫的一条。挂在阶段二（IDE 插件化）上落地；DevEco Code 的静默排队——服务端排队机制已确认，界面上一件可见性设计都没有——做第一个可演示的小样板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548640" y="2290572"/>
            <a:ext cx="11091672" cy="52578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" y="2290572"/>
            <a:ext cx="2880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平台知识开放成公共 MCP / API，并申请进入 agentskills.io 采纳名单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666744" y="2290572"/>
            <a:ext cx="8046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真值面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4617720" y="2279142"/>
            <a:ext cx="1197864" cy="237744"/>
          </a:xfrm>
          <a:prstGeom prst="roundRect">
            <a:avLst>
              <a:gd name="adj" fmla="val 50000"/>
            </a:avLst>
          </a:prstGeom>
          <a:solidFill>
            <a:srgbClr val="9AA1A9"/>
          </a:solidFill>
          <a:ln w="6350">
            <a:solidFill>
              <a:srgbClr val="9AA1A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17720" y="227914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半蓝海</a:t>
            </a:r>
            <a:endParaRPr lang="en-US" sz="860" dirty="0"/>
          </a:p>
        </p:txBody>
      </p:sp>
      <p:sp>
        <p:nvSpPr>
          <p:cNvPr id="21" name="Text 18"/>
          <p:cNvSpPr txBox="1"/>
          <p:nvPr/>
        </p:nvSpPr>
        <p:spPr>
          <a:xfrm>
            <a:off x="4617720" y="253517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本季可完成</a:t>
            </a:r>
            <a:endParaRPr lang="en-US" sz="780" dirty="0"/>
          </a:p>
        </p:txBody>
      </p:sp>
      <p:sp>
        <p:nvSpPr>
          <p:cNvPr id="22" name="Text 19"/>
          <p:cNvSpPr txBox="1"/>
          <p:nvPr/>
        </p:nvSpPr>
        <p:spPr>
          <a:xfrm>
            <a:off x="6071616" y="2290572"/>
            <a:ext cx="551383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不重写文档，只换出口：/consumer/cn 的 llms.txt 由 502 改成指向已在维护的根域；官网加一个能被找到的入口；提交采纳名单申请</a:t>
            </a:r>
            <a:endParaRPr lang="en-US" sz="820" dirty="0"/>
          </a:p>
        </p:txBody>
      </p:sp>
      <p:sp>
        <p:nvSpPr>
          <p:cNvPr id="23" name="Text 20"/>
          <p:cNvSpPr txBox="1"/>
          <p:nvPr/>
        </p:nvSpPr>
        <p:spPr>
          <a:xfrm>
            <a:off x="676656" y="2816352"/>
            <a:ext cx="2880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协议宿主扩展：CLI 的 serve mcp 从语法检查扩到构建、签名、真机调试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666744" y="2816352"/>
            <a:ext cx="8046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 · 真值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4617720" y="2804922"/>
            <a:ext cx="1197864" cy="237744"/>
          </a:xfrm>
          <a:prstGeom prst="roundRect">
            <a:avLst>
              <a:gd name="adj" fmla="val 50000"/>
            </a:avLst>
          </a:prstGeom>
          <a:solidFill>
            <a:srgbClr val="9AA1A9"/>
          </a:solidFill>
          <a:ln w="6350">
            <a:solidFill>
              <a:srgbClr val="9AA1A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17720" y="280492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半红海</a:t>
            </a:r>
            <a:endParaRPr lang="en-US" sz="860" dirty="0"/>
          </a:p>
        </p:txBody>
      </p:sp>
      <p:sp>
        <p:nvSpPr>
          <p:cNvPr id="27" name="Text 24"/>
          <p:cNvSpPr txBox="1"/>
          <p:nvPr/>
        </p:nvSpPr>
        <p:spPr>
          <a:xfrm>
            <a:off x="4617720" y="306095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行业已有先例</a:t>
            </a:r>
            <a:endParaRPr lang="en-US" sz="780" dirty="0"/>
          </a:p>
        </p:txBody>
      </p:sp>
      <p:sp>
        <p:nvSpPr>
          <p:cNvPr id="28" name="Text 25"/>
          <p:cNvSpPr txBox="1"/>
          <p:nvPr/>
        </p:nvSpPr>
        <p:spPr>
          <a:xfrm>
            <a:off x="6071616" y="2816352"/>
            <a:ext cx="551383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这是「开放能力」的具体化，直接服务「大厂拿走能力」这条主线，作为阶段一 / 二的技术内容，不单独立项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548640" y="3342132"/>
            <a:ext cx="11091672" cy="52578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6656" y="3342132"/>
            <a:ext cx="2880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/ 签名 / 测试脱离 GUI 依赖，Linux 优先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3666744" y="3342132"/>
            <a:ext cx="8046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执行面的前提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4617720" y="3330702"/>
            <a:ext cx="1197864" cy="237744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17720" y="333070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红海</a:t>
            </a:r>
            <a:endParaRPr lang="en-US" sz="860" dirty="0"/>
          </a:p>
        </p:txBody>
      </p:sp>
      <p:sp>
        <p:nvSpPr>
          <p:cNvPr id="34" name="Text 31"/>
          <p:cNvSpPr txBox="1"/>
          <p:nvPr/>
        </p:nvSpPr>
        <p:spPr>
          <a:xfrm>
            <a:off x="4617720" y="358673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本方独有的短板</a:t>
            </a:r>
            <a:endParaRPr lang="en-US" sz="780" dirty="0"/>
          </a:p>
        </p:txBody>
      </p:sp>
      <p:sp>
        <p:nvSpPr>
          <p:cNvPr id="35" name="Text 32"/>
          <p:cNvSpPr txBox="1"/>
          <p:nvPr/>
        </p:nvSpPr>
        <p:spPr>
          <a:xfrm>
            <a:off x="6071616" y="3342132"/>
            <a:ext cx="551383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 CI 大多跑在 Linux 上，这是断点不是长尾需求；也是「打包能力」能否真正成立的技术前提，纳入待确认清单里的落地定义</a:t>
            </a:r>
            <a:endParaRPr lang="en-US" sz="820" dirty="0"/>
          </a:p>
        </p:txBody>
      </p:sp>
      <p:sp>
        <p:nvSpPr>
          <p:cNvPr id="36" name="Text 33"/>
          <p:cNvSpPr txBox="1"/>
          <p:nvPr/>
        </p:nvSpPr>
        <p:spPr>
          <a:xfrm>
            <a:off x="676656" y="3867912"/>
            <a:ext cx="2880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面向「被集成」场景的原生设计：能力装进别人的 Agent 之后的体验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3666744" y="3867912"/>
            <a:ext cx="8046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真值 · 治理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4617720" y="3856482"/>
            <a:ext cx="1197864" cy="237744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17720" y="385648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真蓝海</a:t>
            </a:r>
            <a:endParaRPr lang="en-US" sz="86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411251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六家都没有这个命题</a:t>
            </a:r>
            <a:endParaRPr lang="en-US" sz="780" dirty="0"/>
          </a:p>
        </p:txBody>
      </p:sp>
      <p:sp>
        <p:nvSpPr>
          <p:cNvPr id="41" name="Text 38"/>
          <p:cNvSpPr txBox="1"/>
          <p:nvPr/>
        </p:nvSpPr>
        <p:spPr>
          <a:xfrm>
            <a:off x="6071616" y="3867912"/>
            <a:ext cx="551383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创新板块的旗舰论点。先做一次旅程研究，把「在别人的工具里调用鸿蒙能力的开发者」画出来——正好回答反复被问的「我们能不能做 Skill、自己的体验策略是什么」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548640" y="4393692"/>
            <a:ext cx="11091672" cy="52578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6656" y="4393692"/>
            <a:ext cx="2880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成本可见性 · 多 Agent 阻塞可见 · 会话资产保护 · 模型身份校验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3666744" y="4393692"/>
            <a:ext cx="8046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 · 执行</a:t>
            </a:r>
            <a:endParaRPr lang="en-US" sz="860" dirty="0"/>
          </a:p>
        </p:txBody>
      </p:sp>
      <p:sp>
        <p:nvSpPr>
          <p:cNvPr id="45" name="Shape 42"/>
          <p:cNvSpPr/>
          <p:nvPr/>
        </p:nvSpPr>
        <p:spPr>
          <a:xfrm>
            <a:off x="4617720" y="4382262"/>
            <a:ext cx="1197864" cy="237744"/>
          </a:xfrm>
          <a:prstGeom prst="roundRect">
            <a:avLst>
              <a:gd name="adj" fmla="val 50000"/>
            </a:avLst>
          </a:prstGeom>
          <a:solidFill>
            <a:srgbClr val="9AA1A9"/>
          </a:solidFill>
          <a:ln w="6350">
            <a:solidFill>
              <a:srgbClr val="9AA1A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17720" y="438226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半红海</a:t>
            </a:r>
            <a:endParaRPr lang="en-US" sz="860" dirty="0"/>
          </a:p>
        </p:txBody>
      </p:sp>
      <p:sp>
        <p:nvSpPr>
          <p:cNvPr id="47" name="Text 44"/>
          <p:cNvSpPr txBox="1"/>
          <p:nvPr/>
        </p:nvSpPr>
        <p:spPr>
          <a:xfrm>
            <a:off x="4617720" y="463829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形态已收敛</a:t>
            </a:r>
            <a:endParaRPr lang="en-US" sz="780" dirty="0"/>
          </a:p>
        </p:txBody>
      </p:sp>
      <p:sp>
        <p:nvSpPr>
          <p:cNvPr id="48" name="Text 45"/>
          <p:cNvSpPr txBox="1"/>
          <p:nvPr/>
        </p:nvSpPr>
        <p:spPr>
          <a:xfrm>
            <a:off x="6071616" y="4393692"/>
            <a:ext cx="551383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有现成参照物可直接照抄（一个总量数字 + 一张归因表），作为阶段二的体验规范来源，不用从零发明形态</a:t>
            </a:r>
            <a:endParaRPr lang="en-US" sz="820" dirty="0"/>
          </a:p>
        </p:txBody>
      </p:sp>
      <p:sp>
        <p:nvSpPr>
          <p:cNvPr id="49" name="Text 46"/>
          <p:cNvSpPr txBox="1"/>
          <p:nvPr/>
        </p:nvSpPr>
        <p:spPr>
          <a:xfrm>
            <a:off x="676656" y="4919472"/>
            <a:ext cx="2880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企业侧 Agent 治理：托管模型 · 配额 · 白名单 · 审计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3666744" y="4919472"/>
            <a:ext cx="8046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治理面</a:t>
            </a:r>
            <a:endParaRPr lang="en-US" sz="860" dirty="0"/>
          </a:p>
        </p:txBody>
      </p:sp>
      <p:sp>
        <p:nvSpPr>
          <p:cNvPr id="51" name="Shape 48"/>
          <p:cNvSpPr/>
          <p:nvPr/>
        </p:nvSpPr>
        <p:spPr>
          <a:xfrm>
            <a:off x="4617720" y="4908042"/>
            <a:ext cx="1197864" cy="237744"/>
          </a:xfrm>
          <a:prstGeom prst="roundRect">
            <a:avLst>
              <a:gd name="adj" fmla="val 50000"/>
            </a:avLst>
          </a:prstGeom>
          <a:solidFill>
            <a:srgbClr val="5A8DFF"/>
          </a:solidFill>
          <a:ln w="6350">
            <a:solidFill>
              <a:srgbClr val="5A8D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617720" y="490804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蓝海</a:t>
            </a:r>
            <a:endParaRPr lang="en-US" sz="860" dirty="0"/>
          </a:p>
        </p:txBody>
      </p:sp>
      <p:sp>
        <p:nvSpPr>
          <p:cNvPr id="53" name="Text 50"/>
          <p:cNvSpPr txBox="1"/>
          <p:nvPr/>
        </p:nvSpPr>
        <p:spPr>
          <a:xfrm>
            <a:off x="4617720" y="516407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部门内尚无人占据</a:t>
            </a:r>
            <a:endParaRPr lang="en-US" sz="780" dirty="0"/>
          </a:p>
        </p:txBody>
      </p:sp>
      <p:sp>
        <p:nvSpPr>
          <p:cNvPr id="54" name="Text 51"/>
          <p:cNvSpPr txBox="1"/>
          <p:nvPr/>
        </p:nvSpPr>
        <p:spPr>
          <a:xfrm>
            <a:off x="6071616" y="4919472"/>
            <a:ext cx="551383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五家里只有微软做完整，是空白而非落后；与「五触点体验治理」的定位天然吻合，列入阶段三候选，且不依赖开发侧先点头就能启动方案设计</a:t>
            </a:r>
            <a:endParaRPr lang="en-US" sz="820" dirty="0"/>
          </a:p>
        </p:txBody>
      </p:sp>
      <p:sp>
        <p:nvSpPr>
          <p:cNvPr id="55" name="Shape 52"/>
          <p:cNvSpPr/>
          <p:nvPr/>
        </p:nvSpPr>
        <p:spPr>
          <a:xfrm>
            <a:off x="548640" y="5554980"/>
            <a:ext cx="3611880" cy="918972"/>
          </a:xfrm>
          <a:prstGeom prst="roundRect">
            <a:avLst>
              <a:gd name="adj" fmla="val 1791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13232" y="5628132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现在到十一月</a:t>
            </a:r>
            <a:endParaRPr lang="en-US" sz="960" dirty="0"/>
          </a:p>
        </p:txBody>
      </p:sp>
      <p:sp>
        <p:nvSpPr>
          <p:cNvPr id="57" name="Text 54"/>
          <p:cNvSpPr txBox="1"/>
          <p:nvPr/>
        </p:nvSpPr>
        <p:spPr>
          <a:xfrm>
            <a:off x="713232" y="5829300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对应阶段二 · IDE 插件化</a:t>
            </a:r>
            <a:endParaRPr lang="en-US" sz="780" dirty="0"/>
          </a:p>
        </p:txBody>
      </p:sp>
      <p:sp>
        <p:nvSpPr>
          <p:cNvPr id="58" name="Text 55"/>
          <p:cNvSpPr txBox="1"/>
          <p:nvPr/>
        </p:nvSpPr>
        <p:spPr>
          <a:xfrm>
            <a:off x="713232" y="6012180"/>
            <a:ext cx="3282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执行过程可见与 diff 审阅——窗口最紧　② 知识库开放——最快出成果　③ 体验规范四项——直接照抄</a:t>
            </a:r>
            <a:endParaRPr lang="en-US" sz="820" dirty="0"/>
          </a:p>
        </p:txBody>
      </p:sp>
      <p:sp>
        <p:nvSpPr>
          <p:cNvPr id="59" name="Shape 56"/>
          <p:cNvSpPr/>
          <p:nvPr/>
        </p:nvSpPr>
        <p:spPr>
          <a:xfrm>
            <a:off x="4288536" y="5554980"/>
            <a:ext cx="3611880" cy="918972"/>
          </a:xfrm>
          <a:prstGeom prst="roundRect">
            <a:avLst>
              <a:gd name="adj" fmla="val 1791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453128" y="5628132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十月后到 8.0</a:t>
            </a:r>
            <a:endParaRPr lang="en-US" sz="960" dirty="0"/>
          </a:p>
        </p:txBody>
      </p:sp>
      <p:sp>
        <p:nvSpPr>
          <p:cNvPr id="61" name="Text 58"/>
          <p:cNvSpPr txBox="1"/>
          <p:nvPr/>
        </p:nvSpPr>
        <p:spPr>
          <a:xfrm>
            <a:off x="4453128" y="5829300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对应阶段三 · 目前的空白</a:t>
            </a:r>
            <a:endParaRPr lang="en-US" sz="780" dirty="0"/>
          </a:p>
        </p:txBody>
      </p:sp>
      <p:sp>
        <p:nvSpPr>
          <p:cNvPr id="62" name="Text 59"/>
          <p:cNvSpPr txBox="1"/>
          <p:nvPr/>
        </p:nvSpPr>
        <p:spPr>
          <a:xfrm>
            <a:off x="4453128" y="6012180"/>
            <a:ext cx="3282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被集成场景的体验策略（旗舰）　⑤ 企业侧 Agent 治理　⑥ 构建签名脱 GUI（要跨团队推）</a:t>
            </a:r>
            <a:endParaRPr lang="en-US" sz="820" dirty="0"/>
          </a:p>
        </p:txBody>
      </p:sp>
      <p:sp>
        <p:nvSpPr>
          <p:cNvPr id="63" name="Shape 60"/>
          <p:cNvSpPr/>
          <p:nvPr/>
        </p:nvSpPr>
        <p:spPr>
          <a:xfrm>
            <a:off x="8028432" y="5554980"/>
            <a:ext cx="3611880" cy="918972"/>
          </a:xfrm>
          <a:prstGeom prst="roundRect">
            <a:avLst>
              <a:gd name="adj" fmla="val 17910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193024" y="5628132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远景观察</a:t>
            </a:r>
            <a:endParaRPr lang="en-US" sz="960" dirty="0"/>
          </a:p>
        </p:txBody>
      </p:sp>
      <p:sp>
        <p:nvSpPr>
          <p:cNvPr id="65" name="Text 62"/>
          <p:cNvSpPr txBox="1"/>
          <p:nvPr/>
        </p:nvSpPr>
        <p:spPr>
          <a:xfrm>
            <a:off x="8193024" y="5829300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不占当前设计资源</a:t>
            </a:r>
            <a:endParaRPr lang="en-US" sz="780" dirty="0"/>
          </a:p>
        </p:txBody>
      </p:sp>
      <p:sp>
        <p:nvSpPr>
          <p:cNvPr id="66" name="Text 63"/>
          <p:cNvSpPr txBox="1"/>
          <p:nvPr/>
        </p:nvSpPr>
        <p:spPr>
          <a:xfrm>
            <a:off x="8193024" y="6012180"/>
            <a:ext cx="3282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⑦ Model Hardware Standard——规范尚未开源，现在是唯一还能以参与者身份进入的窗口，先跟踪</a:t>
            </a:r>
            <a:endParaRPr lang="en-US" sz="820" dirty="0"/>
          </a:p>
        </p:txBody>
      </p:sp>
      <p:sp>
        <p:nvSpPr>
          <p:cNvPr id="67" name="Text 64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竞品雷达 R01 / R02（2026-09）· 存量 IDE 的 AI 应对 · IDE 与 Agent 工具链对照 · 鸿蒙开发者生态调研结论 · developer.huawei.com 与 agentskills.io 实测 2026-09-08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922" y="2331720"/>
            <a:ext cx="6289394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745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业务发展想法 · 风险与团队组成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3794760"/>
            <a:ext cx="11091672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279392"/>
            <a:ext cx="210129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45152"/>
            <a:ext cx="1735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商业价值：这条线产生的是鸿蒙应用的供给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2796235" y="4279392"/>
            <a:ext cx="210129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79115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979115" y="4645152"/>
            <a:ext cx="1735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产品策略：一句主张，四条策略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5043830" y="4279392"/>
            <a:ext cx="210129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26710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226710" y="4645152"/>
            <a:ext cx="1735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一年时间线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7291426" y="4279392"/>
            <a:ext cx="210129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74306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474306" y="4645152"/>
            <a:ext cx="1735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风险与团队组成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9539021" y="4279392"/>
            <a:ext cx="2101291" cy="1234440"/>
          </a:xfrm>
          <a:prstGeom prst="roundRect">
            <a:avLst>
              <a:gd name="adj" fmla="val 740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21901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721901" y="4645152"/>
            <a:ext cx="1735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需要盼总支持的几件事</a:t>
            </a:r>
            <a:endParaRPr lang="en-US" sz="920" dirty="0"/>
          </a:p>
        </p:txBody>
      </p:sp>
      <p:sp>
        <p:nvSpPr>
          <p:cNvPr id="21" name="Text 18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e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商业价值：这条线不直接产生收入，产生的是鸿蒙应用的供给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手机好不好用，取决于有多少应用、多快能上架；工具与官网是供给侧的必经环节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6309360" cy="507492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48237" t="0" b="26000"/>
          <a:stretch/>
        </p:blipFill>
        <p:spPr>
          <a:xfrm>
            <a:off x="548640" y="1417320"/>
            <a:ext cx="6309360" cy="5074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2940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620256" y="153162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743700" y="153162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62940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620256" y="637794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43700" y="625449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1563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供给是怎么来的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68680" y="1874520"/>
            <a:ext cx="5669280" cy="786384"/>
          </a:xfrm>
          <a:prstGeom prst="roundRect">
            <a:avLst>
              <a:gd name="adj" fmla="val 11628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51560" y="1947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注册开发者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22585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1100 万+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931920" y="2258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HDC 2026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602736" y="2679192"/>
            <a:ext cx="201168" cy="237744"/>
          </a:xfrm>
          <a:prstGeom prst="downArrow">
            <a:avLst/>
          </a:prstGeom>
          <a:solidFill>
            <a:srgbClr val="9FBBFB"/>
          </a:solidFill>
          <a:ln w="6350">
            <a:solidFill>
              <a:srgbClr val="9FBBF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8680" y="2953512"/>
            <a:ext cx="5669280" cy="786384"/>
          </a:xfrm>
          <a:prstGeom prst="roundRect">
            <a:avLst>
              <a:gd name="adj" fmla="val 11628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51560" y="302666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用工具开发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1051560" y="33375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四条线在这里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3931920" y="3337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EE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 · 官网 · AGC · AG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3602736" y="3758184"/>
            <a:ext cx="201168" cy="237744"/>
          </a:xfrm>
          <a:prstGeom prst="downArrow">
            <a:avLst/>
          </a:prstGeom>
          <a:solidFill>
            <a:srgbClr val="9FBBFB"/>
          </a:solidFill>
          <a:ln w="6350">
            <a:solidFill>
              <a:srgbClr val="9FBBF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68680" y="4032504"/>
            <a:ext cx="5669280" cy="786384"/>
          </a:xfrm>
          <a:prstGeom prst="roundRect">
            <a:avLst>
              <a:gd name="adj" fmla="val 11628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51560" y="41056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上架应用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1051560" y="44165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 万+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3931920" y="4416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HDC 2026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602736" y="4837176"/>
            <a:ext cx="201168" cy="237744"/>
          </a:xfrm>
          <a:prstGeom prst="downArrow">
            <a:avLst/>
          </a:prstGeom>
          <a:solidFill>
            <a:srgbClr val="9FBBFB"/>
          </a:solidFill>
          <a:ln w="6350">
            <a:solidFill>
              <a:srgbClr val="9FBBF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68680" y="5111496"/>
            <a:ext cx="5669280" cy="786384"/>
          </a:xfrm>
          <a:prstGeom prst="roundRect">
            <a:avLst>
              <a:gd name="adj" fmla="val 11628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51560" y="51846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用户手机上能用的应用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1051560" y="54955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决定鸿蒙好不好用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086600" y="1417320"/>
            <a:ext cx="4553712" cy="1292352"/>
          </a:xfrm>
          <a:prstGeom prst="roundRect">
            <a:avLst>
              <a:gd name="adj" fmla="val 12736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342632" y="1563624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每一步的流失，都是供给的流失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7342632" y="2020824"/>
            <a:ext cx="404164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4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从注册到第一个应用上架，中间每一次「装不上、看不懂、上不去」都会掉人。体验设计在这条链上的杠杆，就是把流失点一个个补掉——这是四条线合起来才做得到的事。</a:t>
            </a:r>
            <a:endParaRPr lang="en-US" sz="940" dirty="0"/>
          </a:p>
        </p:txBody>
      </p:sp>
      <p:sp>
        <p:nvSpPr>
          <p:cNvPr id="37" name="Shape 33"/>
          <p:cNvSpPr/>
          <p:nvPr/>
        </p:nvSpPr>
        <p:spPr>
          <a:xfrm>
            <a:off x="7086600" y="2874264"/>
            <a:ext cx="4553712" cy="1292352"/>
          </a:xfrm>
          <a:prstGeom prst="roundRect">
            <a:avLst>
              <a:gd name="adj" fmla="val 12736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342632" y="30205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今年的商业口径是 38+ 头部公司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7342632" y="3477768"/>
            <a:ext cx="404164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他们的应用决定用户能不能用鸿蒙。对头部公司，我们能给的价值不是「更聪明的 AI」，是「不换工具也能开发鸿蒙」——开放能力装进他们已有的工作流。</a:t>
            </a:r>
            <a:endParaRPr lang="en-US" sz="940" dirty="0"/>
          </a:p>
        </p:txBody>
      </p:sp>
      <p:sp>
        <p:nvSpPr>
          <p:cNvPr id="40" name="Shape 36"/>
          <p:cNvSpPr/>
          <p:nvPr/>
        </p:nvSpPr>
        <p:spPr>
          <a:xfrm>
            <a:off x="7086600" y="4331208"/>
            <a:ext cx="4553712" cy="1292352"/>
          </a:xfrm>
          <a:prstGeom prst="roundRect">
            <a:avLst>
              <a:gd name="adj" fmla="val 12736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342632" y="4477512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长尾与个人开发者是生态的底盘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7342632" y="4934712"/>
            <a:ext cx="404164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他们用 GUI 一站式工具。这一侧的价值是把门槛降到「装好就能开始」，让生态的应用总量持续往上走。</a:t>
            </a:r>
            <a:endParaRPr lang="en-US" sz="940" dirty="0"/>
          </a:p>
        </p:txBody>
      </p:sp>
      <p:sp>
        <p:nvSpPr>
          <p:cNvPr id="43" name="Shape 39"/>
          <p:cNvSpPr/>
          <p:nvPr/>
        </p:nvSpPr>
        <p:spPr>
          <a:xfrm>
            <a:off x="7086600" y="5669280"/>
            <a:ext cx="455371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FBBFB"/>
            </a:solidFill>
            <a:prstDash val="dash"/>
          </a:ln>
        </p:spPr>
      </p:sp>
      <p:sp>
        <p:nvSpPr>
          <p:cNvPr id="44" name="Text 40"/>
          <p:cNvSpPr txBox="1"/>
          <p:nvPr/>
        </p:nvSpPr>
        <p:spPr>
          <a:xfrm>
            <a:off x="7287768" y="5797296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待补充  </a:t>
            </a:r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供给侧的转化数据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7287768" y="6089904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补：从注册到首个应用上架的转化率、四条线各自的流失点与量级——有了这组数，商业价值可以从定性变成定量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548640" y="64190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  开发者 1100 万+ 与上架 40 万+ 为 HDC 2026 公开口径 · 已知局限：供给侧转化率数据未取得</a:t>
            </a:r>
            <a:endParaRPr lang="en-US" sz="750" dirty="0"/>
          </a:p>
        </p:txBody>
      </p:sp>
      <p:sp>
        <p:nvSpPr>
          <p:cNvPr id="47" name="Text 43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产品策略：一句主张，四条策略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每条策略下面是今年对应的动作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8000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5453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主张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764792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不卷模型，做鸿蒙上谁都要经过的那几件事——编译、真机、上架，以及写鸿蒙代码时的那份真值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649474" cy="3977640"/>
          </a:xfrm>
          <a:prstGeom prst="roundRect">
            <a:avLst>
              <a:gd name="adj" fmla="val 621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" y="26974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3044952"/>
            <a:ext cx="21739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两类客户，两种入口，同一套能力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3703320"/>
            <a:ext cx="21739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头部公司经 CLI / MCP / 插件调用；长尾与个人经 Studio 调用。不为两类客户做两套东西。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786384" y="5779008"/>
            <a:ext cx="2173986" cy="548640"/>
          </a:xfrm>
          <a:prstGeom prst="roundRect">
            <a:avLst>
              <a:gd name="adj" fmla="val 13333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5797296"/>
            <a:ext cx="19545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今年落到：融合方案 KIT + TUI + IDE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3362706" y="2514600"/>
            <a:ext cx="2649474" cy="3977640"/>
          </a:xfrm>
          <a:prstGeom prst="roundRect">
            <a:avLst>
              <a:gd name="adj" fmla="val 6212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00450" y="26974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00450" y="3044952"/>
            <a:ext cx="21739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平台方做平台方的事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600450" y="3703320"/>
            <a:ext cx="21739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执行面（编译、真机、UI 校验、崩溃修复）、真值面（API / since / 示例 / 审核规则）、治理面（配额、白名单、审计）——这三样不会因为模型换代而贬值。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3600450" y="5779008"/>
            <a:ext cx="217398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10178" y="5797296"/>
            <a:ext cx="19545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今年落到：Skill 与 MCP 的开放能力样板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176772" y="2514600"/>
            <a:ext cx="2649474" cy="3977640"/>
          </a:xfrm>
          <a:prstGeom prst="roundRect">
            <a:avLst>
              <a:gd name="adj" fmla="val 621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6974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14516" y="3044952"/>
            <a:ext cx="21739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从闭门走向开放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14516" y="3703320"/>
            <a:ext cx="21739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同类厂商走出三条路，我们目前与「闭门」一组；自家 AI 的商业理由减弱后，开放是可以走的方向——让鸿蒙存在于开发者已有的 Agent 里。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6414516" y="5779008"/>
            <a:ext cx="2173986" cy="548640"/>
          </a:xfrm>
          <a:prstGeom prst="roundRect">
            <a:avLst>
              <a:gd name="adj" fmla="val 13333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24244" y="5797296"/>
            <a:ext cx="19545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今年落到：官网 Agent 入口 + agentskills.io 名单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8990838" y="2514600"/>
            <a:ext cx="2649474" cy="3977640"/>
          </a:xfrm>
          <a:prstGeom prst="roundRect">
            <a:avLst>
              <a:gd name="adj" fmla="val 621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28582" y="26974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228582" y="3044952"/>
            <a:ext cx="21739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四个触点，一套语言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228582" y="3703320"/>
            <a:ext cx="21739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Studio / Code / CLI / 官网 的状态、术语与反馈格式一致，让开发者不觉得是四个产品。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9228582" y="5779008"/>
            <a:ext cx="2173986" cy="548640"/>
          </a:xfrm>
          <a:prstGeom prst="roundRect">
            <a:avLst>
              <a:gd name="adj" fmla="val 13333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338310" y="5797296"/>
            <a:ext cx="19545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6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今年落到：体验评估口径与七项运作</a:t>
            </a:r>
            <a:endParaRPr lang="en-US" sz="86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时间线：2026 年 9 月到 2027 年 9 月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四条线叠在一条轴上：版本、汇报与交流、研究与调研、支撑与运作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11480" y="1280160"/>
            <a:ext cx="11365992" cy="5349240"/>
          </a:xfrm>
          <a:prstGeom prst="roundRect">
            <a:avLst>
              <a:gd name="adj" fmla="val 3077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pic>
        <p:nvPicPr>
          <p:cNvPr id="6" name="Image 1" descr="/root/deck/assets/grid_box.png">    </p:cNvPr>
          <p:cNvPicPr>
            <a:picLocks noChangeAspect="1"/>
          </p:cNvPicPr>
          <p:nvPr/>
        </p:nvPicPr>
        <p:blipFill>
          <a:blip r:embed="rId2"/>
          <a:srcRect l="0" r="6752" t="0" b="22000"/>
          <a:stretch/>
        </p:blipFill>
        <p:spPr>
          <a:xfrm>
            <a:off x="411480" y="1280160"/>
            <a:ext cx="11365992" cy="5349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25780" y="13944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25780" y="139446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539728" y="139446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663172" y="1394460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5780" y="651510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25780" y="639165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539728" y="6515100"/>
            <a:ext cx="123444" cy="0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663172" y="6391656"/>
            <a:ext cx="0" cy="123444"/>
          </a:xfrm>
          <a:prstGeom prst="line">
            <a:avLst/>
          </a:prstGeom>
          <a:noFill/>
          <a:ln w="9525">
            <a:solidFill>
              <a:srgbClr val="9FBB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1673352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1401846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2255051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月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3108257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月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3961462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月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4814668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月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5667873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月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6521079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月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374284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月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8227490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月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9080695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月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9933901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月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10787106" y="1673352"/>
            <a:ext cx="8532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月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1435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3961462" y="1435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401846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255051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108257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961462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814668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667873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521079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374284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227490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9080695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9933901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0787106" y="1965960"/>
            <a:ext cx="0" cy="438912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48640" y="2057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847262" y="2295144"/>
            <a:ext cx="1151827" cy="402336"/>
          </a:xfrm>
          <a:prstGeom prst="roundRect">
            <a:avLst>
              <a:gd name="adj" fmla="val 15909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75278" y="2295144"/>
            <a:ext cx="8957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9/30 · 7.0 发布</a:t>
            </a:r>
            <a:endParaRPr lang="en-US" sz="880" dirty="0"/>
          </a:p>
        </p:txBody>
      </p:sp>
      <p:sp>
        <p:nvSpPr>
          <p:cNvPr id="46" name="Shape 42"/>
          <p:cNvSpPr/>
          <p:nvPr/>
        </p:nvSpPr>
        <p:spPr>
          <a:xfrm>
            <a:off x="3364218" y="2295144"/>
            <a:ext cx="1621091" cy="402336"/>
          </a:xfrm>
          <a:prstGeom prst="roundRect">
            <a:avLst>
              <a:gd name="adj" fmla="val 15909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3492234" y="2295144"/>
            <a:ext cx="13650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12/30 · 7.1 发布（融合方案上线）</a:t>
            </a:r>
            <a:endParaRPr lang="en-US" sz="880" dirty="0"/>
          </a:p>
        </p:txBody>
      </p:sp>
      <p:sp>
        <p:nvSpPr>
          <p:cNvPr id="48" name="Shape 44"/>
          <p:cNvSpPr/>
          <p:nvPr/>
        </p:nvSpPr>
        <p:spPr>
          <a:xfrm>
            <a:off x="7971528" y="2295144"/>
            <a:ext cx="1621091" cy="402336"/>
          </a:xfrm>
          <a:prstGeom prst="roundRect">
            <a:avLst>
              <a:gd name="adj" fmla="val 15909"/>
            </a:avLst>
          </a:prstGeom>
          <a:solidFill>
            <a:srgbClr val="0A59F7"/>
          </a:solidFill>
          <a:ln w="6350">
            <a:solidFill>
              <a:srgbClr val="0A59F7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099544" y="2295144"/>
            <a:ext cx="13650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HDC 2027 · 8.0</a:t>
            </a:r>
            <a:endParaRPr lang="en-US" sz="880" dirty="0"/>
          </a:p>
        </p:txBody>
      </p:sp>
      <p:sp>
        <p:nvSpPr>
          <p:cNvPr id="50" name="Text 46"/>
          <p:cNvSpPr txBox="1"/>
          <p:nvPr/>
        </p:nvSpPr>
        <p:spPr>
          <a:xfrm>
            <a:off x="548640" y="28437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汇报与交流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1401846" y="3081528"/>
            <a:ext cx="2474296" cy="347472"/>
          </a:xfrm>
          <a:prstGeom prst="roundRect">
            <a:avLst>
              <a:gd name="adj" fmla="val 18421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529862" y="3081528"/>
            <a:ext cx="2218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 · 融合方案 → 毛总</a:t>
            </a:r>
            <a:endParaRPr lang="en-US" sz="880" dirty="0"/>
          </a:p>
        </p:txBody>
      </p:sp>
      <p:sp>
        <p:nvSpPr>
          <p:cNvPr id="53" name="Shape 49"/>
          <p:cNvSpPr/>
          <p:nvPr/>
        </p:nvSpPr>
        <p:spPr>
          <a:xfrm>
            <a:off x="4046783" y="3081528"/>
            <a:ext cx="3071540" cy="347472"/>
          </a:xfrm>
          <a:prstGeom prst="roundRect">
            <a:avLst>
              <a:gd name="adj" fmla="val 18421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174799" y="3081528"/>
            <a:ext cx="28155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年底 · 向 +3 / +4 汇报：商业价值与产品策略 + DEMO → 高老师</a:t>
            </a:r>
            <a:endParaRPr lang="en-US" sz="880" dirty="0"/>
          </a:p>
        </p:txBody>
      </p:sp>
      <p:sp>
        <p:nvSpPr>
          <p:cNvPr id="55" name="Shape 51"/>
          <p:cNvSpPr/>
          <p:nvPr/>
        </p:nvSpPr>
        <p:spPr>
          <a:xfrm>
            <a:off x="1401846" y="3465576"/>
            <a:ext cx="2474296" cy="347472"/>
          </a:xfrm>
          <a:prstGeom prst="roundRect">
            <a:avLst>
              <a:gd name="adj" fmla="val 18421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1529862" y="3465576"/>
            <a:ext cx="2218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 · 创新方案 → 马汉卿</a:t>
            </a:r>
            <a:endParaRPr lang="en-US" sz="880" dirty="0"/>
          </a:p>
        </p:txBody>
      </p:sp>
      <p:sp>
        <p:nvSpPr>
          <p:cNvPr id="57" name="Text 53"/>
          <p:cNvSpPr txBox="1"/>
          <p:nvPr/>
        </p:nvSpPr>
        <p:spPr>
          <a:xfrm>
            <a:off x="548640" y="3995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研究与调研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548640" y="4233672"/>
            <a:ext cx="11091672" cy="329184"/>
          </a:xfrm>
          <a:prstGeom prst="roundRect">
            <a:avLst>
              <a:gd name="adj" fmla="val 19444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76656" y="4233672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双周监测：鸿蒙开发者体验（每月 1 / 15）· 竞品雷达（每月 8 / 22）</a:t>
            </a:r>
            <a:endParaRPr lang="en-US" sz="880" dirty="0"/>
          </a:p>
        </p:txBody>
      </p:sp>
      <p:sp>
        <p:nvSpPr>
          <p:cNvPr id="60" name="Shape 56"/>
          <p:cNvSpPr/>
          <p:nvPr/>
        </p:nvSpPr>
        <p:spPr>
          <a:xfrm>
            <a:off x="591300" y="4599432"/>
            <a:ext cx="2815578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719316" y="4599432"/>
            <a:ext cx="25595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客户访谈：外部 / 内部 beta 样本（9 月起）</a:t>
            </a:r>
            <a:endParaRPr lang="en-US" sz="880" dirty="0"/>
          </a:p>
        </p:txBody>
      </p:sp>
      <p:sp>
        <p:nvSpPr>
          <p:cNvPr id="62" name="Shape 58"/>
          <p:cNvSpPr/>
          <p:nvPr/>
        </p:nvSpPr>
        <p:spPr>
          <a:xfrm>
            <a:off x="1401846" y="4965192"/>
            <a:ext cx="2047693" cy="347472"/>
          </a:xfrm>
          <a:prstGeom prst="roundRect">
            <a:avLst>
              <a:gd name="adj" fmla="val 18421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1529862" y="4965192"/>
            <a:ext cx="17916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月 研究线启动 · 头部公司定向调研</a:t>
            </a:r>
            <a:endParaRPr lang="en-US" sz="880" dirty="0"/>
          </a:p>
        </p:txBody>
      </p:sp>
      <p:sp>
        <p:nvSpPr>
          <p:cNvPr id="64" name="Shape 60"/>
          <p:cNvSpPr/>
          <p:nvPr/>
        </p:nvSpPr>
        <p:spPr>
          <a:xfrm>
            <a:off x="3534859" y="4965192"/>
            <a:ext cx="1877052" cy="347472"/>
          </a:xfrm>
          <a:prstGeom prst="roundRect">
            <a:avLst>
              <a:gd name="adj" fmla="val 18421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3662875" y="4965192"/>
            <a:ext cx="1621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10–11 月 · BP 规划</a:t>
            </a:r>
            <a:endParaRPr lang="en-US" sz="880" dirty="0"/>
          </a:p>
        </p:txBody>
      </p:sp>
      <p:sp>
        <p:nvSpPr>
          <p:cNvPr id="66" name="Text 62"/>
          <p:cNvSpPr txBox="1"/>
          <p:nvPr/>
        </p:nvSpPr>
        <p:spPr>
          <a:xfrm>
            <a:off x="548640" y="5458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支撑与运作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548640" y="5696712"/>
            <a:ext cx="11091672" cy="329184"/>
          </a:xfrm>
          <a:prstGeom prst="roundRect">
            <a:avLst>
              <a:gd name="adj" fmla="val 19444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676656" y="5696712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体验例会 · 版本检视 · 问题闭环（常态）</a:t>
            </a:r>
            <a:endParaRPr lang="en-US" sz="880" dirty="0"/>
          </a:p>
        </p:txBody>
      </p:sp>
      <p:sp>
        <p:nvSpPr>
          <p:cNvPr id="69" name="Shape 65"/>
          <p:cNvSpPr/>
          <p:nvPr/>
        </p:nvSpPr>
        <p:spPr>
          <a:xfrm>
            <a:off x="591300" y="6062472"/>
            <a:ext cx="1365129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719316" y="6062472"/>
            <a:ext cx="11090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930 发布活动支撑</a:t>
            </a:r>
            <a:endParaRPr lang="en-US" sz="880" dirty="0"/>
          </a:p>
        </p:txBody>
      </p:sp>
      <p:sp>
        <p:nvSpPr>
          <p:cNvPr id="71" name="Shape 67"/>
          <p:cNvSpPr/>
          <p:nvPr/>
        </p:nvSpPr>
        <p:spPr>
          <a:xfrm>
            <a:off x="2041750" y="6062472"/>
            <a:ext cx="2218334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2169766" y="6062472"/>
            <a:ext cx="19623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体验评估：930 基线 → 1030 迭代</a:t>
            </a:r>
            <a:endParaRPr lang="en-US" sz="880" dirty="0"/>
          </a:p>
        </p:txBody>
      </p:sp>
      <p:sp>
        <p:nvSpPr>
          <p:cNvPr id="73" name="Shape 69"/>
          <p:cNvSpPr/>
          <p:nvPr/>
        </p:nvSpPr>
        <p:spPr>
          <a:xfrm>
            <a:off x="4345405" y="6062472"/>
            <a:ext cx="2559617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4473421" y="6062472"/>
            <a:ext cx="23035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每版本按模型验收 · 进体验治理度量</a:t>
            </a:r>
            <a:endParaRPr lang="en-US" sz="880" dirty="0"/>
          </a:p>
        </p:txBody>
      </p:sp>
      <p:sp>
        <p:nvSpPr>
          <p:cNvPr id="75" name="Text 71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风险与团队组成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风险按「不处理会怎样」写；团队按岗位口径写现状，不含人名与工号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四条风险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309360" cy="1081278"/>
          </a:xfrm>
          <a:prstGeom prst="roundRect">
            <a:avLst>
              <a:gd name="adj" fmla="val 1522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9110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8928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四条线的覆盖与交接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08192" y="1929384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08192" y="192938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关注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221992"/>
            <a:ext cx="530352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四条线合起来才是完整的开发者旅程；断点通常出现在交接处——写完代码去上架、查完文档回工具。覆盖面随范围确定后再对齐。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548640" y="2992374"/>
            <a:ext cx="6309360" cy="1081278"/>
          </a:xfrm>
          <a:prstGeom prst="roundRect">
            <a:avLst>
              <a:gd name="adj" fmla="val 1522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" y="312039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10210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差异化窗口以周计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08192" y="3138678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08192" y="313867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高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3431286"/>
            <a:ext cx="530352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R02 显示 Codex、VS Code、OpenCode 在同时补多文件改动审阅；原本判断「可差异化」的那块，窗口正在关闭。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548640" y="4201668"/>
            <a:ext cx="6309360" cy="1081278"/>
          </a:xfrm>
          <a:prstGeom prst="roundRect">
            <a:avLst>
              <a:gd name="adj" fmla="val 1522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" y="43296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98448" y="43113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上游依赖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08192" y="4347972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08192" y="434797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中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298448" y="4640580"/>
            <a:ext cx="530352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DevEco Code 的上游归属已变更并进入 2.0 重写。License 风险本期已结清，但断裂成本与同步路径要尽早评估。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548640" y="5410962"/>
            <a:ext cx="6309360" cy="1081278"/>
          </a:xfrm>
          <a:prstGeom prst="roundRect">
            <a:avLst>
              <a:gd name="adj" fmla="val 15222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" y="553897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298448" y="552069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关键信息尚未对齐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108192" y="555726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08192" y="555726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中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1298448" y="5849874"/>
            <a:ext cx="530352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7.1 融合的具体范围与界面、对面部长对阶段三（深层互动场景）的期望与考核口径——这两条不对齐，十月汇报会讲偏。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7086600" y="1417320"/>
            <a:ext cx="4553712" cy="5074920"/>
          </a:xfrm>
          <a:prstGeom prst="roundRect">
            <a:avLst>
              <a:gd name="adj" fmla="val 3614"/>
            </a:avLst>
          </a:prstGeom>
          <a:solidFill>
            <a:srgbClr val="0D0D0D"/>
          </a:solidFill>
          <a:ln w="6350">
            <a:solidFill>
              <a:srgbClr val="0D0D0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60920" y="1600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团队组成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360920" y="1856232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组内现有 11 人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7360920" y="233172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四条线要覆盖的岗位面（岗位口径）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360920" y="2743200"/>
            <a:ext cx="4005072" cy="475488"/>
          </a:xfrm>
          <a:prstGeom prst="roundRect">
            <a:avLst>
              <a:gd name="adj" fmla="val 15385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98080" y="274320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9857232" y="2743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UX 2 · UI 1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360920" y="3310128"/>
            <a:ext cx="4005072" cy="475488"/>
          </a:xfrm>
          <a:prstGeom prst="roundRect">
            <a:avLst>
              <a:gd name="adj" fmla="val 15385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498080" y="331012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开发者官网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9857232" y="33101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UX 2 · UI 1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360920" y="3877056"/>
            <a:ext cx="4005072" cy="475488"/>
          </a:xfrm>
          <a:prstGeom prst="roundRect">
            <a:avLst>
              <a:gd name="adj" fmla="val 15385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98080" y="387705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AGC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9857232" y="38770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A6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UX 1 · UI 1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360920" y="4443984"/>
            <a:ext cx="4005072" cy="475488"/>
          </a:xfrm>
          <a:prstGeom prst="roundRect">
            <a:avLst>
              <a:gd name="adj" fmla="val 15385"/>
            </a:avLst>
          </a:prstGeom>
          <a:solidFill>
            <a:srgbClr val="2A2A2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498080" y="444398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9857232" y="44439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UX 1 · UI 1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360920" y="5102352"/>
            <a:ext cx="4005072" cy="512064"/>
          </a:xfrm>
          <a:prstGeom prst="roundRect">
            <a:avLst>
              <a:gd name="adj" fmla="val 14286"/>
            </a:avLst>
          </a:prstGeom>
          <a:solidFill>
            <a:srgbClr val="1F1F1F"/>
          </a:solidFill>
          <a:ln w="6350">
            <a:solidFill>
              <a:srgbClr val="1F1F1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498080" y="51023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四条线合计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9491472" y="510235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FBF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UX 6 · UI 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7360920" y="5760720"/>
            <a:ext cx="40050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 一条线是否纳入今年的范围待定</a:t>
            </a:r>
            <a:endParaRPr lang="en-US" sz="900" dirty="0"/>
          </a:p>
          <a:p>
            <a:pPr algn="l" marL="177800" indent="-177800">
              <a:lnSpc>
                <a:spcPct val="12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具体怎么铺，等范围定下来再对齐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h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需要盼总支持的几件事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都是这个季度内会用到的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14316" y="167335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14316" y="1673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月内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627632"/>
            <a:ext cx="3259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与终端开发者平台部的对接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103120"/>
            <a:ext cx="42656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十月的创新方案汇报是与马汉卿部长的下一次交流，请在汇报定调上支持；同时打通出资人与决策人的直接沟通。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5916" y="14173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60236" y="1645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451592" y="167335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51592" y="1673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月内定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7054596" y="1627632"/>
            <a:ext cx="3259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十月汇报的口径与场合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054596" y="2103120"/>
            <a:ext cx="42656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融合方案向毛总、高老师、马汉卿汇报：时间、场合、谁陪同；「已合入 + 效果验证中」的口径请您把关。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0462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2748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814316" y="430225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14316" y="43022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月内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256532"/>
            <a:ext cx="3259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评价标准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732020"/>
            <a:ext cx="42656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这条线「做到什么算好」——本季度与年度口径请一起定下来。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85916" y="4046220"/>
            <a:ext cx="5454396" cy="2446020"/>
          </a:xfrm>
          <a:prstGeom prst="roundRect">
            <a:avLst>
              <a:gd name="adj" fmla="val 6729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60236" y="42748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5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451592" y="430225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451592" y="43022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9–10 月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7054596" y="4256532"/>
            <a:ext cx="3259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既有三条线的交接节奏与协同接口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054596" y="4732020"/>
            <a:ext cx="42656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openUBMC Studio、Kunpeng DevKit、CANN 整体交接，10 月完成；与中央媒体院的协同接口 10 月建立。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icon_s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38912" cy="4389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3856" y="4114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后续三份材料，与待确认的事项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133856" y="9601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细节按主题拆成三份单独做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31536" cy="507492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618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后续材料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04672" y="1965960"/>
            <a:ext cx="491947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7552" y="207568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《融合方案》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82896" y="210312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82896" y="21031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待制作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238658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重点一 · 十月汇报用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987552" y="2642616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挑战点回答、7.1 融合内容、效果数据、演示脚本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4672" y="3429000"/>
            <a:ext cx="491947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7552" y="353872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《体验设计运作》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882896" y="356616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8EBEE"/>
          </a:solidFill>
          <a:ln w="6350">
            <a:solidFill>
              <a:srgbClr val="E8EB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82896" y="35661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待制作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987552" y="384962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重点二 · 七项运作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4105656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七项机制、责任人、节奏、产出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04672" y="4892040"/>
            <a:ext cx="491947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7552" y="500176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《研究洞察与竞品》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858768" y="5029200"/>
            <a:ext cx="1682496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 w="6350">
            <a:solidFill>
              <a:srgbClr val="E6EEF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58768" y="502920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9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已有（26 页，v2）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987552" y="531266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重点二 · 创新一项的来源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87552" y="5568696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冲击、横向拉通、开门 / 绕行 / 闭门、雷达 R01 / R02、四个设计点、前瞻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08776" y="1417320"/>
            <a:ext cx="5431536" cy="507492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6350">
            <a:solidFill>
              <a:srgbClr val="F1F3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64808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待确认事项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464808" y="1984248"/>
            <a:ext cx="491947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34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各人沟通渠道偏好与建联进度（第 10 页）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AGC / AG 两条线的现状与 26 年体验规划（第 6 页）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7.1 融合的入口、流程、界面与合入范围；与 DevEco Code 的关系（第 12 页）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阶段三（深层互动场景）的期望与考核口径（第 13 页）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创新点进 8.0 规划的机制、BP 格式与提交时间（第 24 页）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问题清单位置、上一版本问题数与闭环率、例会里 UX 议题占比（第 18 页）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评估模型的维度与评分方式、上次结果、930 / 1030 各要改什么（第 19 页）</a:t>
            </a:r>
            <a:endParaRPr lang="en-US" sz="950" dirty="0"/>
          </a:p>
          <a:p>
            <a:pPr algn="l" marL="177800" indent="-177800">
              <a:lnSpc>
                <a:spcPct val="134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供给侧转化率：注册到首个应用上架（第 41 页）；38+ 头部公司名单口径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assets/word_RUNW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968" y="1691640"/>
            <a:ext cx="7749982" cy="1325880"/>
          </a:xfrm>
          <a:prstGeom prst="rect">
            <a:avLst/>
          </a:prstGeom>
        </p:spPr>
      </p:pic>
      <p:pic>
        <p:nvPicPr>
          <p:cNvPr id="3" name="Image 1" descr="/root/deck/assets/icon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438912" cy="4389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两个重点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十月讲清融合方案，创新点做进 8.0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体验设计七项按节奏跑起来，创新一项 10 月启动、10–11 月 BP；融合方案随 12/30 的 7.1 上线；前两个月把对面的关系建起来。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434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四条线合起来才是完整的开发者旅程。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1091672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鸿蒙开发工具体验 · 现状、创新与业务发展想法</dc:title>
  <dc:subject>PptxGenJS Presentation</dc:subject>
  <dc:creator>Cindy</dc:creator>
  <cp:lastModifiedBy>Cindy</cp:lastModifiedBy>
  <cp:revision>1</cp:revision>
  <dcterms:created xsi:type="dcterms:W3CDTF">2026-09-09T04:50:52Z</dcterms:created>
  <dcterms:modified xsi:type="dcterms:W3CDTF">2026-09-09T04:50:52Z</dcterms:modified>
</cp:coreProperties>
</file>