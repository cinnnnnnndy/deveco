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</p:sldIdLst>
  <p:notesMasterIdLst>
    <p:notesMasterId r:id="rId1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这一页的第一句是可以直接转述的：1100 万注册里只有 10 到 20 万真正交付出应用，卡口在工具和验证环节。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纠缠“是不是第一个AGI”——那是发布会上的个人表态，站不站得住不是我们要回应的。这页要讲清楚的是：模型自主长时任务能力这一跳，让交互默认方式从“指挥”变成“托付”，体验设计的核心命题也跟着从“好不好操作”变成“敢不敢托付、看不看得见、能不能叫停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Apple 开发者论坛 FB22008758，2026-02 提交、03 回复，26.3 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这条的空位是立论支点，建议实机复现一次再对外讲。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官方论坛已确认“并发过大触发排队控制”，但界面上一个字都没说；同期工具链下载涨 127%，Agent 只涨 1.2%。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对齐两端时钟这件事有技术前提，需要与调试服务侧确认可行性再对外承诺。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这一页回答的是“凭什么说这些创新点有用”。四个指标里前三个版本内可测，满意度是结果指标。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这一页是主动把业务周期的风险说出来，而不是等被问。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6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image" Target="../media/image-6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063240"/>
            <a:ext cx="8449056" cy="1508760"/>
          </a:xfrm>
          <a:prstGeom prst="rect">
            <a:avLst/>
          </a:prstGeom>
        </p:spPr>
      </p:pic>
      <p:pic>
        <p:nvPicPr>
          <p:cNvPr id="4" name="Image 2" descr="deck/icon-ba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2286000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鸿蒙开发工具 · 创新方向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2615184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 8.X</a:t>
            </a:r>
            <a:endParaRPr lang="en-US" sz="4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体验规划与创新</a:t>
            </a:r>
            <a:endParaRPr lang="en-US" sz="46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5354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三个方向，一条创新点两页：先讲场景与别人做到哪，再讲我们怎么做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658368" y="513892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658368" y="513892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2026-09-13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1847088" y="5138928"/>
            <a:ext cx="6133795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1847088" y="5138928"/>
            <a:ext cx="61337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 Android Studio · Xcode · 微信开发者工具 · Cursor · Claude Code · Codex · Qoder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8108899" y="5138928"/>
            <a:ext cx="1964131" cy="310896"/>
          </a:xfrm>
          <a:prstGeom prst="roundRect">
            <a:avLst>
              <a:gd name="adj" fmla="val 50000"/>
            </a:avLst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108899" y="5138928"/>
            <a:ext cx="19641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8.X 候选，11–12 月进 BP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为什么值得投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1100 万人注册，只有 10 到 20 万人真的交付出应用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九成以上漏在注册和交付之间。卡口不在语言、不在模型，在工具和验证环节——这条设计线的活，就是把这几个卡口一个一个打开。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1100 万+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注册开发者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HDC 2026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5032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50–150 万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过去一年写过鸿蒙代码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5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本方估算 · 置信度中低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16752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10–20 万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有上架产出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5A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本方估算 · 置信度中低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769096" y="314553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2560320"/>
            <a:ext cx="2587752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2724912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万+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3328416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原生鸿蒙应用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74904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HEC 2026 · 08-28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22452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中间两级是估算，不是官方口径；注册数含历史与学生账号，不等于鸿蒙专属。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8000 万台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HarmonyOS 6 终端，Q4 预计破 1 亿（HEC 2026）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28160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84192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84192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中国手机销量的系统份额，Android 58% · iOS 18%（Counterpoint 2Q26）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97952" y="4773168"/>
            <a:ext cx="3505200" cy="1170432"/>
          </a:xfrm>
          <a:prstGeom prst="roundRect">
            <a:avLst>
              <a:gd name="adj" fmla="val 10156"/>
            </a:avLst>
          </a:prstGeom>
          <a:solidFill>
            <a:srgbClr val="F4F6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53984" y="4937760"/>
            <a:ext cx="299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38+ 家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53984" y="5376672"/>
            <a:ext cx="2993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今年要进的头部公司。他们不换工具，只开 CLI 与插件的门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业务现状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两类客户、两种入口，同一套平台能力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业务不是一个面向所有人的 IDE，是两条并行的入口，共享同一层构建、验证与上架能力。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 ／ TUI ／插件入口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服务：38+ 家头部公司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950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他们有自己的 IDE 和工作流，不换工具——只开命令行与插件的门，部分可能要求开源才敢用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1068019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74720"/>
            <a:ext cx="10680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CLI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55571" y="3474720"/>
            <a:ext cx="435620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55571" y="3474720"/>
            <a:ext cx="435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4343" y="3474720"/>
            <a:ext cx="887334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64343" y="3474720"/>
            <a:ext cx="8873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Skills 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4700" y="3858768"/>
            <a:ext cx="0" cy="256032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90488" y="2103120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E6EE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2860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GUI 入口（DevEco Studio）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服务：小厂与个人开发者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889504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没有专职工具人，要的是开箱即用的完整 IDE，从写代码到真机调试一站做完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3474720"/>
            <a:ext cx="13390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474720"/>
            <a:ext cx="13390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58719" y="3474720"/>
            <a:ext cx="115836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58719" y="3474720"/>
            <a:ext cx="11583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Code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46820" y="3858768"/>
            <a:ext cx="0" cy="256032"/>
          </a:xfrm>
          <a:prstGeom prst="line">
            <a:avLst/>
          </a:prstGeom>
          <a:noFill/>
          <a:ln w="15875">
            <a:solidFill>
              <a:srgbClr val="A3A3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8368" y="4224528"/>
            <a:ext cx="10844784" cy="1371600"/>
          </a:xfrm>
          <a:prstGeom prst="roundRect">
            <a:avLst>
              <a:gd name="adj" fmla="val 8667"/>
            </a:avLst>
          </a:prstGeom>
          <a:solidFill>
            <a:srgbClr val="F4F6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同一套平台能力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4754880"/>
            <a:ext cx="66385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754880"/>
            <a:ext cx="663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构建与签名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51406" y="4754880"/>
            <a:ext cx="56400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651406" y="4754880"/>
            <a:ext cx="564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真机调试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8560" y="4754880"/>
            <a:ext cx="66385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288560" y="4754880"/>
            <a:ext cx="6638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多设备适配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25567" y="4754880"/>
            <a:ext cx="56400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025567" y="4754880"/>
            <a:ext cx="5640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上架审核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62721" y="4754880"/>
            <a:ext cx="176223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662721" y="4754880"/>
            <a:ext cx="176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ArkTS 语言与 API 知识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5742432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类比：像机场——不同航空公司在各自值机柜台服务不同旅客，却共享同一套跑道、安检与地勤能力。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6016752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来源：生态调研；竞品分析；内部口径，核实于 2026-09-20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业务现状 · 两条路径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两条路径：</a:t>
            </a:r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头部公司要质量，小厂与个人开发者要数量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生态增长依赖两条并行路径，核心诉求与推进方式不同。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03704" y="2011680"/>
            <a:ext cx="4585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头部公司 · 物联网方向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917436" y="2011680"/>
            <a:ext cx="45857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小厂与个人开发者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468880"/>
            <a:ext cx="10844784" cy="4206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6888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核心诉求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13432" y="2468880"/>
            <a:ext cx="4366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旗舰应用的可用性与体验质量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027164" y="2468880"/>
            <a:ext cx="4366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应用产出的数量与效率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889504"/>
            <a:ext cx="1289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当前触点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13432" y="2889504"/>
            <a:ext cx="4366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保留自有 IDE，经 CLI／TUI／插件接入平台能力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27164" y="2889504"/>
            <a:ext cx="43662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依赖完整 GUI（DevEco Studio），开箱即用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10844784" cy="548640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383280"/>
            <a:ext cx="1289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体验压力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313432" y="3383280"/>
            <a:ext cx="4366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工具迁移的组织成本刚性存在；旗舰应用体验直接影响生态口碑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027164" y="3383280"/>
            <a:ext cx="4366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缺少专职工具人力；学习成本与上架规则构成门槛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93192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体验目标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313432" y="3931920"/>
            <a:ext cx="4366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应用及时上线，体验与旗舰标准对齐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27164" y="3931920"/>
            <a:ext cx="43662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提升应用产出效率与发布速度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352544"/>
            <a:ext cx="10844784" cy="585216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4352544"/>
            <a:ext cx="12893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本年度进展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313432" y="4352544"/>
            <a:ext cx="43662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触点收敛至 CLI／TUI／插件；CLI 开放 Skill／MCP，随 7.1 于 12/30 发布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27164" y="4352544"/>
            <a:ext cx="43662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Studio／Code／CLI 三端融合推进中，阶段二已合入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937760"/>
            <a:ext cx="1289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下一步规划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13432" y="4937760"/>
            <a:ext cx="43662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深层互动场景方案待定，列为 8.X 候选（阶段三）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27164" y="4937760"/>
            <a:ext cx="43662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四类创新方向持续推进：11 月方案汇报，11–12 月纳入 BP，2027-06 随 HDC 进入 8.0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39696" y="2011680"/>
            <a:ext cx="0" cy="3547872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3428" y="2011680"/>
            <a:ext cx="0" cy="3547872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5687568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来源：作战文档；方向分析；内部口径，核实于 2026-09-21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业务现状 · AI Coding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Coding：</a:t>
            </a:r>
            <a:pPr indent="0" marL="0">
              <a:lnSpc>
                <a:spcPct val="114000"/>
              </a:lnSpc>
              <a:buNone/>
            </a:pPr>
            <a:r>
              <a:rPr lang="en-US" sz="1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 Agent 都会写代码，编译、真机、上架这段只有我们能做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写代码的能力会越来越强，这一层的优势会被模型进步持续拉平；我们守住的是它做不到的那一段——把代码变成一个能在真机上跑起来、装进去、卖出去的应用。这是项目工程级的能力，不是单文件补全，且要在 Windows 版与鸿蒙版两条线上同时说清楚。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39696"/>
            <a:ext cx="1419880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139696"/>
            <a:ext cx="141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编译打包（hvigor）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51400" y="2139696"/>
            <a:ext cx="373807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51400" y="2139696"/>
            <a:ext cx="3738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8359" y="2139696"/>
            <a:ext cx="896844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98359" y="2139696"/>
            <a:ext cx="896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真机部署与调试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8355" y="2139696"/>
            <a:ext cx="583021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8355" y="2139696"/>
            <a:ext cx="5830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上架审核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615184"/>
            <a:ext cx="5312664" cy="283464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277977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当代 · Windows 版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07238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 DevEco Studio，IntelliJ 平台系 · Windows／macOS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" y="3364992"/>
            <a:ext cx="4837176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474720"/>
            <a:ext cx="48371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主力工具，93.7% 鸿蒙开发者在用、满意与非常满意 75.7%（InfoQ 2025，n=625）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能力经 CodeGenie 插件接入：DeepSeek RAG、代码解释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编译打包（hvigor）、签名、真机部署（hdc）、上架审核已在这一版本里闭环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成熟产品，改造阻力最大——动它的排期和风险都高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90488" y="2615184"/>
            <a:ext cx="5312664" cy="2834640"/>
          </a:xfrm>
          <a:prstGeom prst="roundRect">
            <a:avLst>
              <a:gd name="adj" fmla="val 4194"/>
            </a:avLst>
          </a:prstGeom>
          <a:solidFill>
            <a:srgbClr val="E6EEF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28232" y="2779776"/>
            <a:ext cx="4837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 · 鸿蒙版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307238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 NEXT，鸿蒙原生重写，OSG 在研（周例会跟进）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28232" y="3364992"/>
            <a:ext cx="4837176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3474720"/>
            <a:ext cx="483717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目标形态：IDE 本身跑在鸿蒙设备上，不再依赖 Windows／macOS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Coding 具体做哪些场景、复用当代哪些能力——还没拍板，需要和产品对齐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编译、真机、上架这条链路是原样带过去，还是趁重写重新设计，是要决定的问题</a:t>
            </a:r>
            <a:endParaRPr lang="en-US" sz="1050" dirty="0"/>
          </a:p>
          <a:p>
            <a:pPr marL="342900" indent="-342900">
              <a:lnSpc>
                <a:spcPct val="128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内部口径，尚在推进中，具体范围与节奏本轮未独立核实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5650992"/>
            <a:ext cx="10844784" cy="566928"/>
          </a:xfrm>
          <a:prstGeom prst="roundRect">
            <a:avLst>
              <a:gd name="adj" fmla="val 20968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5650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工具生态目标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5650992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HarmonyOS 终端设备 8000 万台（HEC 2026 ・ 08-28），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预计 2026 Q4 破 1 亿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——工具生态要跟上这个盘子扩张的速度。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6345936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来源：作战文档；鸿蒙开发者生态调研结论；内部组织与例会口径，核实于 2026-09-21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业务现状 · AI Coding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的 MCP 已经把调试、scheme、构建设置开给 Claude：执行面的门不是天然锁死，是苹果选择开了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苹果 2026-02-03 起在 Xcode 26.3 原生接入 Claude Agent 与 Codex；Xcode 27（beta 6，08-24，预计 9 月正式）把 MCP 扩到 mcpbridge 约 20 项能力，覆盖调试、scheme、构建设置，同时支持 Agent Client Protocol（ACP）双向接入。官方原文：</a:t>
            </a:r>
            <a:pPr indent="0" marL="0">
              <a:lnSpc>
                <a:spcPct val="132000"/>
              </a:lnSpc>
              <a:buNone/>
            </a:pPr>
            <a:r>
              <a:rPr lang="en-US" sz="1200" i="1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“modify your Xcode project and perform actions, such as building your app”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3559576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194560"/>
            <a:ext cx="355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2026-02-03 原生接入 Claude Agent／Codex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1096" y="2194560"/>
            <a:ext cx="2461199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1096" y="2194560"/>
            <a:ext cx="2461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27 beta 6 · 08-24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25447" y="2194560"/>
            <a:ext cx="1662379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25447" y="2194560"/>
            <a:ext cx="1662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mcpbridge ≈20 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60979" y="2194560"/>
            <a:ext cx="1462674" cy="292608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60979" y="2194560"/>
            <a:ext cx="1462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同时支持 ACP 双向接入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2724912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27 · MCP（mcpbridge）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63156" y="2724912"/>
            <a:ext cx="4539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CLI · MCP（serve mcp）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3054096"/>
            <a:ext cx="1084478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63824"/>
            <a:ext cx="10844784" cy="4206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163824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开放范围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04872" y="3163824"/>
            <a:ext cx="4320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20 项能力，覆盖调试、scheme、构建设置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072884" y="3163824"/>
            <a:ext cx="4320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仅暴露 ArkTS／C++ 语法检查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584448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双向协议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404872" y="3584448"/>
            <a:ext cx="4320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同时支持 ACP——外部 Agent 可反向进入 Xcode 当“大脑”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072884" y="3584448"/>
            <a:ext cx="4320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未接 ACP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005072"/>
            <a:ext cx="10844784" cy="822960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4005072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模拟器与真机运行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404872" y="4005072"/>
            <a:ext cx="43205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官方未逐条列出“启动模拟器”为独立工具名；调试、scheme、构建设置通常即含运行目标，推断大概率覆盖，但未见官方逐项确认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072884" y="4005072"/>
            <a:ext cx="43205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构建与调试仍依赖 Studio，无独立 MCP 能力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31136" y="2724912"/>
            <a:ext cx="0" cy="21031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99148" y="2724912"/>
            <a:ext cx="0" cy="21031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5010912"/>
            <a:ext cx="10844784" cy="566928"/>
          </a:xfrm>
          <a:prstGeom prst="roundRect">
            <a:avLst>
              <a:gd name="adj" fmla="val 16129"/>
            </a:avLst>
          </a:prstGeom>
          <a:solidFill>
            <a:srgbClr val="E6EEF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0109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对我们的意义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578608" y="5010912"/>
            <a:ext cx="8741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苹果没有把“跑起来”这道题留给自己——执行面的钥匙已经给出去一部分；我们的钥匙目前只开了语法检查这一间屋子。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568756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来源：竞品分析·IDE与Agent工具链；监测·竞品雷达累积；方向分析·融合方案评估与创新机会点，核实于 2026-09-21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888736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已知局限：官方未逐条列出“模拟器启动”是否为 mcpbridge 独立工具，现有证据止于调试／scheme／构建设置与“building your app”表述，不排除已覆盖但未见官方逐项枚举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核心痛点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大公司与小团队面临的核心痛点并不相同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5179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工具本身口碑不差——使用率 93.7%、满意加非常满意 75.7%（InfoQ 2025 开发者调研，n=625，其中鸿蒙开发者 526）。掉人的不是工具好不好用，是几个特定环节过不去。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58368" y="2542032"/>
            <a:ext cx="5312664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32688" y="272491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头部公司 · 38+ 家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309067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他们有自己的 IDE 和流水线，只开 CLI 与插件的门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32688" y="3511296"/>
            <a:ext cx="4764024" cy="749808"/>
          </a:xfrm>
          <a:prstGeom prst="roundRect">
            <a:avLst>
              <a:gd name="adj" fmla="val 13415"/>
            </a:avLst>
          </a:prstGeom>
          <a:solidFill>
            <a:srgbClr val="E6EEF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5568" y="3584448"/>
            <a:ext cx="4398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卡在：检查项接不进流水线、大工程跑不动、多形态验证成本高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431596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今年的主要 KPI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190488" y="2542032"/>
            <a:ext cx="5312664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64808" y="2724912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小厂与个人开发者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64808" y="3090672"/>
            <a:ext cx="4764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没有专职工具人，要的是开箱就能用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64808" y="3511296"/>
            <a:ext cx="4764024" cy="749808"/>
          </a:xfrm>
          <a:prstGeom prst="roundRect">
            <a:avLst>
              <a:gd name="adj" fmla="val 13415"/>
            </a:avLst>
          </a:prstGeom>
          <a:solidFill>
            <a:srgbClr val="E6EEF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47688" y="3584448"/>
            <a:ext cx="4398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卡在：发版前不知道会被打回哪条、手上没有手表车机、长任务不知道跑到哪了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64808" y="431596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生态热度的来源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" y="4791456"/>
            <a:ext cx="10844784" cy="1444752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32688" y="4937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一个已经出现的信号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" y="5193792"/>
            <a:ext cx="10296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工具链（DevEco CLI）在被采纳，Agent（DevEco Code）没有被采纳。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同生态、同日发版、同渠道，30 日下载：CLI 2,732→6,197（+127%），Code 6,014→6,084（+1.2%）。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32688" y="5779008"/>
            <a:ext cx="10296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口径：npm 逐日数据本地求和，含 CI 与镜像重复安装，只看趋势不推人数；两期采集窗口重叠，需后续期确认。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638251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人愿意用工具，但还不愿意把活交给它——这决定了创新该往哪使劲。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依据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并非主观判断：</a:t>
            </a:r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BUTP 四个维度共同指向同一结论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51790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生意、用户、技术、产品四条线分开查，结论却落在同一批地方——这决定了后面该挑哪些创新点先做。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58368" y="2432304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896112" y="26334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08176" y="2651760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127248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目标从铺量转向留住头部公司：今年要进 38+ 家，他们不换工具，只开 CLI 与插件的门，触点收窄为 DevEco Studio · DevEco Code · DevEco CLI 加官网。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89534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关联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481328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481328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83664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83664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0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286000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0488" y="2432304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428232" y="26334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28232" y="2633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40296" y="2651760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28232" y="3127248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开发者信任 AI 输出准确性只有 33%，Gartner 预测到 2027 年 65% 的智能体编程团队会把传统 IDE 当“可选项”——开发动作正在离开 IDE，缺的不是能力，是看得见、改得回。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28232" y="389534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关联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013448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013448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15784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15784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818120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818120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20456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220456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622792" y="3877056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622792" y="387705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58368" y="4370832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896112" y="45720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96112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408176" y="459028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96112" y="5065776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六家应对姿态拉平看，DevEco 13/30 排倒数第二，唯一高于均值的是模型可替换——模型随时能换，护城河从来不在模型本身，能沉淀的是围绕改动的审阅与回退。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896112" y="58338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关联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481328" y="5815584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481328" y="5815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883664" y="5815584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1883664" y="5815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286000" y="5815584"/>
            <a:ext cx="347472" cy="274320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2286000" y="58155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90488" y="4370832"/>
            <a:ext cx="5312664" cy="1755648"/>
          </a:xfrm>
          <a:prstGeom prst="roundRect">
            <a:avLst>
              <a:gd name="adj" fmla="val 6771"/>
            </a:avLst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6428232" y="45720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428232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</a:t>
            </a: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6940296" y="459028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Product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428232" y="5065776"/>
            <a:ext cx="4837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三条路里 DevEco 目前是闭门：自研 AI 插件内置，MCP 只做客户端。可立刻推进的是“IDE 插件化”，要不要开放协议是更大的产品选择。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428232" y="5833872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见「发展路径」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58368" y="630936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依据：Stack Overflow 2025 开发者调研（n=33,662）· Gartner 2026-05-20 · 存量 IDE 应对姿态分析 2026-09-03（六轴评分，相对评级）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头部竞品洞察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同类不是 Xcode，是 Visual Studio 和微信开发者工具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六家走出三条路，分组线和“厂商有没有自家 AI 产品要卖”几乎完全重合，闭门三家都是因为有自家 AI 要卖。  </a:t>
            </a:r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对我方的意思是：「学 Apple 全开放」不能直接抄——Apple 的开放建立在它不需要靠编码 AI 赚钱，参照系该换成微软的渐进开放。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560320"/>
            <a:ext cx="3468624" cy="1426464"/>
          </a:xfrm>
          <a:prstGeom prst="roundRect">
            <a:avLst>
              <a:gd name="adj" fmla="val 8333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68833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980944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· Unity · Unreal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310128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能力经 MCP 对外暴露，任意兼容 Agent 可调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657600"/>
            <a:ext cx="3029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27（WWDC 06-09 宣布，09 月正式）MCP 扩到调试/构建；Unity 2026-05-11、Unreal 2026-06-23 官方接住社区 MCP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346448" y="2560320"/>
            <a:ext cx="3468624" cy="1426464"/>
          </a:xfrm>
          <a:prstGeom prst="roundRect">
            <a:avLst>
              <a:gd name="adj" fmla="val 8333"/>
            </a:avLst>
          </a:prstGeom>
          <a:solidFill>
            <a:srgbClr val="F4F6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5904" y="268833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绕行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65904" y="2980944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65904" y="3310128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 CLI 让开发离开 IDE，声明兼容 Claude Code / Codex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657600"/>
            <a:ext cx="3029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Quail 4（2026.1.4）Stable 2026-09-01；Agent Mode 文档 07-14：改动先出 diff 等批准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8034528" y="2560320"/>
            <a:ext cx="3468624" cy="1426464"/>
          </a:xfrm>
          <a:prstGeom prst="roundRect">
            <a:avLst>
              <a:gd name="adj" fmla="val 8333"/>
            </a:avLst>
          </a:prstGeom>
          <a:solidFill>
            <a:srgbClr val="E6EE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53984" y="2688336"/>
            <a:ext cx="3029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闭门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53984" y="2980944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Visual Studio · 微信开发者工具 · DevEco（我方现状）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53984" y="3310128"/>
            <a:ext cx="3029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自研 AI 插件内置，MCP 只做客户端或内部通信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3657600"/>
            <a:ext cx="3029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7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Visual Studio 2026-08 起 BYOM 从 Chat 扩到 Agent Mode，三家里唯一在往外挪的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11480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六轴姿态评分（协议开放度 · Agent 可替换 · 模型可替换 · 脱 GUI · 跨平台 · 文档可机检，满分 30，相对评级）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389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78608" y="442569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23" name="Shape 21"/>
          <p:cNvSpPr/>
          <p:nvPr/>
        </p:nvSpPr>
        <p:spPr>
          <a:xfrm>
            <a:off x="2578608" y="4425696"/>
            <a:ext cx="8450275" cy="146304"/>
          </a:xfrm>
          <a:prstGeom prst="roundRect">
            <a:avLst>
              <a:gd name="adj" fmla="val 31250"/>
            </a:avLst>
          </a:prstGeom>
          <a:solidFill>
            <a:srgbClr val="A3A3A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393424" y="4389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663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Unity Editor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78608" y="470001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27" name="Shape 25"/>
          <p:cNvSpPr/>
          <p:nvPr/>
        </p:nvSpPr>
        <p:spPr>
          <a:xfrm>
            <a:off x="2578608" y="4700016"/>
            <a:ext cx="7867498" cy="146304"/>
          </a:xfrm>
          <a:prstGeom prst="roundRect">
            <a:avLst>
              <a:gd name="adj" fmla="val 31250"/>
            </a:avLst>
          </a:prstGeom>
          <a:solidFill>
            <a:srgbClr val="A3A3A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1393424" y="46634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9377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78608" y="497433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8608" y="4974336"/>
            <a:ext cx="6410554" cy="146304"/>
          </a:xfrm>
          <a:prstGeom prst="roundRect">
            <a:avLst>
              <a:gd name="adj" fmla="val 31250"/>
            </a:avLst>
          </a:prstGeom>
          <a:solidFill>
            <a:srgbClr val="A3A3A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393424" y="4937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Visual Studio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78608" y="524865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8608" y="5248656"/>
            <a:ext cx="4370832" cy="146304"/>
          </a:xfrm>
          <a:prstGeom prst="roundRect">
            <a:avLst>
              <a:gd name="adj" fmla="val 31250"/>
            </a:avLst>
          </a:prstGeom>
          <a:solidFill>
            <a:srgbClr val="A3A3A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1393424" y="5212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54864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DevEco（我方）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78608" y="552297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39" name="Shape 37"/>
          <p:cNvSpPr/>
          <p:nvPr/>
        </p:nvSpPr>
        <p:spPr>
          <a:xfrm>
            <a:off x="2578608" y="5522976"/>
            <a:ext cx="3788054" cy="146304"/>
          </a:xfrm>
          <a:prstGeom prst="roundRect">
            <a:avLst>
              <a:gd name="adj" fmla="val 31250"/>
            </a:avLst>
          </a:prstGeom>
          <a:solidFill>
            <a:srgbClr val="0A59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393424" y="5486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760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78608" y="5797296"/>
            <a:ext cx="8741664" cy="146304"/>
          </a:xfrm>
          <a:prstGeom prst="roundRect">
            <a:avLst>
              <a:gd name="adj" fmla="val 31250"/>
            </a:avLst>
          </a:prstGeom>
          <a:solidFill>
            <a:srgbClr val="F4F6F7"/>
          </a:solidFill>
          <a:ln/>
        </p:spPr>
      </p:sp>
      <p:sp>
        <p:nvSpPr>
          <p:cNvPr id="43" name="Shape 41"/>
          <p:cNvSpPr/>
          <p:nvPr/>
        </p:nvSpPr>
        <p:spPr>
          <a:xfrm>
            <a:off x="2578608" y="5797296"/>
            <a:ext cx="3496666" cy="146304"/>
          </a:xfrm>
          <a:prstGeom prst="roundRect">
            <a:avLst>
              <a:gd name="adj" fmla="val 31250"/>
            </a:avLst>
          </a:prstGeom>
          <a:solidFill>
            <a:srgbClr val="A3A3A3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393424" y="5760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8368" y="6089904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96112" y="6089904"/>
            <a:ext cx="10369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评分只回答“谁开放”，回答不了“怎么做体验”——这正是后面要补的位置：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Agent Team · 13 UI&amp;Code 二次编辑 · 14 AI 协作时间轴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660196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来源：竞品分析_存量IDE的AI应对 2026-09-03（六轴评分为相对评级，依据接口有无而非质量）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竞品全景 · 分类框架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二十一家的分类依据：</a:t>
            </a:r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不比较功能数量，比较其意图替代 IDE 中的哪一层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三条赛道打法不同：同一赛道内部才具备可比性，跨赛道直接比较容易得出误导性结论。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10844784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84864" y="2194560"/>
            <a:ext cx="0" cy="0"/>
          </a:xfrm>
          <a:prstGeom prst="line">
            <a:avLst/>
          </a:prstGeom>
          <a:noFill/>
          <a:ln w="12700">
            <a:solidFill>
              <a:srgbClr val="0A59F7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658368" y="1883664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体验形态离传统 IDE 越来越远 →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450592"/>
            <a:ext cx="3468624" cy="3712464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6517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70048"/>
            <a:ext cx="253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生态原生 IDE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26080"/>
            <a:ext cx="2535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家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3236976"/>
            <a:ext cx="3066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 DevEco Studio 最像的一类：某个操作系统／硬件平台官方出的应用开发工具，AI 能力是「加装」的，IDE 本身的边界由平台定义，用户没有换掉它的自由。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" y="4809744"/>
            <a:ext cx="1191646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" y="4809744"/>
            <a:ext cx="11916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Xcode（Apple）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9536" y="5138928"/>
            <a:ext cx="2047524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5138928"/>
            <a:ext cx="2047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Studio（Google）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6448" y="2450592"/>
            <a:ext cx="3468624" cy="3712464"/>
          </a:xfrm>
          <a:prstGeom prst="roundRect">
            <a:avLst>
              <a:gd name="adj" fmla="val 3427"/>
            </a:avLst>
          </a:prstGeom>
          <a:solidFill>
            <a:srgbClr val="E6EEF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7616" y="26517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4761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59680" y="2670048"/>
            <a:ext cx="253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5059680" y="2926080"/>
            <a:ext cx="2535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家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47616" y="3236976"/>
            <a:ext cx="3066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独立于单一操作系统平台，编辑器／IDE 本身就是产品，AI 是核心卖点而不是插件；既有海外阵营也有国内阵营，是数量最多、打法最杂的一条赛道。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47616" y="4809744"/>
            <a:ext cx="76370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47616" y="4809744"/>
            <a:ext cx="7637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84475" y="4809744"/>
            <a:ext cx="6781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84475" y="4809744"/>
            <a:ext cx="6781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35746" y="4809744"/>
            <a:ext cx="50694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35746" y="4809744"/>
            <a:ext cx="506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47616" y="5138928"/>
            <a:ext cx="127723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47616" y="5138928"/>
            <a:ext cx="1277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Air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8002" y="5138928"/>
            <a:ext cx="84929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898002" y="5138928"/>
            <a:ext cx="84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Windsurf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20449" y="5138928"/>
            <a:ext cx="6781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20449" y="5138928"/>
            <a:ext cx="6781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 AI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47616" y="5468112"/>
            <a:ext cx="59253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47616" y="5468112"/>
            <a:ext cx="592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3299" y="5468112"/>
            <a:ext cx="93488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13299" y="5468112"/>
            <a:ext cx="934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21334" y="5468112"/>
            <a:ext cx="110605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21334" y="5468112"/>
            <a:ext cx="1106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 MarsCode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47616" y="5797296"/>
            <a:ext cx="127723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47616" y="5797296"/>
            <a:ext cx="12772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代码小浣熊 Raccoon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8002" y="5797296"/>
            <a:ext cx="6781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898002" y="5797296"/>
            <a:ext cx="6781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CatPaw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034528" y="2450592"/>
            <a:ext cx="3468624" cy="3712464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235696" y="265176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3569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8747760" y="2670048"/>
            <a:ext cx="253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Agent／插件</a:t>
            </a:r>
            <a:endParaRPr lang="en-US" sz="1450" dirty="0"/>
          </a:p>
        </p:txBody>
      </p:sp>
      <p:sp>
        <p:nvSpPr>
          <p:cNvPr id="50" name="Text 48"/>
          <p:cNvSpPr txBox="1"/>
          <p:nvPr/>
        </p:nvSpPr>
        <p:spPr>
          <a:xfrm>
            <a:off x="8747760" y="2926080"/>
            <a:ext cx="2535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家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235696" y="3236976"/>
            <a:ext cx="30662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不做「编辑器」，做「能自己跑的智能体」——命令行起家或干脆没有传统编辑器外壳；Flare、Smart Flow、Orca 严格说不是 Agent 本身，是接在 Agent 外面的协调层／编排层，因为「体验形态」离传统 IDE 最远，归在这一类。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35696" y="4809744"/>
            <a:ext cx="1106058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35696" y="4809744"/>
            <a:ext cx="1106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414906" y="4809744"/>
            <a:ext cx="592531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4906" y="4809744"/>
            <a:ext cx="592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080589" y="4809744"/>
            <a:ext cx="934883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0080589" y="4809744"/>
            <a:ext cx="934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Flare（开源）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235696" y="5138928"/>
            <a:ext cx="1191646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35696" y="5138928"/>
            <a:ext cx="11916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Replit Agent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500494" y="5138928"/>
            <a:ext cx="1362822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500494" y="5138928"/>
            <a:ext cx="13628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Flow（开源）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35696" y="5468112"/>
            <a:ext cx="849295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235696" y="5468112"/>
            <a:ext cx="84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Orca（开源）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158143" y="5468112"/>
            <a:ext cx="934883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158143" y="5468112"/>
            <a:ext cx="934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Aider（开源）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35696" y="5797296"/>
            <a:ext cx="1448410" cy="256032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235696" y="5797296"/>
            <a:ext cx="14484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hmharness（鸿蒙专用）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6291072"/>
            <a:ext cx="10844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每家公司 / 核心定位 / 模型依赖 / 发布时间见对应赛道总览表。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竞品全景 · 总览表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1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生态原生 IDE，共 2 家——DevEco Studio 严格意义上的同类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103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075688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所属公司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21031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核心定位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836408" y="21031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模型依赖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710928" y="210312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发布时间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377440"/>
            <a:ext cx="10844784" cy="1005840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377440"/>
            <a:ext cx="119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237744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2377440"/>
            <a:ext cx="4014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iOS/macOS 官方全家桶 IDE，从「建议者」到「规划者」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27848" y="2377440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内置基础模型＋可选第三方（Claude/GPT 等）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802368" y="2377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26.3：2026-02；27 版 09 月（预计）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383280"/>
            <a:ext cx="1197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67128" y="338328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3383280"/>
            <a:ext cx="4014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官方 IDE，Gemini 原生集成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927848" y="3383280"/>
            <a:ext cx="1728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Gemini（云端＋端侧 Gemma 4 本地）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338328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Quail 4：2026-09-01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846320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846320"/>
            <a:ext cx="10332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为什么只有两家：  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这一类的边界由「</a:t>
            </a:r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操作系统／硬件平台官方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」划死——不是每个平台都自己下场做 IDE，大多数选择把 IDE 让给第三方（VS Code、JetBrains 系）自己只做插件或协议。</a:t>
            </a:r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Xcode、Android Studio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恰好是仅剩的两个「平台方亲自下场」的样本，和 DevEco Studio 处境最像，最值得对照。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870448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来源：各产品官方站点／changelog，核实于 2026-09-17；逐家详情见后续单品分析页。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竞品全景 · 总览表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AI IDE，共 11 家——数量最多、国内外都在下场的一条赛道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77393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709928" y="17739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所属公司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127248" y="17739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核心定位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287768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模型依赖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619488" y="177393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发布/更新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48256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048256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920" dirty="0"/>
          </a:p>
        </p:txBody>
      </p:sp>
      <p:sp>
        <p:nvSpPr>
          <p:cNvPr id="11" name="Text 9"/>
          <p:cNvSpPr txBox="1"/>
          <p:nvPr/>
        </p:nvSpPr>
        <p:spPr>
          <a:xfrm>
            <a:off x="1801368" y="2048256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Microsoft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218688" y="2048256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开源编辑器，Agent Host 独立进程＋AHP 协议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379208" y="2048256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Copilot／Claude 等多 harness 可接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9710928" y="2048256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Host+AHP：08-26</a:t>
            </a:r>
            <a:endParaRPr lang="en-US" sz="77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418588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920" dirty="0"/>
          </a:p>
        </p:txBody>
      </p:sp>
      <p:sp>
        <p:nvSpPr>
          <p:cNvPr id="16" name="Text 14"/>
          <p:cNvSpPr txBox="1"/>
          <p:nvPr/>
        </p:nvSpPr>
        <p:spPr>
          <a:xfrm>
            <a:off x="1801368" y="2418588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Anysphere（美创业公司）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218688" y="2418588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Tab 起家，Cursor 3 全面 Agents 化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379208" y="2418588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多模型可选（Claude／GPT／自研等）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710928" y="2418588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3：04-02；Projects：09-10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58368" y="2788920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2788920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</a:t>
            </a:r>
            <a:endParaRPr lang="en-US" sz="920" dirty="0"/>
          </a:p>
        </p:txBody>
      </p:sp>
      <p:sp>
        <p:nvSpPr>
          <p:cNvPr id="22" name="Text 20"/>
          <p:cNvSpPr txBox="1"/>
          <p:nvPr/>
        </p:nvSpPr>
        <p:spPr>
          <a:xfrm>
            <a:off x="1801368" y="2788920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字节跳动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218688" y="2788920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IDE／SOLO 合并为统一 Agent，三档命令分层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2788920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豆包＋可选 Claude／GPT 等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2788920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09-01（/goal /plan /spec）</a:t>
            </a:r>
            <a:endParaRPr lang="en-US" sz="77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3159252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Air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1801368" y="3159252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218688" y="3159252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从零重构的独立 AI-native IDE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379208" y="3159252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多模型可选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9710928" y="3159252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月 Public Preview，未见 GA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58368" y="3529584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6384" y="3529584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Windsurf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1801368" y="3529584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Cognition（原 Codeium，OpenAI 收购告吹后接手）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218688" y="3529584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底子＋Cascade 常驻 Agent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7379208" y="3529584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GPT-4o／Claude Sonnet／自选模型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9710928" y="3529584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[C] 证据等级，核实于 09-17</a:t>
            </a:r>
            <a:endParaRPr lang="en-US" sz="77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3899916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 AI</a:t>
            </a:r>
            <a:endParaRPr lang="en-US" sz="920" dirty="0"/>
          </a:p>
        </p:txBody>
      </p:sp>
      <p:sp>
        <p:nvSpPr>
          <p:cNvPr id="38" name="Text 36"/>
          <p:cNvSpPr txBox="1"/>
          <p:nvPr/>
        </p:nvSpPr>
        <p:spPr>
          <a:xfrm>
            <a:off x="1801368" y="3899916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 Industries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3218688" y="3899916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Rust 高性能编辑器＋Agent Panel 多线程会话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379208" y="3899916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GPT-4o／Claude 3+／Gemini／本地／ACP 外接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710928" y="3899916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持续迭代，核实于 09-17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658368" y="4270248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6384" y="4270248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</a:t>
            </a:r>
            <a:endParaRPr lang="en-US" sz="920" dirty="0"/>
          </a:p>
        </p:txBody>
      </p:sp>
      <p:sp>
        <p:nvSpPr>
          <p:cNvPr id="44" name="Text 42"/>
          <p:cNvSpPr txBox="1"/>
          <p:nvPr/>
        </p:nvSpPr>
        <p:spPr>
          <a:xfrm>
            <a:off x="1801368" y="4270248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阿里巴巴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3218688" y="4270248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Agentic 编码平台，Quest 任务模式＋Repo Wiki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7379208" y="4270248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多模型动态调度（Claude/GPT/Gemini；用户称含通义/文心，待核实）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9710928" y="4270248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秋上线，2026 仍公测</a:t>
            </a:r>
            <a:endParaRPr lang="en-US" sz="770" dirty="0"/>
          </a:p>
        </p:txBody>
      </p:sp>
      <p:sp>
        <p:nvSpPr>
          <p:cNvPr id="48" name="Text 46"/>
          <p:cNvSpPr txBox="1"/>
          <p:nvPr/>
        </p:nvSpPr>
        <p:spPr>
          <a:xfrm>
            <a:off x="786384" y="4640580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</a:t>
            </a:r>
            <a:endParaRPr lang="en-US" sz="920" dirty="0"/>
          </a:p>
        </p:txBody>
      </p:sp>
      <p:sp>
        <p:nvSpPr>
          <p:cNvPr id="49" name="Text 47"/>
          <p:cNvSpPr txBox="1"/>
          <p:nvPr/>
        </p:nvSpPr>
        <p:spPr>
          <a:xfrm>
            <a:off x="1801368" y="4640580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腾讯云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3218688" y="4640580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 AI 一体化平台（规划-设计-开发-测试-部署）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7379208" y="4640580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混元＋DeepSeek 双模型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9710928" y="4640580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年初</a:t>
            </a:r>
            <a:endParaRPr lang="en-US" sz="770" dirty="0"/>
          </a:p>
        </p:txBody>
      </p:sp>
      <p:sp>
        <p:nvSpPr>
          <p:cNvPr id="53" name="Shape 51"/>
          <p:cNvSpPr/>
          <p:nvPr/>
        </p:nvSpPr>
        <p:spPr>
          <a:xfrm>
            <a:off x="658368" y="5010912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86384" y="5010912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 MarsCode</a:t>
            </a:r>
            <a:endParaRPr lang="en-US" sz="920" dirty="0"/>
          </a:p>
        </p:txBody>
      </p:sp>
      <p:sp>
        <p:nvSpPr>
          <p:cNvPr id="55" name="Text 53"/>
          <p:cNvSpPr txBox="1"/>
          <p:nvPr/>
        </p:nvSpPr>
        <p:spPr>
          <a:xfrm>
            <a:off x="1801368" y="5010912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字节跳动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3218688" y="5010912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 IDE＋插件双形态，100+ 语言补全/生成/修复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7379208" y="5010912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豆包大模型（第三方称 GPT-4 驱动，未核实存疑）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710928" y="5010912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2024-05 上线</a:t>
            </a:r>
            <a:endParaRPr lang="en-US" sz="770" dirty="0"/>
          </a:p>
        </p:txBody>
      </p:sp>
      <p:sp>
        <p:nvSpPr>
          <p:cNvPr id="59" name="Text 57"/>
          <p:cNvSpPr txBox="1"/>
          <p:nvPr/>
        </p:nvSpPr>
        <p:spPr>
          <a:xfrm>
            <a:off x="786384" y="5381244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代码小浣熊 Raccoon</a:t>
            </a:r>
            <a:endParaRPr lang="en-US" sz="920" dirty="0"/>
          </a:p>
        </p:txBody>
      </p:sp>
      <p:sp>
        <p:nvSpPr>
          <p:cNvPr id="60" name="Text 58"/>
          <p:cNvSpPr txBox="1"/>
          <p:nvPr/>
        </p:nvSpPr>
        <p:spPr>
          <a:xfrm>
            <a:off x="1801368" y="5381244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商汤科技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3218688" y="5381244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侧边栏/编辑器内/终端三形态代码助手，企业级部署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7379208" y="5381244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商汤大模型（官方页面未标注具体型号）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9710928" y="5381244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2023-12-07 发布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658368" y="5751576"/>
            <a:ext cx="10844784" cy="370332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86384" y="5751576"/>
            <a:ext cx="8321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CatPaw</a:t>
            </a:r>
            <a:endParaRPr lang="en-US" sz="920" dirty="0"/>
          </a:p>
        </p:txBody>
      </p:sp>
      <p:sp>
        <p:nvSpPr>
          <p:cNvPr id="66" name="Text 64"/>
          <p:cNvSpPr txBox="1"/>
          <p:nvPr/>
        </p:nvSpPr>
        <p:spPr>
          <a:xfrm>
            <a:off x="1801368" y="5751576"/>
            <a:ext cx="12710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美团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3218688" y="5751576"/>
            <a:ext cx="40142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深度兼容 VS Code，可视化前端点选编辑＋Inline Ctrl+K</a:t>
            </a:r>
            <a:endParaRPr lang="en-US" sz="800" dirty="0"/>
          </a:p>
        </p:txBody>
      </p:sp>
      <p:sp>
        <p:nvSpPr>
          <p:cNvPr id="68" name="Text 66"/>
          <p:cNvSpPr txBox="1"/>
          <p:nvPr/>
        </p:nvSpPr>
        <p:spPr>
          <a:xfrm>
            <a:off x="7379208" y="5751576"/>
            <a:ext cx="21854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kimi／glm／MiniMax／deepseek 等多开源模型可选，免费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9710928" y="5751576"/>
            <a:ext cx="173736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7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[C] 证据等级，核实于 09-17</a:t>
            </a:r>
            <a:endParaRPr lang="en-US" sz="77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619506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来源：各产品官方站点／changelog／第三方评测综合，[C] 级条目未逐条核对官方一手资料，核实于 2026-09-17。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竞品全景 · 总览表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Agent／插件类，共 8 家——不做编辑器，做「能自己跑的智能体」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10312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075688" y="21031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所属公司/开源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75888" y="21031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核心定位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836408" y="21031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模型依赖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710928" y="210312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发布/更新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377440"/>
            <a:ext cx="10844784" cy="51206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37744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020" dirty="0"/>
          </a:p>
        </p:txBody>
      </p:sp>
      <p:sp>
        <p:nvSpPr>
          <p:cNvPr id="11" name="Text 9"/>
          <p:cNvSpPr txBox="1"/>
          <p:nvPr/>
        </p:nvSpPr>
        <p:spPr>
          <a:xfrm>
            <a:off x="2167128" y="237744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</a:t>
            </a:r>
            <a:endParaRPr lang="en-US" sz="94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2377440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 起家的编码 Agent，长成完整工作台（/design 可视化画板）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927848" y="2377440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系列（自家模型）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802368" y="23774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月前后起步，08 月 /design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88950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2167128" y="288950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94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2889504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CLI／云端并行的「智能体软件工程师」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927848" y="2889504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GPT 系列（自家模型）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288950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月前后起步，09-09 后台可插问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58368" y="3401568"/>
            <a:ext cx="10844784" cy="51206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86384" y="340156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2167128" y="340156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开源（AlgoNoRhythm，MIT）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3401568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依赖图谱做主界面的多 Agent 协调层，接在 Claude Code/Codex 外面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927848" y="340156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自身不含模型，接 Claude Code／Codex／opencode／aider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802368" y="340156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v2.1.0，核实于 09-17</a:t>
            </a:r>
            <a:endParaRPr lang="en-US" sz="86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3913632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Replit Agent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2167128" y="3913632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Replit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3767328" y="3913632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云端一体化「想法到部署」Agent，Design Canvas＋协作看板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927848" y="3913632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多模型可选（自研调度）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802368" y="39136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4：2026-03-19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658368" y="4425696"/>
            <a:ext cx="10844784" cy="51206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6384" y="4425696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Flow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2167128" y="4425696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开源（GPL-3.0）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3767328" y="4425696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可视化工作流编排画布，给已有模型/Agent「拉线搭积木」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927848" y="4425696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节点内可配置任意模型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802368" y="442569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持续迭代，核实于 09-17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786384" y="4937760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2167128" y="493776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开源（stablyai，YC 孵化，MIT）</a:t>
            </a:r>
            <a:endParaRPr lang="en-US" sz="940" dirty="0"/>
          </a:p>
        </p:txBody>
      </p:sp>
      <p:sp>
        <p:nvSpPr>
          <p:cNvPr id="39" name="Text 37"/>
          <p:cNvSpPr txBox="1"/>
          <p:nvPr/>
        </p:nvSpPr>
        <p:spPr>
          <a:xfrm>
            <a:off x="3767328" y="4937760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25＋种 Agent CLI 各自跑独立 worktree，配移动端随时管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927848" y="4937760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自身不含模型，接 Claude Code／Codex／Cursor 等 25＋家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9802368" y="49377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60.4K star，核实于 09-17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58368" y="5449824"/>
            <a:ext cx="10844784" cy="51206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86384" y="5449824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Aider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2167128" y="544982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开源（Aider-AI，Apache-2.0）</a:t>
            </a:r>
            <a:endParaRPr lang="en-US" sz="940" dirty="0"/>
          </a:p>
        </p:txBody>
      </p:sp>
      <p:sp>
        <p:nvSpPr>
          <p:cNvPr id="45" name="Text 43"/>
          <p:cNvSpPr txBox="1"/>
          <p:nvPr/>
        </p:nvSpPr>
        <p:spPr>
          <a:xfrm>
            <a:off x="3767328" y="5449824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纯终端结对编程，仓库地图理解全局＋每次改动自动提交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927848" y="5449824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 OpenAI／Anthropic／Google／DeepSeek 等多模型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802368" y="54498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 4.9 万 star，核实于 09-17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786384" y="5961888"/>
            <a:ext cx="1197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2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</a:t>
            </a:r>
            <a:endParaRPr lang="en-US" sz="1020" dirty="0"/>
          </a:p>
        </p:txBody>
      </p:sp>
      <p:sp>
        <p:nvSpPr>
          <p:cNvPr id="49" name="Text 47"/>
          <p:cNvSpPr txBox="1"/>
          <p:nvPr/>
        </p:nvSpPr>
        <p:spPr>
          <a:xfrm>
            <a:off x="2167128" y="5961888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开源（MIT，鸿蒙专用）</a:t>
            </a:r>
            <a:endParaRPr lang="en-US" sz="940" dirty="0"/>
          </a:p>
        </p:txBody>
      </p:sp>
      <p:sp>
        <p:nvSpPr>
          <p:cNvPr id="50" name="Text 48"/>
          <p:cNvSpPr txBox="1"/>
          <p:nvPr/>
        </p:nvSpPr>
        <p:spPr>
          <a:xfrm>
            <a:off x="3767328" y="5961888"/>
            <a:ext cx="4014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 IDE 跑通鸿蒙全流程（脚手架→构建→签名→装机→回读日志）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927848" y="596188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 OpenAI 兼容模型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802368" y="59618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核实于 09-17，仓库信息待补</a:t>
            </a:r>
            <a:endParaRPr lang="en-US" sz="86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658368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来源：各产品官方站点／changelog／GitHub，核实于 2026-09-17；逐家详情见后续单品分析页。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协议开放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作为宿主，任意 Agent 作为大脑——DevEco 三形态固定绑定同一自研 Agent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四家厂商在七个月内做出同一个判断：模型换代快于 IDE 发版，绑死单一 Agent 是负债。  </a:t>
            </a:r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是唯一例外——GUI / CLI / TUI 三形态齐备，但三形态指向的都是同一个自研 Agent。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523744"/>
            <a:ext cx="10844784" cy="32918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5237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+ Zed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2523744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ACP Registry，IDE 内一键装任意 Agent</a:t>
            </a:r>
            <a:endParaRPr lang="en-US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268712" y="25237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2026-01-28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2852928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26.3 把自身能力经 MCP 暴露，原生接入 Claude Agent 与 Codex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28529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2026-02-03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182112"/>
            <a:ext cx="10844784" cy="32918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31821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3182112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CLI 1.0 稳定版，官方声明兼容 Claude Code / Codex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10268712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2026-05-19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3511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Microsoft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3511296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Agent Host 独立进程，开放 AHP 协议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10268712" y="35112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2026-08-26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950208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六维评分（能力广度 · 开放协议接入 · 形态覆盖 · 文档可机检 · 企业 CI · 生态规模，满分 30，相对评级）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206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78608" y="4242816"/>
            <a:ext cx="8741664" cy="128016"/>
          </a:xfrm>
          <a:prstGeom prst="roundRect">
            <a:avLst>
              <a:gd name="adj" fmla="val 35714"/>
            </a:avLst>
          </a:prstGeom>
          <a:solidFill>
            <a:srgbClr val="F4F6F7"/>
          </a:solidFill>
          <a:ln/>
        </p:spPr>
      </p:sp>
      <p:sp>
        <p:nvSpPr>
          <p:cNvPr id="22" name="Shape 20"/>
          <p:cNvSpPr/>
          <p:nvPr/>
        </p:nvSpPr>
        <p:spPr>
          <a:xfrm>
            <a:off x="2578608" y="4242816"/>
            <a:ext cx="8450275" cy="128016"/>
          </a:xfrm>
          <a:prstGeom prst="roundRect">
            <a:avLst>
              <a:gd name="adj" fmla="val 35714"/>
            </a:avLst>
          </a:prstGeom>
          <a:solidFill>
            <a:srgbClr val="A3A3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393424" y="4206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4531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78608" y="4489704"/>
            <a:ext cx="8741664" cy="128016"/>
          </a:xfrm>
          <a:prstGeom prst="roundRect">
            <a:avLst>
              <a:gd name="adj" fmla="val 35714"/>
            </a:avLst>
          </a:prstGeom>
          <a:solidFill>
            <a:srgbClr val="F4F6F7"/>
          </a:solidFill>
          <a:ln/>
        </p:spPr>
      </p:sp>
      <p:sp>
        <p:nvSpPr>
          <p:cNvPr id="26" name="Shape 24"/>
          <p:cNvSpPr/>
          <p:nvPr/>
        </p:nvSpPr>
        <p:spPr>
          <a:xfrm>
            <a:off x="2578608" y="4489704"/>
            <a:ext cx="8158886" cy="128016"/>
          </a:xfrm>
          <a:prstGeom prst="roundRect">
            <a:avLst>
              <a:gd name="adj" fmla="val 35714"/>
            </a:avLst>
          </a:prstGeom>
          <a:solidFill>
            <a:srgbClr val="A3A3A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393424" y="4453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700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78608" y="4736592"/>
            <a:ext cx="8741664" cy="128016"/>
          </a:xfrm>
          <a:prstGeom prst="roundRect">
            <a:avLst>
              <a:gd name="adj" fmla="val 35714"/>
            </a:avLst>
          </a:prstGeom>
          <a:solidFill>
            <a:srgbClr val="F4F6F7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8608" y="4736592"/>
            <a:ext cx="7867498" cy="128016"/>
          </a:xfrm>
          <a:prstGeom prst="roundRect">
            <a:avLst>
              <a:gd name="adj" fmla="val 35714"/>
            </a:avLst>
          </a:prstGeom>
          <a:solidFill>
            <a:srgbClr val="A3A3A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393424" y="4700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4946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78608" y="4983480"/>
            <a:ext cx="8741664" cy="128016"/>
          </a:xfrm>
          <a:prstGeom prst="roundRect">
            <a:avLst>
              <a:gd name="adj" fmla="val 35714"/>
            </a:avLst>
          </a:prstGeom>
          <a:solidFill>
            <a:srgbClr val="F4F6F7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8608" y="4983480"/>
            <a:ext cx="6701942" cy="128016"/>
          </a:xfrm>
          <a:prstGeom prst="roundRect">
            <a:avLst>
              <a:gd name="adj" fmla="val 35714"/>
            </a:avLst>
          </a:prstGeom>
          <a:solidFill>
            <a:srgbClr val="A3A3A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393424" y="4946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5193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DevEco（我方）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78608" y="5230368"/>
            <a:ext cx="8741664" cy="128016"/>
          </a:xfrm>
          <a:prstGeom prst="roundRect">
            <a:avLst>
              <a:gd name="adj" fmla="val 35714"/>
            </a:avLst>
          </a:prstGeom>
          <a:solidFill>
            <a:srgbClr val="F4F6F7"/>
          </a:solidFill>
          <a:ln/>
        </p:spPr>
      </p:sp>
      <p:sp>
        <p:nvSpPr>
          <p:cNvPr id="38" name="Shape 36"/>
          <p:cNvSpPr/>
          <p:nvPr/>
        </p:nvSpPr>
        <p:spPr>
          <a:xfrm>
            <a:off x="2578608" y="5230368"/>
            <a:ext cx="4079443" cy="128016"/>
          </a:xfrm>
          <a:prstGeom prst="roundRect">
            <a:avLst>
              <a:gd name="adj" fmla="val 35714"/>
            </a:avLst>
          </a:prstGeom>
          <a:solidFill>
            <a:srgbClr val="0A59F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1393424" y="5193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" y="5513832"/>
            <a:ext cx="10844784" cy="786384"/>
          </a:xfrm>
          <a:prstGeom prst="roundRect">
            <a:avLst>
              <a:gd name="adj" fmla="val 15116"/>
            </a:avLst>
          </a:prstGeom>
          <a:solidFill>
            <a:srgbClr val="E6EEF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96112" y="5605272"/>
            <a:ext cx="10369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重点案例 · DevEco Code 是 OpenCode 的下游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96112" y="5824728"/>
            <a:ext cx="10369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继承了 </a:t>
            </a:r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OpenCode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（MIT，约 196K stars）的终端交互、配置体系、Provider / MCP / Skill / Plugin，新增七个鸿蒙工具，默认 GLM-5.1 免费且可配第三方——但砍掉了 Linux 与桌面 / Web / 插件客户端。华为在 CLI 这一层其实是</a:t>
            </a:r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最开放的一家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，但这份开放性止步于终端，没有回流到 DevEco Studio——而 Studio 才是 </a:t>
            </a:r>
            <a:pPr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93.7%</a:t>
            </a:r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鸿蒙开发者每天打开的窗口。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6355080"/>
            <a:ext cx="10844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插件化不解决协议开放，但决定了以后能不能顺着这条缝接上——呼应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BUTP · Product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象限「要不要开放协议是更大的产品选择」。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6629400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来源：竞品分析_IDE与Agent工具链 2026-09-03（六维评分为相对评级，依据能力有无而非质量）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单品深挖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从「IDE 里装 Agent」到「把 IDE 做成 Agent 的工具面」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七组 Skill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（initializer · project-manager · automator · debugger · compiler · previewer · cloudbase-operator）通过 wechatide CLI 与 MCP，开放给 </a:t>
            </a:r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CodeBuddy、Cursor、Claude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等外部客户端调用；核实日期 2026-09-14。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39696"/>
            <a:ext cx="5353812" cy="3438144"/>
          </a:xfrm>
          <a:prstGeom prst="roundRect">
            <a:avLst>
              <a:gd name="adj" fmla="val 3457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506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任务态在哪看见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578608"/>
            <a:ext cx="5061204" cy="2907792"/>
          </a:xfrm>
          <a:prstGeom prst="roundRect">
            <a:avLst>
              <a:gd name="adj" fmla="val 2516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642616"/>
            <a:ext cx="48783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微信侧 wechatide CLI 命令调用示例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49340" y="2139696"/>
            <a:ext cx="5353812" cy="3438144"/>
          </a:xfrm>
          <a:prstGeom prst="roundRect">
            <a:avLst>
              <a:gd name="adj" fmla="val 3457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95644" y="2231136"/>
            <a:ext cx="506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等待发生在哪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95644" y="2578608"/>
            <a:ext cx="5061204" cy="2907792"/>
          </a:xfrm>
          <a:prstGeom prst="roundRect">
            <a:avLst>
              <a:gd name="adj" fmla="val 2516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87084" y="2642616"/>
            <a:ext cx="4878324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wechatide CLI 执行中的终端状态输出</a:t>
            </a:r>
            <a:endParaRPr lang="en-US" sz="94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705856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来源：竞品分析_微信开发者工具 2026-09-14，developers.weixin.qq.com / dev.weixin.qq.com 官方文档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单品深挖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微信开发者工具（续）：</a:t>
            </a:r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审阅回退与服务对象两处，路线差异最大的地方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330952" cy="3017520"/>
          </a:xfrm>
          <a:prstGeom prst="roundRect">
            <a:avLst>
              <a:gd name="adj" fmla="val 3939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审阅与回退落在哪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56868" y="2377440"/>
            <a:ext cx="3933952" cy="2212848"/>
          </a:xfrm>
          <a:prstGeom prst="roundRect">
            <a:avLst>
              <a:gd name="adj" fmla="val 3306"/>
            </a:avLst>
          </a:prstGeom>
          <a:solidFill>
            <a:srgbClr val="E1E4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20876" y="2423160"/>
            <a:ext cx="380593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微信侧改动推给 Git 后的 diff 视图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装进 IDE：各家至少有 diff 或专门面板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微信侧：整体推给 Git，没有「这次 AI 干了什么」的边界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30952" cy="3017520"/>
          </a:xfrm>
          <a:prstGeom prst="roundRect">
            <a:avLst>
              <a:gd name="adj" fmla="val 3939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服务的是谁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70700" y="2377440"/>
            <a:ext cx="3933952" cy="2212848"/>
          </a:xfrm>
          <a:prstGeom prst="roundRect">
            <a:avLst>
              <a:gd name="adj" fmla="val 3306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34708" y="2423160"/>
            <a:ext cx="380593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外部客户端（CodeBuddy/Cursor/Claude）连接调用示例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6634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装进 IDE：自家 IDE 内置的 Agent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微信侧：CodeBuddy · Cursor · Claude 等外部客户端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5157216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157216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这是一条和我们不同的路线选择，代价是 IDE 里看不到任何任务态——这正是  </a:t>
            </a:r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Agent Team · 14 AI 协作时间轴</a:t>
            </a:r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要补的位置：头部客户一旦也要求「IDE 只做工具面」，这两条就是我们守住「看得见」的关键。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760720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来源：竞品分析_微信开发者工具 2026-09-14，developers.weixin.qq.com / dev.weixin.qq.com 官方文档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趋势信号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AGI 时代的交互范式转变：</a:t>
            </a:r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从「指挥」到「托付」，及其对体验设计的影响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517904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月 OpenAI 发布 GPT-6 Astra，具备自主长时任务能力——模型能力这一轮真正往前跳的，是“不用一步步教，也能把活干完”；这直接改变了人机交互的默认方式，比“算不算 AGI”更该关心的是这一点。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21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2487168" y="21214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上一代 · 指挥型交互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922008" y="2121408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AGI 时代 · 托付型交互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" y="2395728"/>
            <a:ext cx="10844784" cy="548640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" y="23957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发起方式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578608" y="23957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人主动下达一步指令，等界面响应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13448" y="23957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人描述目标，Agent 自主拆解并执行多步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294436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人的角色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578608" y="294436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操作者——每一步都要亲自动手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13448" y="29443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监督者——设定边界、审查结果、随时叫停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" y="3493008"/>
            <a:ext cx="10844784" cy="548640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86384" y="349300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界面重心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578608" y="34930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输入框与操作面板，界面是“做事的地方”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013448" y="34930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进度、意图、风险的呈现面，界面是“看得懂在发生什么的地方”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" y="40416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信任基础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2578608" y="404164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所见即所得，操作完立刻看到结果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40416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结果出来前就要建立信任，靠“看得见、改得回”撑过等待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58368" y="4864608"/>
            <a:ext cx="10844784" cy="1426464"/>
          </a:xfrm>
          <a:prstGeom prst="roundRect">
            <a:avLst>
              <a:gd name="adj" fmla="val 8333"/>
            </a:avLst>
          </a:prstGeom>
          <a:solidFill>
            <a:srgbClr val="E6EEF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49926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对体验设计的冲击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285232"/>
            <a:ext cx="10332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6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信任校准变成核心体验命题</a:t>
            </a:r>
            <a:pPr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——人不再“看着操作”，而是要在等待中判断“要不要继续信任”，这正是「审阅与回退」「等待可见」两个指标要解决的问题。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可中断性要设计成一等能力</a:t>
            </a:r>
            <a:pPr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——任务越长、越自主，中途叫停和改方向的成本就必须越低，这是「AI 协作时间轴」「互动式意图确认」在赌的方向。</a:t>
            </a:r>
            <a:endParaRPr lang="en-US" sz="1100" dirty="0"/>
          </a:p>
          <a:p>
            <a:pPr marL="342900" indent="-342900">
              <a:lnSpc>
                <a:spcPct val="126000"/>
              </a:lnSpc>
              <a:spcAft>
                <a:spcPts val="500"/>
              </a:spcAft>
              <a:buSzPct val="100000"/>
              <a:buChar char="●"/>
            </a:pPr>
            <a:r>
              <a:rPr lang="en-US" sz="11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责任边界要可视化</a:t>
            </a:r>
            <a:pPr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——多个 Agent 并行、自主跑长任务时，“谁在做什么、能做到多大权限”必须让人一眼看见，这是「Agent Team」「多 Agent 并行协作」「配额与权限」要补的位置。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6382512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来源：OpenAI GPT-6 Astra 发布会报道（2026-09-03～04），核实于 2026-09-17；“AGI”一词业界尚无统一定义。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上半年比拼界面易用性，9 月比拼 Agent 会话能否脱离编辑器独立运行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八家的做法分开看很杂，按打法归类只有三条路；口径与《竞品分析_IDE与Agent产品动态_上半年素材汇编》一致，内容更新到 2026-09-17 核实的最新状态。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395728"/>
            <a:ext cx="3468624" cy="370332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5968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953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96896"/>
            <a:ext cx="253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传统巨头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59536" y="3145536"/>
            <a:ext cx="934883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3145536"/>
            <a:ext cx="934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Microsoft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67571" y="3145536"/>
            <a:ext cx="934883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67571" y="3145536"/>
            <a:ext cx="934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75605" y="3145536"/>
            <a:ext cx="592531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875605" y="3145536"/>
            <a:ext cx="592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9536" y="3456432"/>
            <a:ext cx="678119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3456432"/>
            <a:ext cx="678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3840480"/>
            <a:ext cx="306628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协议化与规划化：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把会话拆成独立协议（AHP，08-26）；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 Agent 升级成“规划者”（27 版，09 月预计）；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一版打包本地推理＋Skills 导出＋并行状态（Quail 4，09-01）；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正式定名「AI IDE Air」，喊出“确定性与可解释性、拒绝黑箱魔法”，Roadmap 列了多 Agent／云端执行／跨平台，仍未见 GA。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6448" y="2395728"/>
            <a:ext cx="3468624" cy="3703320"/>
          </a:xfrm>
          <a:prstGeom prst="roundRect">
            <a:avLst>
              <a:gd name="adj" fmla="val 3427"/>
            </a:avLst>
          </a:prstGeom>
          <a:solidFill>
            <a:srgbClr val="E6EEF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7616" y="25968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4761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59680" y="2596896"/>
            <a:ext cx="253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AI-Native 新贵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547616" y="3145536"/>
            <a:ext cx="678119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47616" y="3145536"/>
            <a:ext cx="678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98887" y="3145536"/>
            <a:ext cx="506943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98887" y="3145536"/>
            <a:ext cx="5069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47616" y="3529584"/>
            <a:ext cx="306628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收敛到同一套语汇：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Projects 协调者管上千个 subagent（09-10），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 Solo 与 Agent 合并、新增 `/goal /plan /spec`（09-01）——两家几乎同期做出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“目标颗粒度”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这个选择，不是硅谷一家的偏好。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34528" y="2395728"/>
            <a:ext cx="3468624" cy="3703320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235696" y="25968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0A59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35696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747760" y="2596896"/>
            <a:ext cx="2535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顶流模型厂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8235696" y="3145536"/>
            <a:ext cx="934883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35696" y="3145536"/>
            <a:ext cx="9348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43731" y="3145536"/>
            <a:ext cx="678119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43731" y="3145536"/>
            <a:ext cx="678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35696" y="3529584"/>
            <a:ext cx="3066288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把工作台功能化：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用 `/design` 把可视化设计画板带进 CLI（08 月）；</a:t>
            </a:r>
            <a:pPr indent="0" marL="0">
              <a:lnSpc>
                <a:spcPct val="126000"/>
              </a:lnSpc>
              <a:buNone/>
            </a:pPr>
            <a:r>
              <a:rPr lang="en-US" sz="10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做到后台任务运行中可直接插问、支持 worktree（09-09）——模型厂开始像 IDE 厂一样做交互细节。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622706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这是基础设施层面的竞争，不再是功能层面的竞争。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八家现状速览——上半年定位到 9 月最新动态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59536" y="17373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17373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上半年定位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144768" y="1737360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现在最新动态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10844784" cy="5349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011680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487168" y="2011680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代码优先 / 代理优先双模式，Agents 窗口（04-08）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6144768" y="2011680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Host 独立进程 + 开放 AHP 协议，会话脱离编辑器持久化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10314432" y="2011680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2026-08-26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546604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Air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2546604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从零重构独立 IDE，多 Agent 并行（03 月 Public Preview）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2546604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正式定名「AI IDE Air」，核心理念“确定性与可解释性”；Roadmap 列多 Agent／云端执行／跨平台／Web，仍未见 GA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10314432" y="2546604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未定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081528"/>
            <a:ext cx="10844784" cy="5349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3081528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487168" y="3081528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26.3：从“建议者”到“协作者”（02 月）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081528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 版：Planning with agents is first class，MCP 扩到调试/构建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10314432" y="3081528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2026-09（预计）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616452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487168" y="3616452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Gemini 原生集成 + 多模态生成 UI（H1）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3616452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Quail 4 Stable：本地推理内置、23 个 Agent Skills 可导出、并行状态</a:t>
            </a:r>
            <a:endParaRPr lang="en-US" sz="980" dirty="0"/>
          </a:p>
        </p:txBody>
      </p:sp>
      <p:sp>
        <p:nvSpPr>
          <p:cNvPr id="24" name="Text 22"/>
          <p:cNvSpPr txBox="1"/>
          <p:nvPr/>
        </p:nvSpPr>
        <p:spPr>
          <a:xfrm>
            <a:off x="10314432" y="3616452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2026-09-01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151376"/>
            <a:ext cx="10844784" cy="5349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" y="4151376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2487168" y="4151376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3：Tab → 全面 Agents 化（04-02）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4151376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Projects：协调者管上千 subagent，云端常驻、自托管机器</a:t>
            </a:r>
            <a:endParaRPr lang="en-US" sz="980" dirty="0"/>
          </a:p>
        </p:txBody>
      </p:sp>
      <p:sp>
        <p:nvSpPr>
          <p:cNvPr id="29" name="Text 27"/>
          <p:cNvSpPr txBox="1"/>
          <p:nvPr/>
        </p:nvSpPr>
        <p:spPr>
          <a:xfrm>
            <a:off x="10314432" y="4151376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2026-09-10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59536" y="4686300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487168" y="4686300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/ SOLO 双模式（05 月）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6144768" y="4686300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Solo 与 Agent 合并为统一 Agent，新增 `/goal /plan /spec`</a:t>
            </a:r>
            <a:endParaRPr lang="en-US" sz="980" dirty="0"/>
          </a:p>
        </p:txBody>
      </p:sp>
      <p:sp>
        <p:nvSpPr>
          <p:cNvPr id="33" name="Text 31"/>
          <p:cNvSpPr txBox="1"/>
          <p:nvPr/>
        </p:nvSpPr>
        <p:spPr>
          <a:xfrm>
            <a:off x="10314432" y="4686300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2026-09-01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5221224"/>
            <a:ext cx="10844784" cy="534924"/>
          </a:xfrm>
          <a:prstGeom prst="roundRect">
            <a:avLst/>
          </a:prstGeom>
          <a:solidFill>
            <a:srgbClr val="F4F6F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" y="5221224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487168" y="5221224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目标驱动协作，MCP / Skills（04 月前后）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6144768" y="5221224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`/design` 把可视化设计画板带进 CLI，自托管环境公测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10314432" y="5221224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59536" y="5756148"/>
            <a:ext cx="15544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2487168" y="5756148"/>
            <a:ext cx="356616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从辅助工具到“智能体软件工程师”（04 月前后）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6144768" y="5756148"/>
            <a:ext cx="412394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后台任务运行中可直接插问，worktree 支持</a:t>
            </a:r>
            <a:endParaRPr lang="en-US" sz="980" dirty="0"/>
          </a:p>
        </p:txBody>
      </p:sp>
      <p:sp>
        <p:nvSpPr>
          <p:cNvPr id="42" name="Text 40"/>
          <p:cNvSpPr txBox="1"/>
          <p:nvPr/>
        </p:nvSpPr>
        <p:spPr>
          <a:xfrm>
            <a:off x="10314432" y="5756148"/>
            <a:ext cx="118872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2026-09-09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6382512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来源：各产品官方 changelog / blog，核实于 2026-09-17。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Code：</a:t>
            </a:r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从「代码优先／代理优先」切换器，到会话可持久化的基础设施层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关键更新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</a:t>
            </a:r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Host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是一个独立进程，脱离任何单个编辑器窗口管理 Agent 会话，让会话可以跨客户端持久化并保持同步；开放 </a:t>
            </a:r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AHP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（Agent Host Protocol），用「持久、可展示的状态 + 有序的类 Redux 操作」代替各家 harness 私有事件，浏览器、编辑器、远程连接都能收敛到同一个会话视图。</a:t>
            </a:r>
            <a:pPr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Stable / Insiders 已启用（2026-08-26）</a:t>
            </a:r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月版本 · 代理窗口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19428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3436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04 月版本「代理」窗口界面截图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聊天与会话列表作为主界面；“代理”窗口可访问所有工作区；允许跨项目并行运行和跟踪多个会话——但会话仍然绑定在这一个 VS Code 窗口里，窗口关了会话就断了。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月版本 · Agent Host + AHP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3260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97268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Agent Host 会话跨浏览器／编辑器／远程连接切换的界面（官方博客配图）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会话归 Agent Host 这个独立进程所有，不归某个编辑器窗口所有；同一会话可以在浏览器、编辑器、远程连接之间无缝切换查看；Copilot、Claude 等不同 harness 的能力保留，但共用一套会话体验。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58368" y="568756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8756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不再问“用哪个 Agent”，改问“谁能接上这个会话”——协议先行，这是 Microsoft 一贯的打法（对照第 6 页的 AHP 行业信号）。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291072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来源：code.visualstudio.com/blogs/2026/08/26/agent-host-architecture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从「在 Agents Window 中管理多个 Agent」到「由协调者向上千个 subagent 分派任务」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8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关键更新</a:t>
            </a:r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pPr indent="0" marL="0">
              <a:lnSpc>
                <a:spcPct val="130000"/>
              </a:lnSpc>
              <a:buNone/>
            </a:pPr>
            <a:r>
              <a:rPr lang="en-US" sz="118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Projects</a:t>
            </a:r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，2026-09-10 起向所有用户开放）：从左侧导航栏进入，一个 Project 在云端有自己的机器，合上电脑也不会停；共享上下文在所有云端与本地机器间同步，测试步骤这类经验能沉淀、不用每次重来；协调者本身</a:t>
            </a:r>
            <a:pPr indent="0" marL="0">
              <a:lnSpc>
                <a:spcPct val="130000"/>
              </a:lnSpc>
              <a:buNone/>
            </a:pPr>
            <a:r>
              <a:rPr lang="en-US" sz="118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不写代码</a:t>
            </a:r>
            <a:pPr indent="0" marL="0">
              <a:lnSpc>
                <a:spcPct val="130000"/>
              </a:lnSpc>
              <a:buNone/>
            </a:pPr>
            <a:r>
              <a:rPr lang="en-US" sz="11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，只做拆任务、派发给实现 Agent、管理并行执行，本地 Agent 负责本机相关的测试。协调者可以订阅 Slack 频道、跟踪 PR、按计划自动触发任务。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5330952" cy="2724912"/>
          </a:xfrm>
          <a:prstGeom prst="roundRect">
            <a:avLst>
              <a:gd name="adj" fmla="val 4362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0779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月 · Agents Window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16964" y="320040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80972" y="3246120"/>
            <a:ext cx="3285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04 月 Agents Window 主视图截图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默认主视图，智能体指挥工作台；左侧聚合全量 Agent 状态，中间对话交互，右侧文件预览——单位是“一个人管好几个正在跑的会话”，人还得逐个点开看。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330952" cy="2724912"/>
          </a:xfrm>
          <a:prstGeom prst="roundRect">
            <a:avLst>
              <a:gd name="adj" fmla="val 4362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90779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月 · Projects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0796" y="320040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94804" y="3246120"/>
            <a:ext cx="32857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Cursor Projects 协调者视图，云端机器与 subagent 并行状态界面（cursor.com/changelog/projects 配图）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单位变成“一个协调者管一个目标”，subagent 数量上千、人不逐个看；协调者能跨月存在、能被事件唤醒（PR / Slack / 定时），不需要人一直开着窗口。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568756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8756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Agent Team 现在对标的“看见几个 Agent 在跑”，Cursor 已经跳过这一级了——它跳到了“人不看 Agent，只看目标”，这条不在 24 条范围内，但值得写进「发展路径」。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291072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来源：cursor.com/changelog/projects，2026-09-10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从「IDE／SOLO 二选一」到「整合为统一 Agent，通过三档命令分层控制」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关键更新</a:t>
            </a:r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（2026-09-01）：</a:t>
            </a:r>
            <a:pPr indent="0" marL="0">
              <a:lnSpc>
                <a:spcPct val="130000"/>
              </a:lnSpc>
              <a:buNone/>
            </a:pPr>
            <a:r>
              <a:rPr lang="en-US" sz="11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Solo Agent 与 Agent 合并</a:t>
            </a:r>
            <a:pPr indent="0" marL="0">
              <a:lnSpc>
                <a:spcPct val="130000"/>
              </a:lnSpc>
              <a:buNone/>
            </a:pPr>
            <a:r>
              <a:rPr lang="en-US" sz="11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为统一 Agent，企业版率先生效；新增内置命令 `/plan`（小中型任务，先在 .trae/documents/ 生成规划文档，确认后逐步执行）与 `/spec`（系统级任务，生成 spec.md／tasks.md／checklist.md 三份文档，按任务夹组织，确认后自动更新状态）；两者与 `/goal` 一起，在消息框输入 “/” 即可调出。此前 8 月已支持手机客户端连 TraeCode（08-20）、个人版 Computer Use（08-12）。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58368" y="2926080"/>
            <a:ext cx="3493008" cy="2633472"/>
          </a:xfrm>
          <a:prstGeom prst="roundRect">
            <a:avLst>
              <a:gd name="adj" fmla="val 4514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92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/plan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316415"/>
            <a:ext cx="3163824" cy="1779651"/>
          </a:xfrm>
          <a:prstGeom prst="roundRect">
            <a:avLst>
              <a:gd name="adj" fmla="val 4110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3362135"/>
            <a:ext cx="3035808" cy="168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「/plan」生成规划文档的界面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范围：小中型任务：功能开发、模块级重构、缺陷修复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流程：生成规划文档 → 人确认 → 按步骤执行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34256" y="2926080"/>
            <a:ext cx="3493008" cy="2633472"/>
          </a:xfrm>
          <a:prstGeom prst="roundRect">
            <a:avLst>
              <a:gd name="adj" fmla="val 4514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98848" y="29992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/spec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98848" y="3316415"/>
            <a:ext cx="3163824" cy="1779651"/>
          </a:xfrm>
          <a:prstGeom prst="roundRect">
            <a:avLst>
              <a:gd name="adj" fmla="val 4110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62856" y="3362135"/>
            <a:ext cx="3035808" cy="168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「/spec」生成 spec/tasks/checklist 三份文档的界面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5193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范围：系统级任务：大规模重构、多人协作项目</a:t>
            </a:r>
            <a:endParaRPr lang="en-US" sz="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流程：生成 spec / tasks / checklist 三份文档 → 人确认 → 自动更新状态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010144" y="2926080"/>
            <a:ext cx="3493008" cy="2633472"/>
          </a:xfrm>
          <a:prstGeom prst="roundRect">
            <a:avLst>
              <a:gd name="adj" fmla="val 4514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74736" y="29992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/goal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74736" y="3316415"/>
            <a:ext cx="3163824" cy="1779651"/>
          </a:xfrm>
          <a:prstGeom prst="roundRect">
            <a:avLst>
              <a:gd name="adj" fmla="val 4110"/>
            </a:avLst>
          </a:prstGeom>
          <a:solidFill>
            <a:srgbClr val="E1E4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38744" y="3362135"/>
            <a:ext cx="3035808" cy="168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「/goal」设置长期目标的输入界面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8174736" y="519379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范围：长期目标（对齐 Cursor 同名命令的用法）</a:t>
            </a:r>
            <a:endParaRPr lang="en-US" sz="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流程：跨会话维持一个目标，不逐次下达任务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5687568"/>
            <a:ext cx="10844784" cy="566928"/>
          </a:xfrm>
          <a:prstGeom prst="roundRect">
            <a:avLst>
              <a:gd name="adj" fmla="val 20968"/>
            </a:avLst>
          </a:prstGeom>
          <a:solidFill>
            <a:srgbClr val="E6EE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" y="5687568"/>
            <a:ext cx="10405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6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2000"/>
              </a:lnSpc>
              <a:buNone/>
            </a:pPr>
            <a:r>
              <a:rPr lang="en-US" sz="10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字节这步和 Cursor 的 /goal 几乎同时出现——目标颗粒度不是硅谷一家的选择，是双边同步在做的事；`/spec` 的三份文档产出，和我们 12 自动化 Workflow、14 AI 协作时间轴要解决的“过程留痕”是同一件事。</a:t>
            </a:r>
            <a:endParaRPr lang="en-US" sz="106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327648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来源：docs.trae.cn/ide_spec-and-plan-workflows · trae.cn/changelog，2026-09-01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从「CLI 里的编码助手」到「能设计、能协作、能自托管」的完整工作台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四处关键更新之二（核实于 2026-09-17）：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615184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8833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`/design` 可视化画板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38148" y="2980944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2156" y="3026664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/design 生成的可编辑画板草案界面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7550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4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研究预览，把 Claude Design 的可视化画板工作流带进 CLI 与 Claude Code Desktop，基于 artifacts，先出可编辑草案，选中一个再实现（2026-08-17~21）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6172200" y="2615184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68833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自托管环境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51980" y="2980944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15988" y="3026664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自托管环境配置或云端会话运行界面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7550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云端会话跑在企业自己的基础设施上，Team / Enterprise 公测（2026-08 初）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5669280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6928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“设计”第一次成为 CLI 的一等公民——这和我们 09 可视化编程、13 UI&amp;Code 二次编辑两条要解决的问题是同一个方向。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199632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来源：code.claude.com/docs/whats-new，核实于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4-2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跨会话消息 + 后台子代理——「一个会话只能做一件事」的边界被打开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跨会话消息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38148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2156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跨会话消息传递的界面示例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一个会话能把发现直接传给另一个会话，减少重复排查（2026-08 初）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`/code-review` 后台子代理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51980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5988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/code-review 后台运行状态界面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作为后台子代理独立跑，不阻塞主会话（2026-07-20~24）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" y="5065776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06577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后台子代理与跨会话消息，把“一个会话只能做一件事”的边界主动打开——这和我们 17 多 Agent 并行协作要解决的问题同源。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596128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来源：code.claude.com/docs/whats-new，核实于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Codex：</a:t>
            </a:r>
            <a:pPr indent="0" marL="0">
              <a:lnSpc>
                <a:spcPct val="114000"/>
              </a:lnSpc>
              <a:buNone/>
            </a:pPr>
            <a:r>
              <a:rPr lang="en-US" sz="1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从「智能体软件工程师」到「持续在后台运行、可随时被追加提问」的工程伙伴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四处关键更新之二（Codex CLI 0.154.0，核实于 2026-09-17）：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615184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8833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 Question Answering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38148" y="2980944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02156" y="3026664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后台任务中插入提问的终端交互截图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7550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后台任务运行中可以直接插入提问（inline question answering during background work），2026-09-09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2615184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688336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Worktree 支持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51980" y="2980944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15988" y="3026664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多任务并行的 worktree 界面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7550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worktree 支持，多个任务可在独立工作树里并行推进，2026-09-09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5669280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69280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“跑着的时候能不能被打断问一句”，正是我们 11 互动式意图确认要解决的同一个问题——Codex 已经给出一个具体解法。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199632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来源：learn.chatgpt.com/docs/changelog（原 developers.openai.com/codex/changelog 重定向至此），核实于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5-2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Codex：</a:t>
            </a:r>
            <a:pPr indent="0" marL="0">
              <a:lnSpc>
                <a:spcPct val="114000"/>
              </a:lnSpc>
              <a:buNone/>
            </a:pPr>
            <a:r>
              <a:rPr lang="en-US" sz="2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Vim 模式细节打磨 + 推理档位可选——工程伙伴也在补齐使用细节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Vim 模式 R 替换/撤销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38148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2156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Vim 模式下 R 替换操作示例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Vim 模式加入 `R` 替换与撤销操作，2026-09-09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max / ultra 推理档位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51980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5988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推理强度档位选择界面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同步上线 max / ultra 推理强度档位，可按任务复杂度选择（09-10）；`codex mcp-server` 已弃用，迁移到 Codex app server（09-05）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658368" y="5065776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06577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连编辑器操作细节和推理强度都做成可调档位——Codex 已经不满足于“能干活”，开始比“干活的手感”。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596128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来源：learn.chatgpt.com/docs/changelog，核实于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从「自主 Agent」到「规划者」——Planning with agents is first class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演进链再加一环：被动补全 → 协作助手 → 自主 Agent（H1 口径）→ 规划者。Xcode 27（WWDC 06-09 宣布，beta 6 于 08-24，预计 09 月正式）四处更新之二：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扩展调试 / scheme / build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19428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3436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mcpbridge 调试面板截图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扩到调试 / scheme / build settings，mcpbridge 约 20 项能力可调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 Agent Skills 导出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3260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97268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Agent Skills 导出面板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可导出的 Agent Skills，团队可共享给 Claude Code / Cursor / Codex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5687568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87568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“规划”从 Cursor / TRAE 的专利变成了 Apple 也要做的标配——见第 5 页三扇门、第 6 页行业信号表。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217920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来源：developer.apple.com/cn/xcode/whats-new，核实于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6-2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1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Xcode：</a:t>
            </a:r>
            <a:pPr indent="0" marL="0">
              <a:lnSpc>
                <a:spcPct val="114000"/>
              </a:lnSpc>
              <a:buNone/>
            </a:pPr>
            <a:r>
              <a:rPr lang="en-US" sz="2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端侧补全 + Canvas 并排渲染——离线能力与规划可视化同步补齐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端侧 Neural Engine 补全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38148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2156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离线补全运行状态截图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端侧 Neural Engine 补全，离线也能跑基础补全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Canvas 并排渲染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51980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5988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Canvas 规划草案与代码并排视图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Canvas 并排渲染，规划草案与代码改动并排对照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" y="5065776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06577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离线也能补全、规划草案与代码并排看——Apple 把“平台方亲自下场”的优势用在了体验细节上，不只是接模型。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596128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来源：developer.apple.com/cn/xcode/whats-new，核实于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Studio：</a:t>
            </a:r>
            <a:pPr indent="0" marL="0">
              <a:lnSpc>
                <a:spcPct val="114000"/>
              </a:lnSpc>
              <a:buNone/>
            </a:pPr>
            <a:r>
              <a:rPr lang="en-US" sz="23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从「功能罗列」到「一个版本同时交付三项能力」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从“Gemini 原生深度集成＋多模态生成 UI”的功能罗列，到 Quail 4（2026.1.4）Stable（09-01）一次打包四处更新之二：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Gemma 4 本地推理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519428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83436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本地推理开关设置界面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Gemma 4 本地推理内置，不联网也能跑基础模型能力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172200" y="2724912"/>
            <a:ext cx="5330952" cy="2834640"/>
          </a:xfrm>
          <a:prstGeom prst="roundRect">
            <a:avLst>
              <a:gd name="adj" fmla="val 4194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36792" y="2798064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个 Agent Skills 导出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3260" y="3090672"/>
            <a:ext cx="3608832" cy="2029968"/>
          </a:xfrm>
          <a:prstGeom prst="roundRect">
            <a:avLst>
              <a:gd name="adj" fmla="val 3604"/>
            </a:avLst>
          </a:prstGeom>
          <a:solidFill>
            <a:srgbClr val="E1E4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97268" y="3136392"/>
            <a:ext cx="348081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Agent Skills 导出列表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519379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 个 Android Agent Skills 可导出到 CLI，团队复用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" y="5687568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7824" y="5687568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六轴评分里 Android Studio 常年第一，不是单点强，是每次发布都补齐一整条——见第 5 页评分。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6217920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来源：Android Studio 官方 release notes，核实于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7-2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并行状态可见 + 改动摘要——把「多任务」和「多模型」都做成看得见的卡片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Mode 并行状态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438148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2156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多任务并行实时状态视图</a:t>
            </a:r>
            <a:endParaRPr lang="en-US" sz="88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Mode 并行 agent 实时状态视图，多个任务同时可见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2011680"/>
            <a:ext cx="5330952" cy="2926080"/>
          </a:xfrm>
          <a:prstGeom prst="roundRect">
            <a:avLst>
              <a:gd name="adj" fmla="val 4063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36792" y="2084832"/>
            <a:ext cx="5001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Summary of Changes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51980" y="2377440"/>
            <a:ext cx="3771392" cy="2121408"/>
          </a:xfrm>
          <a:prstGeom prst="roundRect">
            <a:avLst>
              <a:gd name="adj" fmla="val 3448"/>
            </a:avLst>
          </a:prstGeom>
          <a:solidFill>
            <a:srgbClr val="E1E4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15988" y="2423160"/>
            <a:ext cx="36433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改动摘要卡片截图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457200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改动摘要卡片，模型可选 Gemini / Anthropic / OpenAI / 本地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" y="5065776"/>
            <a:ext cx="10844784" cy="457200"/>
          </a:xfrm>
          <a:prstGeom prst="roundRect">
            <a:avLst>
              <a:gd name="adj" fmla="val 26000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7824" y="5065776"/>
            <a:ext cx="10405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“并行状态可见”和“改动先给摘要”，正是我们 07 Agent Team、13 UI&amp;Code 二次编辑两条要补的位置——Android Studio 已经把它们做成标配。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5596128"/>
            <a:ext cx="10844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来源：Android Studio 官方 release notes，核实于 2026-09-17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正式定名「AI IDE Air」：核心理念是“AI 即默认工作流，而非可选增强”，强调确定性与可解释性、拒绝黑箱魔法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月 Public Preview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时产品名与 GA 时间均未定，现已正式定名「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 Air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三条理念：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即默认工作流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（非可选增强）、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确定性与可解释性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（拒绝黑箱魔法）、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代码主导权始终在开发者手里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 Roadmap 列四项在途能力：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Multiple Agents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（Claude 已支持，Codex／Gemini／Junie 即将）、Cloud Execution、Windows and Linux、Web Client——多数尚未兑现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拿“确定性与可解释性”回应黑箱焦虑，和第 18 页“卡住采纳的是信任不是能力”同一个判断；但 Roadmap 项尚未兑现，GA 前不据此下结论。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jetbrains-air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0136" y="3981006"/>
            <a:ext cx="3381248" cy="14745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 Air 官方 Roadmap：“What's coming”：Multiple Agents／Cloud Execution／Windows and Linux／Web Client（用户提供截图）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来源：用户提供的官方发布物料（定位文案＋Roadmap 截图），核实于 2026-09-17；GA 具体日期未见官方公告，仍按「已知局限」处理</a:t>
            </a:r>
            <a:endParaRPr lang="en-US" sz="8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竞品动态 · 分 8-2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 Air：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接入页面把 Codex／Claude Agent／Gemini CLI／Junie 并列展示，也可以不逐个连、直接订阅打包的 JetBrains AI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「连接你的 Agent」页面：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Codex／Claude Agent／Gemini CLI／Junie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四选一激活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也可以不逐个连，直接订阅打包的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AI／Ultimate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一次拿全部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和第 6 页「JetBrains + Zed，ACP Registry」是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同一张截图级实证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“先给选择、再给套餐”——把 IDE 做成 Agent 中立的宿主而不是自研推广渠道，和 Zed 的 External Agents 面板是同一套产品逻辑的两次独立落地。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jetbrains-air-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8443" y="3767328"/>
            <a:ext cx="2664635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 Air「连接你的 Agent」设置页：Codex／Claude Agent／Gemini CLI／Junie 四选一激活，或直接订阅 JetBrains AI 打包方案（用户提供截图）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来源：用户提供截图（JetBrains AI IDE Air 连接 Agent 界面），核实于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Flare：</a:t>
            </a:r>
            <a:pPr indent="0" marL="0">
              <a:lnSpc>
                <a:spcPct val="114000"/>
              </a:lnSpc>
              <a:buNone/>
            </a:pPr>
            <a:r>
              <a:rPr lang="en-US" sz="19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图谱是主界面不是文件树，把「多 Agent 并行改代码」变成看得见的协调层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MIT 开源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，主分支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v2.1.0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，Node 20+，支持 Claude Code／Codex／opencode／aider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文件是节点、import 是边，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每改一次文件，图就打一次补丁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三种视图看同一份数据：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Canvas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（按依赖深度排开）、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Wheel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（可拖拽单环弦图）、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Districts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（面积表示代码行数）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十种 Lens 决定颜色含义，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Hotspots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（改动频次×复杂度）最实用，专门定位危险文件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把「代码库长什么样」从静态文件树变成会呼吸的活图——这是它和其余产品最大的不同：别家做的是「Agent 界面」，它做的是「代码库界面」。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005072"/>
            <a:ext cx="10844784" cy="2029968"/>
          </a:xfrm>
          <a:prstGeom prst="roundRect">
            <a:avLst>
              <a:gd name="adj" fmla="val 5856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flare-canv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029" y="4096512"/>
            <a:ext cx="2674510" cy="15361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94916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94916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3064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35652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94916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94916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3064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35652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17" name="Image 1" descr="deck/shots/flare01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732" y="4196880"/>
            <a:ext cx="2731008" cy="1335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25868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25868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34016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166604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25868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25868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034016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166604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5724144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左：Canvas 视图（可见 Review／Insights／Channel 分栏、内置终端与顶部风险 chip：2 critical／5 risky／7 to review）；右：Wheel 视图（可拖拽单环弦图）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来源：github.com/AlgoNoRhythm/Flare（MIT；用户提供资料称 v2.0.0／2026-08-30，GitHub Releases 页仅见至 v1.1.0／2026-08-16、主分支 package.json 为 2.1.0，版本口径未完全对齐，见「已知局限」），核实于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身份标识源自 MCP 会话，审查以「burst」为单位进行，风险变更单独排队、不进入标签页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身份来自 MCP 会话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：initialize 签发唯一名（Claude 1／Codex 1），各带几何标记，编号不复用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Channel＋burst 审查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：开工说要动什么、收工读一遍房间；不做文件锁只监听不拦截，按 burst 批量审查、可一键撤销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 chip＋影子 git 历史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：风险变更顶部排队不进标签页；影子历史自动提交每个 burst，能 diff 能回滚，不碰真实 git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它把「Agent 正在改你的代码」这件原本看不见的事，变成一张能看、能问、能回滚的图——和我们 07 Agent Team、14 AI 协作时间轴要解决的是同一类问题：多 Agent 并行时，身份、意图、风险怎么让人一眼看见。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0088" y="3675888"/>
            <a:ext cx="3641344" cy="2048256"/>
          </a:xfrm>
          <a:prstGeom prst="roundRect">
            <a:avLst>
              <a:gd name="adj" fmla="val 446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Agent 几何标记与身份列表、Channel 审查面板、顶部风险 chip 与影子历史 diff 视图（待补实拍）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来源：github.com/AlgoNoRhythm/Flare，核实于 2026-09-17；版本口径说明见上一页</a:t>
            </a:r>
            <a:endParaRPr lang="en-US" sz="8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Windsurf：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 收购计划失败后，由 Cognition（Devin 背后的公司）收购的「VS Code 底层＋Cascade Agent」编辑器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Cascade 是常驻式 Agent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：理解全代码库、跨文件推理、自主执行多步任务，能跑终端命令、多文件原子改动、接 MCP Server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底子是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，保留原生快捷键／插件／主题，定位「AI 是一等协作者，不是自动补全插件」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所有权变化：原 Codeium → 传闻被 OpenAI 收购但告吹 →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年底被 Cognition（Devin 的公司）接手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[C] 证据等级——综合第三方评测，未逐条核对官方一手资料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和第 10 页 VS Code 的 Agent Host 是同一条「协议化、会话常驻」思路，但 Windsurf 多了一层「换了东家还要不要继续投」的不确定性，选型时要单独评估团队稳定性。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52696" y="4005072"/>
            <a:ext cx="3056128" cy="1719072"/>
          </a:xfrm>
          <a:prstGeom prst="roundRect">
            <a:avLst>
              <a:gd name="adj" fmla="val 5319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Cascade Agent 工作流程界面（第三方评测配图，待补官方实拍）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来源：deployhq.com/guides/windsurf、codegen.com/ai-tools/windsurf 等第三方评测综合（[C] 证据等级），核实于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Rust 从零写了两年的高性能编辑器，把 Agent 面板做成「多线程会话＋逐条编辑可回滚」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官方三条主张：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（Rust 从零写，吃满多核／GPU）、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Intelligent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（主流 LLM 接入编辑）、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Collaborative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（团队协作内置）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别家界面已高度趋同，Zed 反而花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两年从零重写内核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，赌「差异化从底层性能开始」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Panel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按项目管理多线程会话，每次改动可设检查点回滚、逐缓冲区接受/拒绝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别家忙着换皮，Zed 忙着重写内核——多线程会话＋逐条编辑可回滚，是对“AI 改了什么”交代最细的一个。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zed-web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810" y="3767328"/>
            <a:ext cx="3062947" cy="18653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2308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230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956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8260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2308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2308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95672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8260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17" name="Image 1" descr="deck/shots/zed-ui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819" y="3767328"/>
            <a:ext cx="2842833" cy="18653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0332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33260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326624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45921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33260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33260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326624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459212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5724144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左：zed.dev 官网首页「The editor for what's next」，Fast／Intelligent／Collaborative 三条主张；右：第三方评测视频截图，VS Code／Cursor／CodeBuddy 界面高度趋同，反衬 Zed 的差异化路线（用户提供）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来源：zed.dev 官方站点＋zed.dev/docs/ai/agent-panel（官方文档）＋用户提供的第三方评测视频截图，核实于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Settings 里的 External Agents／MCP Servers／LLM Providers 三栏并列——「接入哪个 Agent」交由用户自行选择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External Agents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并列 Claude Code／Codex／Gemini CLI（均已连），可继续 Add Agent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Providers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列了 Kimi／Anthropic／DeepSeek／OpenAI 等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十余家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，可自行添加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这正是第 6 页「JetBrains + Zed，ACP Registry」的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产品级实证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 Agent 和十几家模型供应商并列可插——协议开放落地最彻底的一个，用户像装浏览器插件一样自由组合。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zed-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6806" y="3767328"/>
            <a:ext cx="3027908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Zed Settings：External Agents（Claude Code／Codex／Gemini CLI）、MCP Servers、LLM Providers 三栏并列（用户提供截图）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来源：用户提供截图（Zed 桌面客户端 Settings 页面），核实于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Replit Agent 4：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从「仅支持搭建 Web App」到「幻灯片/网站/App 并行构建」，设计工具升级为无限画布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4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（2026-03-19）构建范围从「仅 Web 应用」扩到「幻灯片/网站/Web应用/移动应用」可并行构建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 Mode 标签页换成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 Canvas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——覆盖所有工件类型的无限画布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协作模式从 fork-and-merge 改成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共享项目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：各自聊天线程＋共享 Kanban 看板，Agent 协助合并不用手动解冲突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构建流程从顺序执行改成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规划与构建并行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，任务跑在隔离环境里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Replit 把「Agent 协作」从「一个人和一个 Agent 聊」升级成「一个团队和一个 Agent 共用一块看板」——是目前八家＋新兴产品里唯一做团队协作看板的。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52696" y="4005072"/>
            <a:ext cx="3056128" cy="1719072"/>
          </a:xfrm>
          <a:prstGeom prst="roundRect">
            <a:avLst>
              <a:gd name="adj" fmla="val 5319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Replit Agent 4 Design Canvas 与协作 Kanban 看板界面（官方博客配图，待补）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来源：replit.com/blog/whats-changed-agent3-to-agent4，核实于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Smart Flow：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开源可视化 AI 工作流编排台，并非编码 Agent，而是面向模型与工具进行可视化编排连接的画布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GPL-3.0 开源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，定位「面向开发者的 AI 原生工作流编排平台」——可视化编排·单步调试·一键发布 Agent·零配置启动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画布提供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十余种节点类型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（大模型／代码／条件／多路分支／HTTP／循环等），拖拽连线即可搭流程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每个节点单独配置模型与提示词，运行面板能看到输入 JSON、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逐节点执行结果与耗时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Claude Code／Codex 这类「命令行里的编码 Agent」不是一回事——它更像给已经存在的模型和工具「拉线搭积木」的低代码编排层，做的是流程可视化与可调试，不是写代码本身；放进「新兴产品」而非「AI IDE」，是因为它压根不碰源代码编辑。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martflow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172" y="3835515"/>
            <a:ext cx="3316224" cy="17290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2308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230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956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8260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02308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02308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95672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8260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17" name="Image 1" descr="deck/shots/smartflow-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24" y="3841780"/>
            <a:ext cx="3316224" cy="1716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0332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33260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326624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45921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33260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33260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326624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459212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5724144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左：节点画布（智能客服分流工作流，含大模型/条件/多路分支等节点）；右：运行面板（输入 JSON、逐节点执行结果与耗时）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来源：微信公众号文章（mp.weixin.qq.com/s/Lw4wlaPIqV_72k3dpsHSXA）及项目开源仓库，核实于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 MarsCode：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字节的免费入口产品——云端 IDE 与插件双形态并行，一次性覆盖补全/生成/问答/修复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字节跳动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出品，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 IDE ＋ 编辑器插件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（VS Code／JetBrains）两形态并行，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免费使用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覆盖代码补全、生成、解释、单测、文档、AI 问答、Bug 修复，号称支持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100+ 编程语言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第三方资料称底层为 GPT-4 驱动，与「豆包」品牌命名不一致，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未能核实，存疑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打法是「云端 IDE 当引流入口＋插件覆盖存量用户」两头下注，和 CodeBuddy 一起构成字节／腾讯在国内 AI IDE 赛道的两种铺法。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marsco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2312" y="3767328"/>
            <a:ext cx="1456895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豆包 MarsCode 产品页面（用户提供截图）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来源：aihub.cn/tools/coding/marscode（第三方综合介绍，[C] 证据等级，未逐条核对 marscode.cn 官方一手资料），核实于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代码小浣熊 Raccoon：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商汤最早一批做企业级 AI 编程助手的，三形态（侧边栏/编辑器内/终端）打法沿用至今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商汤科技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出品，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2023-12-07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发布，国内较早一批 AI 编程助手，覆盖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语言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三种形态并存：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侧边栏／编辑器内／终端面板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，集成 VS Code／IntelliJ IDEA 等主流 IDE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定位偏企业级项目研发；官方未标注具体模型型号，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未见明确写为「日日新」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，按已知局限处理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三形态（侧边栏/编辑器内/终端）覆盖是它和后来者最大的差异点——不赌一种交互形态，跟着开发者原有习惯走，这条打法国内后来者基本都在抄。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racco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2312" y="3767328"/>
            <a:ext cx="1456895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代码小浣熊 Raccoon 产品页面（用户提供截图）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来源：sensetime.com/cn/product-detail（商汤官方）＋ aihub.cn/tools/coding/raccoon（第三方综合），核实于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IDE：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腾讯将插件升级为独立 IDE，提出「产设研一体的 AI 全栈工程师」定位，核心能力为「一句话生成可运行应用」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腾讯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出品，从插件升级为独立全栈平台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IDE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，支持 Claude、混元等国内外主流模型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规划-设计-开发-部署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」四步打通：一句话生成 PRD/TRD/DRD → Figma 一键转代码（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D2C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）→ 组件库搭界面 → 一键部署 CloudBase/Supabase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官方叙事强调「整个流程可以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完全不写一行代码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CodeBuddy 云端插件版相比，这是同一家公司「全链路」叙事的产品化落地——从「插件里加流程」升级成「独立 IDE 里跑完规划到部署」，D2C 一键转代码和自动配置后端服务这两点，是几家国内选手里目前唯一同时做全的。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codebuddy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1827" y="3767328"/>
            <a:ext cx="3377867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IDE 官方发布海报：Claude/混元多模型、D2C、CloudBase+Supabase、CloudStudio 部署（用户提供）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来源：用户提供的官方发布物料（产品海报＋界面截图），核实于 2026-09-17；具体发布日期以官方公告为准，未独立核实</a:t>
            </a:r>
            <a:endParaRPr lang="en-US" sz="8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IDE：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一句话需求生成可用的宝可梦图鉴应用——列表/详情/搜索筛选/收藏/响应式/深浅色模式全部覆盖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Pokedex 宝可梦图鉴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」应用，一句话需求跑出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六项功能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：列表浏览、详情查看、搜索筛选、收藏管理、响应式设计、深浅色模式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技术栈自动选型：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18 + TypeScript、Vite 5、Shadcn UI、Tailwind CSS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，并给出规范的项目目录结构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应用直接在内置预览窗口跑通，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全程对话完成，不需要手写代码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这条实测材料比官方宣传海报更有说服力——不只是「能生成页面」，而是给出了一份工程师会认可的技术选型和目录结构，说明它生成的不是一次性的演示 Demo，是一个能接着往下开发的正常项目骨架；对我们判断「AI 生成代码的工程质量」这条创新点很有参考价值。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codebuddy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8365" y="3767328"/>
            <a:ext cx="3204789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IDE 实测：对话生成的「宝可梦图鉴」应用在内置预览窗口运行，右侧为完成总结与技术栈说明（用户提供截图）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来源：用户提供的实测截图（CodeBuddy IDE 实际运行界面），核实于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 插件版：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升级为独立 IDE 之前，先以「全链路」定位将插件覆盖至数十款主流编辑器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定位「以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混元＋DeepSeek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大模型为底座的 AI 辅助编程工具」，覆盖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规划-设计-开发-测试-部署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五阶段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核心功能：代码补全、单元测试生成、智能代码评审、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Craft 开发智能体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、知识库集成、MCP Server 连接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深度集成 CloudStudio Web IDE，另支持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数十款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主流 IDE 插件形态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 CodeBuddy IDE（前两页）出现之前的铺垫形态——先用插件覆盖存量用户和数十款 IDE，再推出独立 IDE 承接「全链路」叙事，和豆包 MarsCode「云端 IDE + 插件双形态两头下注」是同一套打法思路。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0088" y="3675888"/>
            <a:ext cx="3641344" cy="2048256"/>
          </a:xfrm>
          <a:prstGeom prst="roundRect">
            <a:avLst>
              <a:gd name="adj" fmla="val 446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CodeBuddy 插件版全流程功能面板（腾讯云官方配图，待补）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来源：cloud.tencent.com/developer/article/2677102（腾讯云开发者社区），核实于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阿里把「看懂一个陌生仓库」做成产品功能——Repo Wiki 自动生成，Quest 模式把任务交给 Agent 异步跑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阿里巴巴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出品，2025 年秋上线，公开测试期、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全功能免费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两种模式：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Chat Agent Mode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（短周期配对编程）与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Quest Mode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（自主任务委派，长期异步工作流）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Repo Wiki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自动生成项目知识库、Enhanced Context Engineering、Action Flow 可视化执行计划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第三方实测：Repo Wiki 生成慢（中型项目约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小时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），6000 文件以上项目有规模限制，代码偏冗长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Repo Wiki 自动生成，是目前几家里唯一把「先看懂再动手」做成一个独立产品功能而不是隐藏在索引层背后的——对「新人／新 Agent 接手陌生代码库」这个场景很有参考价值。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52696" y="4005072"/>
            <a:ext cx="3056128" cy="1719072"/>
          </a:xfrm>
          <a:prstGeom prst="roundRect">
            <a:avLst>
              <a:gd name="adj" fmla="val 5319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Qoder Quest 模式与 Repo Wiki 界面（官方/第三方评测配图，待补）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来源：aliyun.com/product/qoder（阿里云官方）＋ jimmysong.io/blog/qoder-alibaba-ai-ide-personal-review（第三方实测），核实于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CatPaw：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美团自研、免费、深度兼容 VS Code 原生项目管理——不改用户习惯，在熟悉的体验上叠加 AI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美团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出品，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免费使用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，内置 kimi／glm 系列等多款最新模型可选，支持 Auto Mode 自动路由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深度兼容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原生项目管理，创建工作区／切换项目／克隆仓库操作路径不变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三处细节：智能补全减少「生成一堆要删的代码」、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Ctrl+K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行内改／问、Ask／Agent／自定义 Agent 三种对话模式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最突出：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可视化前端编辑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——预览窗口点选页面元素即可发给 AI 定位修改，不用语言描述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「VS Code 原生兼容＋免费＋内置多款开源/国产模型」这个组合本身就是打法：不和 Cursor／Copilot 拼订阅价格，靠免费＋不改习惯抢存量用户；可视化前端点选修改是几家里少见的「所见即所得」交互，对前端场景参考价值高。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005072"/>
            <a:ext cx="10844784" cy="2029968"/>
          </a:xfrm>
          <a:prstGeom prst="roundRect">
            <a:avLst>
              <a:gd name="adj" fmla="val 5856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catpaw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2334" y="4096512"/>
            <a:ext cx="2676851" cy="15727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27880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7880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1052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33640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2788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7880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0105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33640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CatPaw 启动页与侧边栏模型选择列表（用户提供截图）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来源：微信公众号「不写程序的程序猿」（mp.weixin.qq.com/s/Iy3cauc3mZWAdxmw96oPPAA，[C] 证据等级），核实于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并非「单一 Agent 的工作台」，而是「25＋种编码 Agent 各自在独立 worktree 中运行、统一查看、移动端可管理」的编排层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MIT 开源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，YC 孵化，GitHub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60.4K star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／4.1K fork，定位「The AI Orchestrator for 100x builders」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同时运行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25＋种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 Agent CLI（Claude Code、Codex、OpenCode、Copilot 等），各装进独立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worktree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隔离运行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 Mobile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（iOS／Android）：远程监控引导 Agent、完成收通知、随时发指令、批 approve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桌面端支持 macOS／Windows／Linux，可无头模式跑服务器，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完全免费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Flare 是同一类「站在多个 Agent 外面」的工具，但打法不同：Flare 靠依赖图谱把代码库可视化，Orca 靠 git worktree 物理隔离＋25＋家 Agent 通吃＋移动端随时看进度——覆盖面和「随身管理」这两点，是目前同类工具里做得最全的一个，YC 背书也值得留意其后续迭代速度。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4005072"/>
            <a:ext cx="10844784" cy="2029968"/>
          </a:xfrm>
          <a:prstGeom prst="roundRect">
            <a:avLst>
              <a:gd name="adj" fmla="val 5856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orca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780" y="4104305"/>
            <a:ext cx="2731008" cy="152060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994916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94916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3064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35652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94916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94916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3064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35652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pic>
        <p:nvPicPr>
          <p:cNvPr id="17" name="Image 1" descr="deck/shots/orca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938" y="4096512"/>
            <a:ext cx="2720596" cy="15361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325868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25868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034016" y="404164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166604" y="404164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25868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25868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034016" y="5687568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166604" y="555498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5724144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左：三栏并排的多 Agent 终端会话（含 Orca Mobile 手机端预览）；右：GitHub 仓库页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来源：github.com/stablyai/orca（MIT，官方仓库首页），核实于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把「审查 Agent 输出」做成产品功能——Design Mode／AI diff／SSH worktree，实测 6 个并行 review agent 互不干扰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四项功能：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Design Mode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（点选页面元素喂给 Agent）、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差异注释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（diff 逐行评论）、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SSH 工作树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（远程跑、断线重连）、GitHub／Linear 集成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实测：对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2.85 万行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SwiftUI 代码库发「review the iOS APP」，自动拆成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个子系统并行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跑，互不干扰、最后汇总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633472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633472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并行后，瓶颈从“怎么发起”转移到“怎么审查”——这几项都是在给“审 Agent 的活”做产品化，也验证了“25＋家 Agent 通吃”不是噱头。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328416"/>
            <a:ext cx="10844784" cy="2706624"/>
          </a:xfrm>
          <a:prstGeom prst="roundRect">
            <a:avLst>
              <a:gd name="adj" fmla="val 4392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orca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396" y="3419856"/>
            <a:ext cx="3992728" cy="22494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26408" y="33649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26408" y="336499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02524" y="336499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5112" y="3364992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26408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640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02524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3511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实测：一次「review the iOS APP」请求被自动拆成 6 个并行 review agent，各跑各的子系统、互不干扰（用户提供截图）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来源：github.com/stablyai/orca（MIT，官方仓库首页 Features 部分）＋用户提供实测截图，核实于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Aider：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纯终端「AI 结对编程」，不做 GUI，通过「仓库地图＋每次改动自动提交」使黑箱变得透明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Apache-2.0 开源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，约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4.9 万星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，口号「终端里的 AI 结对编程」——没有独立窗口，直接编辑本地 Git 仓库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三条设计哲学：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本地运行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原生集成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（每次修改自动提交可回滚）、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多模型支持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（不绑厂商）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核心靠「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仓库地图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」在有限窗口里理解项目结构，能精确改局部、跨文件协调、自动守规范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每次修改都是一次带说明的 Git 提交——和 Flare／Orca 同一类问题的第三种解法，不做可视化面板，靠 Git 本身把黑箱变透明，成本最低、对现有习惯改动最小；Flare 官方文档也把它列为可接的 Agent 之一。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0088" y="3675888"/>
            <a:ext cx="3641344" cy="2048256"/>
          </a:xfrm>
          <a:prstGeom prst="roundRect">
            <a:avLst>
              <a:gd name="adj" fmla="val 446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Aider 纯终端界面：无独立 GUI，运行画面即命令行对话与 Git 提交记录（官方仅提供动图演示，非静态截图，待补实拍）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来源：github.com/Aider-AI/aider（Apache-2.0，官方仓库首页）＋微信公众号文章综合介绍，核实于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MIT，明确提出「零 IDE 完成鸿蒙开发全流程」——不开 DevEco Studio、不登华为账号、任意 OpenAI 兼容模型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MIT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CLI 工具，卖点「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不开 DevEco Studio · 不登华为账号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任意 OpenAI 兼容模型 · 全程审批门禁」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六步流水线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：脚手架→hvigor 构建→签名封装→hdc 装机→启动验证→hilog 回读日志，一句命令跑通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知识图谱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927 d.ts／2万+ 符号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防幻觉；自进化双门禁＋金丝雀 20% 会话；内核 0 运行时依赖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唯一专门针对鸿蒙、公开喊出“不需要 DevEco Studio”的第三方开源工具——已经有人直接拿我们的生态当靶子做产品，建议优先级拉满，单独核实其能力边界与安全性。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hmharness-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1827" y="3767328"/>
            <a:ext cx="3377867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 官方海报：六步流水线（脚手架→hvigor构建→签名封装→hdc装机→启动验证→hilog回读）与核心数据条（用户提供）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来源：用户提供的官方发布海报（hmharness，开源 MIT），核实于 2026-09-17；具体仓库地址、团队信息与真实能力边界待补充核实</a:t>
            </a:r>
            <a:endParaRPr lang="en-US" sz="86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为「自进化」建立制度约束——训练门／保留门／金丝雀 20%／Pareto 存档，避免无依据的能力宣称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自进化流程：洞察积累 → 技能候选过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训练门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（A/B 基准）→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保留门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（防过拟合）→ 晋升快照，回归即回滚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新技能先以「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金丝雀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」进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20% 会话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对照实验，不达标打回；被拒候选进 Pareto 存档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全部晋升／拒绝／原始日志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公开在官网证据页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；README 原话：「越用越聪明」是机制而非已证事实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这句自我克制就是差异化——“自进化”一词已被用滥，它愿意公开证据、承认“机制≠已证事实”，这种“给证据不画饼”的姿态值得我们参考。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60088" y="3675888"/>
            <a:ext cx="3641344" cy="2048256"/>
          </a:xfrm>
          <a:prstGeom prst="roundRect">
            <a:avLst>
              <a:gd name="adj" fmla="val 4464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自进化流水线示意：洞察积累→训练门→保留门→金丝雀 20% 会话→晋升/回滚，被拒候选进 Pareto 存档（用户提供文字说明，暂无配图）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来源：用户提供的产品说明文字（自进化机制描述），核实于 2026-09-17；官网证据页与具体数据集内容未独立核实</a:t>
            </a:r>
            <a:endParaRPr lang="en-US" sz="8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新兴产品透视 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Figma Motion：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从「动效是设计外的执行工序」到「动效是画布内的设计材料，和图片、矢量同级」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 2026 发布（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2026-06-24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起灰度上线），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所有方案开放公开测试（open beta）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画布底部时间轴：选中 frame／组件进入 Motion 模式，套预设或手动打关键帧，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Auto-keyframe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随播放头自动录制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动效变量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（timing/easing variables）+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动画组件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：动效沉淀成设计系统变量，绑定组件后跨屏幕、跨协作者文件自动生效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 Mode 只读时间轴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：时间值/缓动曲线/关键帧直接可读，代码一键复制为 CSS／JSON／React，支持 MCP 把动画帧传给写代码的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把“动效”也变成了能被设计系统收编、能一键转代码的资产——和我们 09 可视化编程、13 UI&amp;Code 二次编辑、16 设计稿一键转代码（D2C）是同一条“设计即代码源”的路线，但它往前多走一步：过去必须离开设计工具交给 After Effects／Principle／ProtoPie 执行的动效环节，也被收回了画布内。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52696" y="4005072"/>
            <a:ext cx="3056128" cy="1719072"/>
          </a:xfrm>
          <a:prstGeom prst="roundRect">
            <a:avLst>
              <a:gd name="adj" fmla="val 5319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Motion 模式时间轴示意：画布底部关键帧轨道、缓动／弹簧面板、Dev Mode 只读时间轴与代码导出面板（官方产品图，待补真实截图）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来源：Figma 官方博客 Config 2026 Recap（figma.com/blog/config-2026-recap）、Figma Help Center「What's new from Config 2026」，核实于 2026-09-20；发布动画组件／AI 生成／高清导出需付费方案，Figma for Government 不支持</a:t>
            </a:r>
            <a:endParaRPr lang="en-US" sz="8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用户实证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一位鸿蒙开发者的真实使用反馈：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 上架之后，DevEco Studio 已经很少再被打开——改功能、编译、装机全部交给 Agent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开发者博客（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Veer，2026-09-08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）：「宝贝日程表」App 上架后，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日常开发不再打开 DevEco Studio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把需求告诉 AI Agent，Agent 读工程、改代码、调用 hvigorw／hdc 编译装机，作者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只看设备效果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SDK／签名工具仍在，「吃灰」的只是那个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很少点开的 IDE 窗口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 hmharness 打的是同一张牌——“鸿蒙开发可以不开 DevEco Studio”已从宣传变成真实习惯：我们要回答的不是“要不要加 AI”，而是“IDE 窗口还剩多少必须打开的理由”。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deveco-baobei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0136" y="3917060"/>
            <a:ext cx="3381248" cy="16024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作者实际上架的「宝贝日程表」鸿蒙 App：今天／课表／事项／我的 四个主入口，全部由 Agent 全程实现（用户提供截图）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来源：微信公众号文章「AI 写代码之后，DevEco Studio 在我电脑里吃灰了」（Veer，2026-09-08），核实于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用户实证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这位开发者沉淀的六条方法论，每一条都能直接对照我们自己的 07/13/14/18 页判断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首个需求写清「谁用、何时用、做什么、首版边界」四件事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大需求拆小步，派任务带「先读现状、限定范围、写明验收」三约束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用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兜底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，改坏了能 diff／撤回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反馈具体到能复现，而非「再好看一点」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不看「已完成」口头汇报，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拿操作结果验收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上架进度状态化汇报，不含糊成「全部搞定」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8953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8953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来自真实用户走完整个流程后的复盘，比我们自己假设更可信——第 3-5 条和第 07/13/14 页“人怎么放心把活交给 Agent”是同一类问题，可直接作体验设计验证清单。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72888" y="4590288"/>
            <a:ext cx="2015744" cy="1133856"/>
          </a:xfrm>
          <a:prstGeom prst="roundRect">
            <a:avLst>
              <a:gd name="adj" fmla="val 8065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方法论摘录：首个需求四要素、可检查的小步拆分、Git 兜底可回滚、反馈具体到能复现、拿操作结果而非口头验收、上架流程状态化汇报（原文表格与示例提示词，暂无独立配图）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来源：微信公众号文章「AI 写代码之后，DevEco Studio 在我电脑里吃灰了」（Veer，2026-09-08），核实于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底座能力观察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IDEA 将自身开放为 MCP Server：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修改代码后无需盲目执行命令，可直接查看错误标记、运行构建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IntelliJ IDEA 2025.2+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内置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Server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：AI 发指令给 IDEA，由 IDE 自己调检查器、跑索引，不再盲猜路径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等主流工具一键配置接入，没在列表里的也能手动填 JSON；多项目可指定路由，互不串台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安全默认收着：跑危险命令要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手动确认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，用不上的工具可关掉，数据库建议配只读账号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用户提供「调试仅旗舰版可用」「IDEA 须保持运行」两点，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官方文档未见对应表述，未独立核实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310128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3310128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 走的正是 IntelliJ Platform 底座——JetBrains 自己把底座能力开放成协议，意味着「AI 连上 IDE 内部能力」这条路未来可能不用我们自己造轮子，直接影响技术选型判断，建议单独跟进核实。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52696" y="4005072"/>
            <a:ext cx="3056128" cy="1719072"/>
          </a:xfrm>
          <a:prstGeom prst="roundRect">
            <a:avLst>
              <a:gd name="adj" fmla="val 5319"/>
            </a:avLst>
          </a:prstGeom>
          <a:solidFill>
            <a:srgbClr val="E1E4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5797296"/>
            <a:ext cx="1066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IntelliJ IDEA MCP Server 配置与调用界面（官方文档配图，待补）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来源：jetbrains.com/help/idea/mcp-server.html（官方文档），核实于 2026-09-17；「调试旗舰版限定」「IDEA 须保持运行」两点为用户提供信息，未独立核实</a:t>
            </a:r>
            <a:endParaRPr lang="en-US" sz="86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底座能力观察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Lithe-IDEA：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不依赖 IntelliJ Platform，另起技术底座重写一个「轻量化」的 IDEA 替代方案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Apache-2.0 开源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，GitHub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712 星／71 fork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，v0.4.1 最新版，定位「面向 Java 开发与 AI 协作的轻量 IDE」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不裁 IntelliJ Platform，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另起技术底座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：macOS 用 SwiftUI/AppKit，Windows 是 React + Tauri 2，两端共享 Rust Core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核心思路「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按需启动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」：语言服务器／终端／调试器用到时再启动，基础内存占用约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300～400MB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赌的是「Agent 写代码、IDE 只负责看懂它」——先把内存与启动成本降到最低，为下一页的功能覆盖铺底。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lithe-m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336" y="3767328"/>
            <a:ext cx="3164848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内存占用标注（约 233.9MB），验证“按需启动”确实压低了空载内存（用户提供截图）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来源：微信公众号文章（mp.weixin.qq.com/s/d55_DzmGMH64i2qs7TVV2g）＋ GitHub 仓库 lithe.top，核实于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底座能力观察 2-2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Lithe-IDEA：</a:t>
            </a:r>
            <a:pPr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功能覆盖保留 IDEA 常用检索与多语言一键运行，Git Diff 旁边直接挂 AI 生成 Commit Message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844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 IDEA 常用检索与多行标签，自动识别 Spring Boot/Java/Maven/Gradle 等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可运行入口，一键运行调试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双栏 Diff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＋暂存区＋本地历史审查改动，可调用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生成 Commit Message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内置数据库连接工作台（SQLite／Redis）可查表、跑 SQL；README 原话：「AI 负责编写代码，Lithe 负责帮你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看懂、跑通并审查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980944"/>
            <a:ext cx="10844784" cy="530352"/>
          </a:xfrm>
          <a:prstGeom prst="roundRect">
            <a:avLst>
              <a:gd name="adj" fmla="val 22414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2980944"/>
            <a:ext cx="10405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一句判断：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它和 IDEA MCP Server 是同一个判断的两种做法——「IDE 不用再包打一切，只需要把 Agent 干完活之后『看懂、跑通、审查』这三件事做扎实」；对我们的启示是：单品体验不必追求功能全，追求「AI 改完之后这一步好不好用」可能是更小成本的切入点。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3675888"/>
            <a:ext cx="10844784" cy="2359152"/>
          </a:xfrm>
          <a:prstGeom prst="roundRect">
            <a:avLst>
              <a:gd name="adj" fmla="val 5039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lithe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483" y="3767328"/>
            <a:ext cx="3170554" cy="19019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35272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35272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93660" y="371246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26248" y="371246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5272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35272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93660" y="5724144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26248" y="559155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576072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项目自动识别可运行入口，一键运行并查看进程输出（用户提供截图）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来源：微信公众号文章（mp.weixin.qq.com/s/d55_DzmGMH64i2qs7TVV2g）＋ GitHub 仓库 lithe.top，核实于 2026-09-17</a:t>
            </a:r>
            <a:endParaRPr lang="en-US" sz="86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研究洞察 · 总览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从竞品与用户的具体证据，到我们的体验设计策略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51790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能力已经追上，卡住体验的是信任与可见性。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7510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研究发现 · 关键洞察（竞品＋用户，逐条可查）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62672" y="1975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我们的体验策略 · 关键词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2212848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2332177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" y="233217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258568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头部客户（今年 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38+ 家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）不换工具，只开 CLI 与插件的门，触点收窄为 Studio · Code · CLI 加官网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658368" y="2771546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804672" y="28908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" y="28908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2817266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开发者信任 AI 输出准确性只有 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33%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；一位鸿蒙开发者实测反馈：App 上架后 DevEco Studio 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已经很少再被打开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，改功能、编译、装机全交给 Agent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658368" y="3330245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" y="344957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4672" y="34495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3375965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hmharness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等第三方开源工具已公开喊出「零 IDE 跑通鸿蒙开发全流程、不开 DevEco Studio」——已经有人拿我们的生态当靶子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658368" y="3888943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04672" y="40082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" y="4008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934663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六家应对姿态拉平看，DevEco 排倒数第二，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唯一高于均值的是模型可替换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；Zed 协议开放做得最彻底，Agent 与模型能像装浏览器插件一样自由组合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658368" y="4447642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804672" y="4566971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04672" y="456697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4493362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Flare／Orca／Aider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等新兴工具不约而同在做同一件事：把「Agent 正在改你的代码」从看不见，变成能看、能问、能回滚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658368" y="5006340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804672" y="5125669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04672" y="512566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5052060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JetBrains 正式定名「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IDE Air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」，核心理念是「确定性与可解释性、拒绝黑箱魔法」——回应的是同一个信任焦虑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658368" y="5565038"/>
            <a:ext cx="6583680" cy="476402"/>
          </a:xfrm>
          <a:prstGeom prst="roundRect">
            <a:avLst>
              <a:gd name="adj" fmla="val 24952"/>
            </a:avLst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804672" y="56843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A3A3A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04672" y="568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188720" y="5610758"/>
            <a:ext cx="5870448" cy="384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三条路里我们目前闭门；两期竞品观察中同期推进的四家</a:t>
            </a:r>
            <a:pPr indent="0" marL="0">
              <a:lnSpc>
                <a:spcPct val="124000"/>
              </a:lnSpc>
              <a:buNone/>
            </a:pPr>
            <a:r>
              <a:rPr lang="en-US" sz="106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全是体验位</a:t>
            </a:r>
            <a:pPr indent="0" marL="0">
              <a:lnSpc>
                <a:spcPct val="124000"/>
              </a:lnSpc>
              <a:buNone/>
            </a:pPr>
            <a:r>
              <a:rPr lang="en-US" sz="10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（审阅、纠偏、权限分级、成本可见），没有一家在推模型能力本身</a:t>
            </a:r>
            <a:endParaRPr lang="en-US" sz="1060" dirty="0"/>
          </a:p>
        </p:txBody>
      </p:sp>
      <p:sp>
        <p:nvSpPr>
          <p:cNvPr id="36" name="Shape 33"/>
          <p:cNvSpPr/>
          <p:nvPr/>
        </p:nvSpPr>
        <p:spPr>
          <a:xfrm>
            <a:off x="7662672" y="2212848"/>
            <a:ext cx="3840480" cy="1225296"/>
          </a:xfrm>
          <a:prstGeom prst="roundRect">
            <a:avLst>
              <a:gd name="adj" fmla="val 9701"/>
            </a:avLst>
          </a:prstGeom>
          <a:solidFill>
            <a:srgbClr val="E6EEFE"/>
          </a:solidFill>
          <a:ln/>
        </p:spPr>
      </p:sp>
      <p:sp>
        <p:nvSpPr>
          <p:cNvPr id="37" name="Shape 34"/>
          <p:cNvSpPr/>
          <p:nvPr/>
        </p:nvSpPr>
        <p:spPr>
          <a:xfrm>
            <a:off x="7845552" y="237744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845552" y="237744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可撤回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7845552" y="2743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卡住采纳的是信任，不是能力：信任度只有 33%，换来的策略是「看得见、改得回」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662672" y="3602736"/>
            <a:ext cx="3840480" cy="1225296"/>
          </a:xfrm>
          <a:prstGeom prst="roundRect">
            <a:avLst>
              <a:gd name="adj" fmla="val 9701"/>
            </a:avLst>
          </a:prstGeom>
          <a:solidFill>
            <a:srgbClr val="E6EEFE"/>
          </a:solidFill>
          <a:ln/>
        </p:spPr>
      </p:sp>
      <p:sp>
        <p:nvSpPr>
          <p:cNvPr id="41" name="Shape 38"/>
          <p:cNvSpPr/>
          <p:nvPr/>
        </p:nvSpPr>
        <p:spPr>
          <a:xfrm>
            <a:off x="7845552" y="376732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845552" y="37673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看得见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7845552" y="41330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Flare 到 Aider，行业不约而同在把 Agent 改动从黑箱变成能看、能问、能回滚的过程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7662672" y="4992624"/>
            <a:ext cx="3840480" cy="1225296"/>
          </a:xfrm>
          <a:prstGeom prst="roundRect">
            <a:avLst>
              <a:gd name="adj" fmla="val 9701"/>
            </a:avLst>
          </a:prstGeom>
          <a:solidFill>
            <a:srgbClr val="E6EEFE"/>
          </a:solidFill>
          <a:ln/>
        </p:spPr>
      </p:sp>
      <p:sp>
        <p:nvSpPr>
          <p:cNvPr id="45" name="Shape 42"/>
          <p:cNvSpPr/>
          <p:nvPr/>
        </p:nvSpPr>
        <p:spPr>
          <a:xfrm>
            <a:off x="7845552" y="515721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845552" y="515721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体验位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7845552" y="552297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两期观察中同期推进的全是体验位，没有一家在推模型能力——这是我们能打、也必须打的战场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不比较模型的智能程度，比较谁能让用户操作更省心、更安心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这不是退让，是算过账的选择。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10312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模型是可以买、可以换的部件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04688" y="210312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把资产押在部件上，等于押在别人的发布节奏上。我们支持配第三方模型，这本来就是我方唯一高于行业均值的一项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3017520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E6EE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3268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16382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卡住采纳的已经不是能力，是信任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04688" y="3163824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工具采用率 84%，但信任其输出准确性只有 33%、不信任 46%（Stack Overflow 2025，n=33,662）。能力过剩、信任不足——这种局面下决定采纳的是“人看不看得懂、敢不敢撤回”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078224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422452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行业头部今年推的全都是体验位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4224528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两期竞品观察里，四家同期推进的是中断与纠偏、多文件改动审阅、权限分级、成本可见、长时自治边界。没有一家在推模型能力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5577840"/>
            <a:ext cx="10844784" cy="932688"/>
          </a:xfrm>
          <a:prstGeom prst="roundRect">
            <a:avLst>
              <a:gd name="adj" fmla="val 12745"/>
            </a:avLst>
          </a:prstGeom>
          <a:solidFill>
            <a:srgbClr val="F4F6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5705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所以评估口径也换了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5980176"/>
            <a:ext cx="10296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 · 等待可见 · 审阅与回退 · 满意度。前三个是过程指标，版本内可测、可直接设计；满意度是它们的结果。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三个方向、24 条创新点全景：</a:t>
            </a:r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按投／半投／补齐／搭车分级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463040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标记说明：投＝有明确空位，值得立项｜半投＝一半是补齐、另一半没人做｜补齐＝别人都有，我们要跟上｜搭车＝跟着别的点一起做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6112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条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05409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6016" y="305409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176016" y="30540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29793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76016" y="32979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76016" y="32979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354177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调优：从「症状」进入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176016" y="354177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76016" y="354177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96112" y="378561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应用翻译/转化：安卓应用一键转化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76016" y="378561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176016" y="37856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28160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65904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65904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条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65904" y="3054096"/>
            <a:ext cx="2206752" cy="29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覆盖更多场景（UI、Code、md）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6845808" y="310245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45808" y="310245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565904" y="3406851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coding：语音开发模式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6845808" y="3406851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45808" y="3406851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565904" y="3619805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6845808" y="3619805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845808" y="3619805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565904" y="3832758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6845808" y="383275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845808" y="383275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4565904" y="4045712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6845808" y="404571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6845808" y="40457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4565904" y="4258666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6845808" y="425866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845808" y="425866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4565904" y="4471619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6845808" y="4471619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845808" y="447161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4565904" y="4684573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6845808" y="4684573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845808" y="4684573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4565904" y="4897526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UI&amp;Code 二次编辑</a:t>
            </a:r>
            <a:endParaRPr lang="en-US" sz="860" dirty="0"/>
          </a:p>
        </p:txBody>
      </p:sp>
      <p:sp>
        <p:nvSpPr>
          <p:cNvPr id="49" name="Shape 46"/>
          <p:cNvSpPr/>
          <p:nvPr/>
        </p:nvSpPr>
        <p:spPr>
          <a:xfrm>
            <a:off x="6845808" y="489752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845808" y="489752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51" name="Text 48"/>
          <p:cNvSpPr txBox="1"/>
          <p:nvPr/>
        </p:nvSpPr>
        <p:spPr>
          <a:xfrm>
            <a:off x="4565904" y="5110480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860" dirty="0"/>
          </a:p>
        </p:txBody>
      </p:sp>
      <p:sp>
        <p:nvSpPr>
          <p:cNvPr id="52" name="Shape 49"/>
          <p:cNvSpPr/>
          <p:nvPr/>
        </p:nvSpPr>
        <p:spPr>
          <a:xfrm>
            <a:off x="6845808" y="5110480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845808" y="51104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4565904" y="5323434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知识库自动生成（Repo Wiki）</a:t>
            </a:r>
            <a:endParaRPr lang="en-US" sz="860" dirty="0"/>
          </a:p>
        </p:txBody>
      </p:sp>
      <p:sp>
        <p:nvSpPr>
          <p:cNvPr id="55" name="Shape 52"/>
          <p:cNvSpPr/>
          <p:nvPr/>
        </p:nvSpPr>
        <p:spPr>
          <a:xfrm>
            <a:off x="6845808" y="532343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6845808" y="532343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4565904" y="5536387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设计稿一键转代码（D2C）</a:t>
            </a:r>
            <a:endParaRPr lang="en-US" sz="860" dirty="0"/>
          </a:p>
        </p:txBody>
      </p:sp>
      <p:sp>
        <p:nvSpPr>
          <p:cNvPr id="58" name="Shape 55"/>
          <p:cNvSpPr/>
          <p:nvPr/>
        </p:nvSpPr>
        <p:spPr>
          <a:xfrm>
            <a:off x="6845808" y="5536387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845808" y="5536387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60" name="Text 57"/>
          <p:cNvSpPr txBox="1"/>
          <p:nvPr/>
        </p:nvSpPr>
        <p:spPr>
          <a:xfrm>
            <a:off x="4565904" y="5749341"/>
            <a:ext cx="2206752" cy="15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并行协作</a:t>
            </a:r>
            <a:endParaRPr lang="en-US" sz="860" dirty="0"/>
          </a:p>
        </p:txBody>
      </p:sp>
      <p:sp>
        <p:nvSpPr>
          <p:cNvPr id="61" name="Shape 58"/>
          <p:cNvSpPr/>
          <p:nvPr/>
        </p:nvSpPr>
        <p:spPr>
          <a:xfrm>
            <a:off x="6845808" y="5749341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6845808" y="5749341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7997952" y="2304288"/>
            <a:ext cx="3505200" cy="387705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8235696" y="2450592"/>
            <a:ext cx="3029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</a:t>
            </a:r>
            <a:endParaRPr lang="en-US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8235696" y="2761488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条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8235696" y="305409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10515600" y="305409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10515600" y="30540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8235696" y="3297936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10515600" y="329793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0515600" y="32979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8235696" y="3541776"/>
            <a:ext cx="2206752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10515600" y="362102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10515600" y="362102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8235696" y="3956304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10515600" y="395630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10515600" y="395630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8235696" y="4200144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10515600" y="420014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10515600" y="42001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950" dirty="0"/>
          </a:p>
        </p:txBody>
      </p:sp>
      <p:sp>
        <p:nvSpPr>
          <p:cNvPr id="81" name="Text 78"/>
          <p:cNvSpPr txBox="1"/>
          <p:nvPr/>
        </p:nvSpPr>
        <p:spPr>
          <a:xfrm>
            <a:off x="8235696" y="4443984"/>
            <a:ext cx="2206752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1050" dirty="0"/>
          </a:p>
        </p:txBody>
      </p:sp>
      <p:sp>
        <p:nvSpPr>
          <p:cNvPr id="82" name="Shape 79"/>
          <p:cNvSpPr/>
          <p:nvPr/>
        </p:nvSpPr>
        <p:spPr>
          <a:xfrm>
            <a:off x="10515600" y="452323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E6EEFE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10515600" y="45232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950" dirty="0"/>
          </a:p>
        </p:txBody>
      </p:sp>
      <p:sp>
        <p:nvSpPr>
          <p:cNvPr id="84" name="Text 81"/>
          <p:cNvSpPr txBox="1"/>
          <p:nvPr/>
        </p:nvSpPr>
        <p:spPr>
          <a:xfrm>
            <a:off x="8235696" y="4858512"/>
            <a:ext cx="2206752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1050" dirty="0"/>
          </a:p>
        </p:txBody>
      </p:sp>
      <p:sp>
        <p:nvSpPr>
          <p:cNvPr id="85" name="Shape 82"/>
          <p:cNvSpPr/>
          <p:nvPr/>
        </p:nvSpPr>
        <p:spPr>
          <a:xfrm>
            <a:off x="10515600" y="4858512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15600" y="48585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950" dirty="0"/>
          </a:p>
        </p:txBody>
      </p:sp>
      <p:sp>
        <p:nvSpPr>
          <p:cNvPr id="87" name="Text 84"/>
          <p:cNvSpPr txBox="1"/>
          <p:nvPr/>
        </p:nvSpPr>
        <p:spPr>
          <a:xfrm>
            <a:off x="658368" y="632764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十二条投、六条半投、三条补齐、两条搭车、一条顺手做。每一条后面都有两页：一页讲场景与别人做到哪，一页讲我们怎么做。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pan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方向一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把第一次上手、日常排查、发版前检查这几段路铺平——这一类不靠 AI，靠把界面和流程理顺。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界面跟着当前在干的事走，而不是让人自己一个一个去配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调试的时候要把 Git 面板关掉、把 Debug 和 Terminal 打开；改完切回写代码，又要反过来关一遍。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一天切五六次，每次都手动。面板越装越多，每次要找的那一个反而越难找。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IntelliJ 平台（DevEco Studio 的底座）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五种视图模式：全屏、无干扰、演示、禅、紧凑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缺口：全是“把东西藏起来”，没有一种是“按任务给你一套”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一直按窗口标签页记住布局；26 改成全局、一关全关，一位用了二十年的开发者在官方论坛逐条抗议，苹果技术支持接了单，26.3 又把独立设置加回来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缺口：证明了“界面跟着任务走”是真需求，但那只是把功能退回去，不是往前一步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工具窗可拖、布局可存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缺口：存的是“布局”不是“任务”——要人自己想好几套、自己命名、自己记得切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只有工具栏右键管理、模块显隐、模拟器与调试器弹成独立窗口；能存的预设是“自定义编译条件”，存的是启动场景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缺口：布局不能命名、不能保存复用、不能随任务切换；连视图模式这一层都没有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空位是：按任务给预设，而不是再开一个自定义面板把选择题抛回给用户。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2057400"/>
            <a:ext cx="5458968" cy="3198686"/>
          </a:xfrm>
          <a:prstGeom prst="roundRect">
            <a:avLst>
              <a:gd name="adj" fmla="val 3716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01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03704"/>
            <a:ext cx="5166360" cy="290607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7004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79592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7004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9592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" y="5475542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IntelliJ 平台 · 五种视图模式（全屏 / 无干扰 / 演示 / 禅 / 紧凑）· 2026-09-10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0488" y="2057400"/>
            <a:ext cx="5458968" cy="3198686"/>
          </a:xfrm>
          <a:prstGeom prst="roundRect">
            <a:avLst>
              <a:gd name="adj" fmla="val 3716"/>
            </a:avLst>
          </a:prstGeom>
          <a:solidFill>
            <a:srgbClr val="F4F6F7"/>
          </a:solidFill>
          <a:ln/>
        </p:spPr>
      </p:sp>
      <p:pic>
        <p:nvPicPr>
          <p:cNvPr id="19" name="Image 1" descr="deck/shots/s01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03704"/>
            <a:ext cx="5166360" cy="290607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81928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1928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425428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558016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81928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81928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425428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558016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90488" y="5475542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26 把按标签页记布局改成全局后，开发者在官方论坛逐条抗议 · 2026-09-12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01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工具栏自定义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按任务给三套预设：调试、审阅、多设备验证，切一次到位。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切过去之后记得住——在这套布局里挪过的面板，下次回来还在原处。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不再开一个自定义面板，那等于把选择题又抛回给用户。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三套预设（调试／审阅／多设备验证）切换前后的布局对比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这个需求不是我们想出来的，是别人拿掉之后被骂出来的。人要的不是“能自己配”，是换一件事做的时候界面跟着换一套。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按场景跑一遍检查，把上架会被打回的问题提前到写代码的时候暴露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功能都写完了，提交上架。两天后被打回：无障碍描述没写、隐私声明少一条、图标在手表上被裁了一圈。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回头改，而这时候改一次的代价最大——代码早就不在手边的上下文里了。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Studio（lint）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给能点进去改的清单，定位到文件和行号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缺口：按检查项类别分，不按场景分；要人自己先知道该看哪一类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Previews 变体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深色、方向、字号全铺开并排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缺口：分法对了，但只给画面，看不看得出问题全靠人眼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Guard 在提交前跑质量检查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缺口：跑的是代码质量规则，不按上架场景分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内跑得最全：代码质量扫描 + 约 50 类漏洞扫描 + 体验评分 Audits（性能／体验／最佳实践三分类）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缺口：规则按技术类别分不按场景分、结果没有文件行号跳转；真正导致打回的隐私声明、类目、内容安全完全不在 IDE 里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按场景分 Xcode 证明过，给能改的清单 lint 证明过。两家各做对一半，把两半合起来并提前到改代码那一刻，没人做。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" y="2057400"/>
            <a:ext cx="5458968" cy="3198686"/>
          </a:xfrm>
          <a:prstGeom prst="roundRect">
            <a:avLst>
              <a:gd name="adj" fmla="val 3716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02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03704"/>
            <a:ext cx="5166360" cy="290607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7004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79592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7004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9592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" y="5475542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lint 输出按检查项类别分组，每条可点进去改 · 2026-09-10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0488" y="2057400"/>
            <a:ext cx="5458968" cy="3198686"/>
          </a:xfrm>
          <a:prstGeom prst="roundRect">
            <a:avLst>
              <a:gd name="adj" fmla="val 3716"/>
            </a:avLst>
          </a:prstGeom>
          <a:solidFill>
            <a:srgbClr val="F4F6F7"/>
          </a:solidFill>
          <a:ln/>
        </p:spPr>
      </p:sp>
      <p:pic>
        <p:nvPicPr>
          <p:cNvPr id="19" name="Image 1" descr="deck/shots/s02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203704"/>
            <a:ext cx="5166360" cy="290607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81928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1928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425428" y="2148840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558016" y="2148840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81928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81928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425428" y="516464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558016" y="5032058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190488" y="5475542"/>
            <a:ext cx="5458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Previews 官方文档 · 深色 / 方向 / 字号变体并排 · 2026-09-12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02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场景化应用体检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按场景跑，不按检查项分类：上架自检、首次启动、低端机、无网弱网。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改完代码当场跑一遍，不用手动触发。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每条结论给到文件和行号，点一下就落到那一行。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不给文档链接——文档不好找是所有人都在抱怨的事。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体检结果面板：按场景分组，每条带文件与行号，点一下落到那一行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按场景分 Xcode 证明过，给能改的清单 lint 证明过。两家各做对一半，把两半合起来、并且提前到改代码的那一刻，这件事没人做。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03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</a:t>
            </a:r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从「症状」进入的性能与体验调优，可视、可回溯，AI 修复闭环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卡了、耗电、启动慢——从人能说出口的症状进入，改完还要告诉你到底有没有改好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用户反馈“列表滑起来卡”。你打开 Profiler——第一步就卡住了：得先知道该看哪个指标。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折腾半天改了一处，改完之后没人告诉你这一下到底有没有用。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Profiler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火焰图、系统跟踪、内存与电量、崩溃行内标注，看图定位很成熟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缺口：入口是指标不是症状；改完没有自动复测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Instruments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同样成熟。Apple 官方把复测明写成人工步骤——在 Instruments 里做一份 after profile，拿去和 before 比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缺口：官方自己承认这一步是人工的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XCTest / Xcode 线上性能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XCTest 能自动判定；线上性能能做版本间比较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缺口：XCTest 要人写测试、人设基线；线上性能要发版、要等够量数据。都不是“改完立刻知道”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性能面板九类指标 + 体验评分 Audits，诊断还给“优化空间预估”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缺口：入口是选指标不是说症状；复测被官方写成“重启小程序→手动走路径→导 JSON→拖回面板”六步人工；且报告不留存，自己跟自己比都做不到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全行业停在“帮你找问题、帮你出补丁”，没人做“帮你确认这一下有没有用”——而这恰恰是 AI 修复能不能被信任的唯一依据。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03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调优：</a:t>
            </a:r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从「症状」进入的性能与体验调优，可视、可回溯，AI 修复闭环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从症状进入：卡了、耗电、启动慢，不要求先知道该看哪个指标。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把指标画成看得懂的图，点进去能定位到代码。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给修复建议，改动可以逐条审、可以退回去。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改完自动在真机上重跑同一条记录，给前后对比。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同一条真机记录的 before / after 并排，差异部分高亮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全行业都停在“帮你找问题、帮你出补丁”，没人做“帮你确认这一下有没有用”——而这恰恰是 AI 修复闭环能不能被信任的唯一依据。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04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 / 转化：</a:t>
            </a:r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安卓应用一键转化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已经有安卓版，再交一个鸿蒙版；产出的是原生 ArkTS 代码，不是兼容层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一家已经有安卓版的公司要交鸿蒙版。功能清单是同一份，代码要重写一遍。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更难受的是之后：从今往后每加一个需求，都要改两处，而且这件事永远不会结束。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Apple Mac Catalyst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就是一个复选框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缺口：官方在小节标题里直接叫“超出复选框的部分”——自己承认一键之后还有活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Java → Kotlin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文件级一键转换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缺口：官方承诺只到“功能等价、能编译跑”，下一句就是“你很可能还要做额外优化”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微信开发者工具（Donut 多端框架）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一次编码，分别编译为小程序与 Android、iOS 应用；官方公开了「需适配的组件汇总」「需适配的 API 汇总」两份清单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缺口：承诺止于“可构建安装包提交于各大应用市场”，提交是开发者自己的事；剩余的活是两份全量静态清单，不针对你这个工程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Studio（我方现状）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官方给的是三篇迁移指导文档；社区里有开发者直接在问“有没有工具能把 Android 项目转成 ArkTS” [D]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缺口：需求真实、工具缺位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没有一个官方先例一键到“能发版”。真空位在一键之后：把全量适配清单变成针对当前工程的动态待办（Visual Studio 升级助手的“带复选框步骤树”值得借），以及把“长期维护两个版本”当常态来设计。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基础易用性 · 04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应用翻译 / 转化：</a:t>
            </a:r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安卓应用一键转化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按屏、按模块一块一块迁，不承诺整个工程一键。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机器转出来的代码在工程里打上标记，哪些还没人看过一眼可查。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安卓版改了需求，列出鸿蒙版还差哪些没跟上。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产出原生 ArkTS 代码，不做兼容层。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转化结果：工程树上逐文件标记「已转 / 待查 / 需人工」，右侧是剩余清单与建议顺序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没有一个官方先例一键到“能发版”，也没有一个把“长期维护两个版本”当常态来设计——迁完就扔是所有先例的默认假设。真空位在一键之后。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方向二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这一类竞争最挤。七家在解的都是“让 AI 干得更多”，没人解“人对这一串过程能不能看清楚、挑着退回去”——十三条里的空位集中在这儿。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05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要覆盖更多场景，UI、Code、md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选中一段就地问、就地改，不用切到侧边面板描述半天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在代码里选中一段直接说改成什么，这个已经很顺了。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但在界面预览上看到一个按钮歪了，或者在 README 里想改一段话，还是得切回侧边面板，把“哪个文件哪一处”重新描述一遍。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Xcode / Android Studio / Qoder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代码里就地改四家全有：Cursor 的 Cmd+K、Xcode 的 coding tools 弹框、Android Studio 的 Transform code、Qoder 的 Inline Chat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缺口：这一层是标配，不用当创新讲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唯一把就地对话做进 IDE 预览面板的（Compose 预览右键 Transform UI）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缺口：只覆盖 Compose，画布上改完还是交给 AI 去落地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 / Xcode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与 Claude Code 要先把应用真跑起来、在浏览器里改；Xcode 画布上没有任何对话入口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缺口：预览这一格只有一家占住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可视化编辑已经做出“选中元素 ↔ 定位代码”的锚点，双向同步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缺口：锚点铺好了却没接自然语言入口：代码里、预览上、文档里三处就地对话都未找到公开证据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代码那一格是补齐。真正空着的是文档那一格——鸿蒙开发者写 README、写接口说明、写上架材料都在 IDE 里。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05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Inline-chat 要覆盖更多场景，UI、Code、md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代码里的就地对话保持（已是标配）。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扩到界面预览：在预览上选中元素直接说。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扩到 Markdown 文档：写 README、接口说明、上架材料时就地改。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三处入口示意：代码里、界面预览上、Markdown 文档里，同一套就地对话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代码那一格是补齐，不用当创新讲。真正空着的是文档那一格——鸿蒙开发者写 README、写上架材料都在 IDE 里，一家都没做。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06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</a:t>
            </a:r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语音开发模式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用说话代替敲键盘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两只手都在设备上，眼睛盯着屏幕看刚才那一下有没有复现，想让 AI 再跑一遍——但能下指令的只有键盘。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真要用嘴写代码又不现实：符号、驼峰命名、缩进，纯听写认不准。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 /voice，按住说或点一下说，明说“为编程词汇调优，会自动把项目名和分支名加进识别提示”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缺口：做得最完整的一家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内置听写 + 自家语音扩展，还有“Hey Code”唤醒词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缺口：有，但停在输入层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按住 Ctrl+M 录音转写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缺口：只写在变更日志里，设置页没有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 / Qoder / 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官方文档里都未找到 IDE 自身的语音输入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缺口：第三方在补位：Talon 用 formatter 解决命名、Serenade 用模型补符号、Wispr Flow 读编辑器里的符号名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“把需求说出来”已经是补齐。没有一家描述过“AI 读回来、用嘴确认、全程不碰键盘”，也没有一家 IDE 厂商把语音接到自己的构建、运行、调试命令上。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06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Voice coding：</a:t>
            </a:r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语音开发模式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先做“把需求说出来”这一段，按编程词汇调优识别。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把当前项目名、分支名、工程里的符号名加进识别提示。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更远的目标是语音闭环：AI 把结果读回来，用嘴确认或纠偏。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语音闭环：说出需求 → AI 读回理解 → 用嘴确认或纠偏 → 执行，全程手不离设备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“把需求说出来”已经是补齐。真空位在语音闭环——没有一家描述过“AI 读回来、用嘴确认、全程不碰键盘”，也没有一家 IDE 厂商把语音接到自己的构建、运行、调试命令上。</a:t>
            </a:r>
            <a:endParaRPr lang="en-US" sz="11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几件活同时交给 AI 时，谁在干、谁在等你、谁干完了，一眼看全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三件活同时交给 AI。你以为它们都在跑，去干别的了。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回来才发现：第一件一小时前就停下来等一个确认，第二件在排队，第三件早干完了。界面上一句话都没说。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能同时开几条会话、Recent Chats 里切换；Xcode 只有一条会话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缺口：状态只有活跃时间（2m／5m／9m），没有“在等你”这一档；Xcode 连并排都没有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IDE 做成 Agent 的工具面：七组 Skill、wechatide CLI 加 MCP，开项目／编译／操模拟器／读日志／预览上传都能被外部 Agent 调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缺口：Skills 文档里没有并发、队列、任务态任何描述，是“一条命令一次调用”的同步语义——等待全发生在 IDE 之外，工具里看不到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Google（Android Studio 发布博客）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点名“审批疲劳”——问得太频繁，人就不看内容直接点同意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缺口：解法是少问（权限分级、沙箱），不是让等待看得见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Code（我方现状）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开发者报一小时没动静 [D]，官方论坛回复确认“服务端并发请求量过大，触发了排队控制” [B]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缺口：机制已确认，但排队状态、位次、预计等待、可取消，界面上一件都没有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两家都在解“少问”，没人解“问得看得见”。这是全清单里唯一一处三样证据齐全的空位：厂商已确认的问题、采纳数据的分叉、对手承认却没解的那半边。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32888" y="1856232"/>
            <a:ext cx="7095744" cy="4135374"/>
          </a:xfrm>
          <a:prstGeom prst="roundRect">
            <a:avLst>
              <a:gd name="adj" fmla="val 2875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07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020824"/>
            <a:ext cx="6766560" cy="38061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3472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3472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95460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48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3472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33472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95460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48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619277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Agent Sessions 与 Recent Chats：状态只有活跃时间，没有“在等你”这一档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07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状态分三档：在干／在等你／干完了。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排队时说清排第几、还要等多久、能不能取消。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不加新的会话列表——列表早就有了，缺的是分档。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三档状态的任务面板：在干 / 在等你（带蓝点排前）/ 干完了，排队项带位次与预计等待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两家都在解“少问”，没人解“问得看得见”——这是二十四条里唯一一处三样证据齐全的空位：厂商已确认的问题、采纳数据的分叉、对手承认却没解的那半边。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08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两件事：压模型带着的历史，和压人要读的那段回复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问一句，AI 吐回来两屏。真正要看的结论在第三段，前面两段是它的推理过程。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同时会话越聊越长，上下文被撑满，回答开始变糊，而人看不到是什么占掉了空间。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 / VS Code / Cursor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压历史是标配：Claude Code 的 /compact 可带指令、可设阈值、可看谁占空间；VS Code 自动压缩并明说“早先消息的细节可能被摘要或省略”；Cursor 超窗自动摘要并显示为 Summarized Messages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缺口：这一层不用当创新讲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07408" y="33497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4869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4869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4869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压“人要读的那段回复”只有它一家有官方文档（Concise 风格）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缺口：有条保底规则可以直接借：错误报告、安全警告、危险操作的确认永远完整保留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07408" y="45689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7061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7061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7061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Studio·Xcode·微信开发者工具·Cursor·Claude Code·Codex·Qoder 都没有“摘要能展开回溯、按重要性分层”的人侧导航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缺口：长会话读不回去，这一格全空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叫“内容压缩”会被当成省 token 的技术活。真正的价值是“结论先行、过程收起来”，而那条保底规则可以直接借。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08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输出内容压缩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回复先说结论，过程收起来可展开。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报错、安全警告、危险操作的确认永远完整显示，不压。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历史侧做自动摘要与手动压缩，并让人看得到是谁占了空间。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一条回复的两种形态：折叠时只有结论与改动清单，展开后是完整推理；警告类永远不折叠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叫“内容压缩”会被当成省 token 的技术活。它真正的价值是“结论先行、过程收起来”，而且那条保底规则可以直接借。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09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在画布上摆、连、调，直接产出能跑的界面或逻辑，不靠背 API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搭一个设置页，或者串一条“登录失败就重试两次再提示”的流程。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界面部分要先记住嵌套结构，逻辑部分要先背 API。人心里早就知道要什么样，手上却得先把它翻译成代码。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 / Codex / Qoder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这一代 AI IDE 一家都没做画布式编程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缺口：Claude Code 的 /design 产出的是设计稿画板，不是能跑的界面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Layout Editor 拖控件代替手写 XML；Xcode Interface Builder 同类做法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缺口：都是上一代产物：Navigation Editor 官方自称“本质是个编辑 XML 的图形界面”，Interface Builder 文档已进归档区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代码可视化编辑：拖拽改位置尺寸、改属性样式事件、与代码双向同步，alt 悬停量间距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缺口：官方自认“属性和事件的编辑能力相对基础”；连线做业务逻辑在工具内未找到证据，低代码的微搭是腾讯云产品、与工具无官方绑定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七家文档里都没有“连线做业务逻辑”的公开说明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缺口：上一代画布只管界面摆放和页面跳转，逻辑一概不管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声明式界面加 AI 这一代，画布这条路是断的。画布和代码应当是同一份东西的两种看法，不是两套。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09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画布上摆控件、连关系、调参数，直接出能跑的界面。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画布和代码是同一份东西的两种看法，不是两套。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逻辑编排也能画，不只是界面摆放。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画布与代码并排：左边摆控件连关系，右边同步出 ArkTS，改任一边另一边跟着变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声明式界面加 AI 这一代，画布这条路是断的。七家文档里没有任何一家有“连线做业务逻辑”的公开说明。</a:t>
            </a:r>
            <a:endParaRPr lang="en-US" sz="11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10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性能问题靠看图定位，不靠读指标和日志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图已经很好看了：火焰图、系统跟踪、内存曲线都在。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问题在看完之后——把图上的那一处异常翻成“代码里的哪一行”，以及改完之后重新跑一遍确认，这两步全靠人。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Profiler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调用图、火焰图、系统跟踪、内存与电量、交互时间线；崩溃在代码行上有行内标注；新的 Performance Analyzer 能把自然语言转成可执行查询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缺口：看图定位这一半非常成熟，是彻底的补齐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Instruments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同样成熟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缺口：同上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Trace、FPS、真机调试 2.0、低端机模拟、体验评分，测得很细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缺口：报告不留存——体验评分“一旦清空将无法再查看本次结果”，前后对比在数据层就被断掉了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没有一家把 AI 接到“改完自动重跑同一条记录并渲染前后差异”上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缺口：这是和第 03 条共用的同一格空位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看图这一半是补齐，不要当创新讲。这条的价值在于它是第 03 条的前半段——两条合起来才是完整闭环。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10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可视化调优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把指标画成看得懂的图，点进去直接定位到代码。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和上面第 03 条连起来：从症状进入 → 看图定位 → AI 出补丁 → 自动复测给前后对比。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从图上一处异常点进去直接落到代码行；下方是改完自动复测的前后曲线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看图这一半是彻底补齐，不要当创新讲。这条的价值在于它是第 03 条的前半段——两条合起来才是完整闭环。</a:t>
            </a:r>
            <a:endParaRPr lang="en-US" sz="11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11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动手之前，先把它理解的意思说一遍让人确认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你说“把登录页的错误提示改友好一点”。AI 理解成了“重写整个错误处理模块”，但它不说，直接开始动手。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等你发现的时候，已经改了一片。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计划模式明说“读文件、跑命令探查，但不改源码，批准之前编辑一直被挡住”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缺口：边界写得比我们清单还细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计划可以来回改、在计划上挂批注再点继续，官方强调这发生在“agent 还没花掉任何时间和 token 之前”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缺口：同上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对外部 Agent 设了两道门：首次连接按 clientName 弹窗授权；写操作（删项目、云数据库写、云存储删、云函数部署）逐次弹确认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缺口：两道门回答的都是“准不准做”，不回答“你理解对了吗”——没有计划模式，拿不到“它打算怎么干”的预览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Codex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只有这两家明确写了等答案期间继续干活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缺口：Android Studio·Xcode·Claude Code·微信开发者工具 都是问了就停；这是和第 07 条同一个题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这条本身是补齐，别当创新讲。唯一能讲的是“问而不停”：Cursor 是“问了但不停”，我们现在是“停了但不说”。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11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互动式意图确认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动手前把理解的意思摆出来让人确认或改。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关键是确认的时候它不停下来——边等回答边继续读文件、继续探查。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问题给选项也能自己写，不要只能打字。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确认卡：左边是 AI 理解的意思（可直接改），右边它仍在继续读文件，进度条不停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这条本身是补齐，别当创新讲。唯一能讲的是“问而不停”——而它和第 07 条 Agent Team 是同一个题：Cursor 是“问了但不停”，我们现在是“停了但不说”。</a:t>
            </a:r>
            <a:endParaRPr lang="en-US" sz="11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12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把重复跑的一串动作存下来，下次一句话跑完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每周版本前那串活是固定的：跑体检、看报告、改问题、再跑一遍、导出上架材料。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每次都要重新跟 AI 交代一遍。能存下来，但得你自己想起来要存——大多数人不会想起来。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Codex / Android Studio / Xcode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存说明文字已经趋同到连文件路径和格式都一样：SKILL.md + .agents/skills，Codex 与 Android Studio 用的是同一个开放标准；Xcode 也能在各 agent 配置目录下建技能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缺口：这一层是标配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存整串编排只有它做了：跑完按一个键存成命令、随仓库分发、可装进插件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缺口：这一层只有一家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已有官方的 Skill 固化机制：YAML 加 SKILL.md，菜单栏可“导出开发者工具 Skill”再导入 AI Agent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缺口：仍要人主动导出；官方同样没提过“我看你这串动作跑了三次，要不要固化”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都要人主动说“存下来”，没有一家在官方文档里提过主动发现重复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缺口：这一格全空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别讲“我们也做 Skill”，那是标配。讲“不用你想起来要固化”——而且这一格天然连着“最了解鸿蒙”：只有官方知道哪几串动作是高频的。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12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工具自己看出重复，主动问要不要存下来。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存的是整串编排，不只是一段说明文字。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存下来的能随代码仓库分发给整个团队。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鸿蒙开发里的高频动作，由官方先存好一批。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工具主动弹出：“这串动作你这周跑了三次，存成一个命令？”下面是编排的可视化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别讲“我们也做 Skill”，那是标配。讲“不用你想起来要固化”——而且这一格天然连着“最了解鸿蒙”：只有官方知道哪几串动作在鸿蒙开发里是高频的。</a:t>
            </a:r>
            <a:endParaRPr lang="en-US" sz="11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13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&amp; Code 二次编辑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在预览上直接改，代码跟着变；改代码，预览也跟着变。双向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预览里看到两个卡片之间的间距不对。你得在脑子里把它翻成“哪个文件、哪一行、哪个参数”，再去改。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想反过来在预览上直接拖一下就完事——今天只有上一代的 XML 布局能这么干。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原文把边界划得最清楚：界面到代码是“高亮／跳转”，代码到界面是“立刻更新”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缺口：中间“在画布上直接改”没有对应的动词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Compose 预览上做的是同样半边的事（点轮廓跳定义）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缺口：同样缺反方向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浏览器可视化编辑器能直接上手操控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缺口：但那一下落地还是交给 AI 去猜，且发生在浏览器里的真应用而非 IDE 预览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真双向、不过 AI 的现役产品只有它：可视化编辑能拖拽改位置尺寸、改属性样式事件，改动确定写回代码</a:t>
            </a:r>
            <a:endParaRPr lang="en-US" sz="81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1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缺口：官方自认“属性和事件的编辑能力相对基础”，对齐、图层、分组还在后续计划里；且它是命令式的 WXML，不是声明式界面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真双向只在命令式界面里活着（微信的 WXML、Android 的老 XML）。声明式界面这一代——Compose / SwiftUI / ArkUI——“在预览上改、确定写回源码”全行业空着。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13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&amp; Code 二次编辑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在预览上直接拖、直接改，改动确定写回源码，不让 AI 去猜。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改代码预览立刻跟着变——这一半已经有了，要补的是反方向。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改动落到源码的哪一行，人能看见。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预览上拖动一个间距，右侧代码对应那一行同步高亮并改写，不经过 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真双向只在命令式界面里活着——微信的 WXML、Android 的老 XML。声明式界面这一代（Compose / SwiftUI / ArkUI）“在预览上改、确定写回源码”全行业空着。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14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一次协作里 AI 做过哪些事、哪一步改了什么，能顺着看回去，也能退回某一步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一次让 AI 改了七八处。人只看到最后结果。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想知道第三步到底改了什么，或者只退掉第三步、保留第四第五步——现在做不到。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检查点按每条用户提示存，/rewind 有六个动作（还代码＋对话／只还对话／只还代码／往后压成摘要／到这之前压成摘要／取消）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缺口：刻度是“人说了几句话”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History 是一根滑块，往上拉撤、往下拉加回来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缺口：必须有 Git 仓库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检查点与 Git 独立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缺口：官方还劝你永久版本控制用 Git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 按对话轮回退；微信侧只有通用的 Git 代码管理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缺口：外部 Agent 通过 wechatide 批量动了工程之后，微信没在 IDE 里为“这次 AI 干了什么”留下任何边界，审阅与回退整体推给 Git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能看能退是补齐。两格空位：刻度落到 AI 的执行步骤上、能挑着退。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14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协作时间轴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时间轴的刻度落在 AI 自己的执行步骤上，不是“人说了几句话”。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每一步改了什么，和它是为了满足计划里的哪一条，绑在一起。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能挑着退：只退掉第三步，保留第四第五步。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时间轴：刻度是 AI 的执行步骤，每一步挂着改动与它对应计划里的哪一条，单步可退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能看能退是补齐。两格空位：刻度落到执行步骤上、能挑着退。而且 Claude Code 官方列的四类“追不到的改动”（bash 命令改的、子 agent 改的、会话外手改的、符号链接指向的）建议原样搬进设计约束——做同类功能几乎一定会踩。</a:t>
            </a:r>
            <a:endParaRPr lang="en-US" sz="11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15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项目知识库自动生成（Repo Wiki）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接手一个陌生代码库时，先给一份自动生成的知识库，不用自己翻文件、问同事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接手一个陌生代码库，或者新人第一天加入项目——只能自己一个文件一个文件翻，或者去问熟悉的同事。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项目结构在人脑子里，不在工程里，这件事每次都要重新做一遍。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1709928"/>
          </a:xfrm>
          <a:prstGeom prst="roundRect">
            <a:avLst>
              <a:gd name="adj" fmla="val 6952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Qoder Repo Wiki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14356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能自动生成结构化知识库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缺口：生成慢，中型项目约两小时；六千个文件以上的工程受限；内容偏冗长，要点不好找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3959352"/>
            <a:ext cx="7095744" cy="1709928"/>
          </a:xfrm>
          <a:prstGeom prst="roundRect">
            <a:avLst>
              <a:gd name="adj" fmla="val 6952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4096512"/>
            <a:ext cx="170078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 / VS Code / Android Studio / Xcode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4096512"/>
            <a:ext cx="0" cy="14356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409651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均无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缺口：这项能力目前只有一家在做，而且没做扎实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别人是“人要看懂代码库”，我们让“看懂”这件事本身被自动化——代码变更后后台增量更新，AI 接手任务前先读知识库，不是从头扫代码。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15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项目知识库自动生成（Repo Wiki）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打开一个陌生工程，自动生成结构化知识库：模块划分、关键入口、依赖关系图。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代码变更之后，知识库在后台增量更新，不用手动重新生成。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接手一个任务之前，先读一遍知识库，不是从头扫代码。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打开陌生工程自动生成的知识库：模块划分、关键入口、依赖关系图，随代码增量更新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别人是“人要看懂代码库”，我们让“看懂”这件事本身被自动化——Agent 和新人都受益，而且这条竞品已经证明有需求，只是没人做扎实。</a:t>
            </a:r>
            <a:endParaRPr lang="en-US" sz="11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16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设计稿一键转代码（D2C）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设计师给的 Figma 稿，一键转成能跑的 ArkUI 代码骨架，不用来回对图改样式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设计师给了一版 Figma 稿。开发照着还原，间距、色值、层级总有对不上，来回改好几轮才收口——设计和代码变成两份东西，谁都不敢保证改完还是同一份。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1709928"/>
          </a:xfrm>
          <a:prstGeom prst="roundRect">
            <a:avLst>
              <a:gd name="adj" fmla="val 6952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CodeBuddy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14356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 Figma 插件，D2C 一键转代码；还能一句话生成可交互网页、自然语言改元素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缺口：目前唯一支持设计稿作为输入的一家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3959352"/>
            <a:ext cx="7095744" cy="1709928"/>
          </a:xfrm>
          <a:prstGeom prst="roundRect">
            <a:avLst>
              <a:gd name="adj" fmla="val 6952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4096512"/>
            <a:ext cx="170078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VS Code / Claude Code 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4096512"/>
            <a:ext cx="0" cy="14356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4096512"/>
            <a:ext cx="471830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均从文字描述或已有代码开始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缺口：不支持设计稿输入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鸿蒙开发者本来就常和设计师协作、用鸿蒙设计规范出稿——别人是从零学的一项新能力，我们是离用户更近的一次顺手为之。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16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设计稿一键转代码（D2C）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 Figma，识别布局、间距、色值，一键生成 ArkUI 代码骨架。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预览窗口里点选一个元素，用自然语言改样式，不用先去代码里找到它。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还原度可核对：设计稿和生成结果叠加比对，超出容差的地方标红。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导入 Figma 一键生成 ArkUI 代码骨架，预览窗口点选元素用自然语言改样式，叠加比对超出容差标红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鸿蒙开发者本来就常和设计师协作、用鸿蒙设计规范出稿——别人是从零学的一项新能力，我们是离用户更近的一次顺手为之。</a:t>
            </a:r>
            <a:endParaRPr lang="en-US" sz="11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17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并行协作：</a:t>
            </a:r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身份可辨、隔离运行、风险审查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好几个 Agent 同时改同一个代码库时，谁改了哪处看得清楚，谁都不怕撞车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好几个 Agent 同时在跑，改的是同一个代码库。谁动了哪一块、会不会互相覆盖，心里没数，只好不敢真的放开手并行。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会话身份标记、burst 审查、影子 git 历史、风险变更排队提醒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缺口：做对了身份可辨这一件事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07408" y="33497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4869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4869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4869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种以上 Agent CLI 各自独立 git worktree，配 Orca Mobile 远程监控，实测过 6 个 review agent 并行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缺口：做对了物理隔离这一件事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45689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7061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Projects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7061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7061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协调者拆任务、派发、管理上千个 subagent，自己不写代码</a:t>
            </a:r>
            <a:endParaRPr lang="en-US" sz="110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缺口：做对了任务编排这一件事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三家各自只做对了身份可辨、物理隔离、任务编排三件事里的一件，没人三件都做全，也没人针对鸿蒙多端多形态工程做过适配。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辅助开发 · 17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并行协作：</a:t>
            </a:r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身份可辨、隔离运行、风险审查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 Agent 有唯一身份标记：图形加编号，一眼分清谁是谁。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物理隔离：能按目标设备分工作区，比如一个验证手机、一个验证车机，互不干扰。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有风险的变更集中排队提醒，不塞进容易被忽略的会话列表里。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移动端能远程查看进度、批准变更。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并行任务面板：每个 Agent 带唯一图形加编号身份，按目标设备分工作区，风险变更集中排队，移动端可远程批准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鸿蒙的多端、多形态天生需要多个 Agent 各管一摊——三件事都做全、再往移动端延伸一步，会比通用工具更贴合鸿蒙开发者的真实工作方式。</a:t>
            </a:r>
            <a:endParaRPr lang="en-US" sz="11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方向三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条创新点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这一类没有对标，因为别人没有这个题可做——多形态、分布式、一次开发多端部署，只有我们手里有。也正因为没有对标，做错了没人提醒，所以每条都要自己把判断规则定下来。</a:t>
            </a:r>
            <a:endParaRPr lang="en-US" sz="12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18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同一个开发任务，在 PC、平板、手表、手机上状态同步——换一端接着干，不用从头来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PC 上调到一半，要去会议室。合上电脑，到了那边打开平板——状态全部归零：设备连着谁、断点打在哪、日志看到第几行、AI 刚才说到哪，都要重来。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另一个时刻：真机调试时两只手都在设备上，眼睛盯着屏幕，但能下指令的只有电脑。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Codespaces / Gitpod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“环境跟着人走”已经解决：换机器打开就是原样的容器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缺口：但容器里没有真机，真机在你桌上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/ Claude 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“会话跟着人走”已经解决：换设备继续同一段对话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缺口：解决的是对话，不是任务状态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“任务状态跟着人走”没有找到任何一家做到；微信还把 PC、移动、多端应用拆成三条互斥的开发模式，形态之间更不通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缺口：断点、连着谁、日志读到哪，换一端全部归零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Xcode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手表与手机在它们那里只是被调试的对象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缺口：把小屏当成能发指令的开发端，全行业空白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两个“跟着人走”别人都做了，第三个没人做，而且只有同时握着 IDE 和多形态设备的一方能做。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18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一多联动＋跨端开发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任务状态在 PC、平板、手表、手机之间同步：连着哪几台、断点在哪、日志看到哪、AI 执行到第几步，换一端接上就是原样。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每一端只承担它适合的那部分：PC 写和改，平板看和审，手表和手机只做“继续 / 停 / 看结果”这几个动作。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手表和手机也是能发指令的开发端，不只是被调试的对象。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同一个任务在 PC / 平板 / 手表三端的界面：各自只承担适合的那部分，状态一致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两个“跟着人走”别人都做了，第三个——任务状态跟着人走——没人做，而且只有同时握着 IDE 和多形态设备的一方能做。</a:t>
            </a:r>
            <a:endParaRPr lang="en-US" sz="11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19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一次改动在多设备上的预览、验证与差异呈现——真机执行面是别人没有的差异化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改完一处布局，切到手机看一眼，切到手表看一眼，切到车机看一眼。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哪一处是响应式适配本来就该长得不一样、哪一处是真出了问题，靠人凭经验分辨。设备越多越做不完，最后就是只验主力机型。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预览变体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把深色、方向、字号铺开并排，证明了“并排比切换好”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缺口：并排的是同一台设备的几种状态，而且是预览不是真机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Running Devices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设备镜像收进 IDE，能连多台；Emulator 36.5（2026-04）支持多设备交互测试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缺口：标签页并列意味着一次只看一台；那是同一形态的多台机器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没有一家做“哪些差异是适配的正常结果、哪些是缺陷”的判断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缺口：这套判断规则本身就是设计资产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真机调试 2.0 有断点、Console、Storage，还能录真机性能火焰图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缺口：全程一机一码一通道，一次改动没法在多台真机上同步验证；真机性能工具 iOS 至今不支持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没有对标，不是我们没找到，是别人没有这个题。并排的对象从“一台设备的几种状态”换成“几种不同的真机”，只有一多带得出来。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19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一次改动，自动在几种真机形态上各跑一遍，差异截图并排给出。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核心不在“跑”，在“判断”：哪些差异是一多适配的正常结果、哪些是缺陷，这套规则要我们自己定。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并排的对象是不同形态的设备，不是同一台设备的几种状态。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一次改动，三种真机形态的截图并排，差异处自动圈出并标「适配 / 疑似缺陷」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别人的多设备验证停在预览层，我们能落到真机执行面——这是别人没有的差异化。并排的对象也不同：他们是一台设备的几种状态，我们是几种不同的真机。</a:t>
            </a:r>
            <a:endParaRPr lang="en-US" sz="11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20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几台设备的画面同时摆在一块屏上，不用来回切标签页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手机上看着没问题，切到折叠屏展开态又不对。切回去再看一眼，刚才那一眼已经记不清了。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预览器与模拟器是社区里常年被提的一块，问题就在“一次只能看一台”。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Running Devices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设备镜像收进 IDE，多台设备以标签页并列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缺口：标签页意味着一次只看一台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Emulator 36.5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2026-04 起支持多设备交互测试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缺口：多设备仍是同一形态的多台机器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已经用并排代替了切换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缺口：并排的对象是同一台设备的深色 / 方向 / 字号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模拟器可选内置机型、可添加自定义设备尺寸，模拟器与调试器能弹成独立窗口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缺口：始终一次只渲染一台；而且手机、PC、多端应用被拆成三条互斥模式，PC 形态还必须去真实微信客户端看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方向别人证明过了，对象没人换。一块画布上同时摆几种不同形态，本机与远端不分家，改一次几块屏一起刷。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20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32888" y="1856232"/>
            <a:ext cx="7095744" cy="4135374"/>
          </a:xfrm>
          <a:prstGeom prst="roundRect">
            <a:avLst>
              <a:gd name="adj" fmla="val 2875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17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020824"/>
            <a:ext cx="6766560" cy="38061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3472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3472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95460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48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3472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33472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95460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48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619277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Running Devices 设备镜像以标签页并列，一次只看一台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20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单屏多设备切换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一块画布，几台设备的画面同时在，本机与远端不分家。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改一次代码，画布上几块屏一起刷。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并排的是不同形态——手机、折叠屏、手表、车机、大屏，不是同一形态的几台机器。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一块画布上手机 / 折叠屏 / 手表 / 车机四块屏同时在，改一次一起刷新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这条是真机多设备的支撑层：先让几台的画面能同时在一块屏上，才谈得上“差异并排、替你圈出来”。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21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手机和手表在配合做一件事，出了问题要知道是哪一端、在哪一步断的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手机发起、手表接续的一个流程，在交接那一下断了。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只能开两个窗口各看各的日志，靠时间戳在脑子里对齐——而两端的时钟本来就不一定对齐。断点也只能一端一端打，一端停下来的时候另一端还在跑。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Logcat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能分屏看两台设备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缺口：两个互不相干的面板，不做对齐、不做关联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VS Code 多目标调试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multi-target / compound，能同时挂上两个进程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缺口：操作永远只作用于当前选中的 session——切过去才能操作它，不存在“一起停”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有“多账号调试”，能同时开多个微信号跑同一件事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缺口：目标是多微信号协同的业务场景（两人对战、转账），不是两端设备的日志对齐；文档连窗口怎么排都没写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没有一家做到“两端日志按同一条时间轴对齐并指出是哪一端”</a:t>
            </a:r>
            <a:endParaRPr lang="en-US" sz="98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8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缺口：分布式是鸿蒙的产品命题，这块空位只能由我们补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多目标调试别人有，两端对齐没人有。要给出的是判断：这一次是哪一端出的问题、卡在交接的第几步。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21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分布式调试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两端的日志按同一条时间轴对齐，交接的那一下画出来。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断点能同时管住两端：一端停，另一端也停在对应的位置。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给出判断：这一次是哪一端出的问题、卡在交接的第几步。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一条时间轴上两端的日志对齐，交接那一下画出来，断点一端停另一端同步停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多目标调试别人有，两端对齐没人有。分布式是鸿蒙的产品命题，这块空位只能由我们补。</a:t>
            </a:r>
            <a:endParaRPr lang="en-US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22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手边没有的那台设备——手表、车机、大屏——也能拿过来调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要验手表和车机上的表现，但手边没有这两种设备——这两类形态开发者自己很难备齐。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还有个间接后果：报障时说不清自己用的是哪个版本，社区里几乎全是 6.1.x，官方最新是 26.0.0，版本号对不上，问题跟不下去 [D]。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Device Streaming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 年就有，2026 年扩到三星、小米、OPPO、一加、vivo、传音的合作伙伴设备实验室 [C]；池子里有 Pixel Watch、Tab S8 Ultra、Z Fold3 [A]；Spark 计划有免费额度 [B]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缺口：做到的是“多几台一样的手机”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407408" y="33497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4869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Cloud / Xcode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4869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4869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苹果侧没有对等的远端真机租用形态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缺口：设备池这一格只有 Android 一家在做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407408" y="4568952"/>
            <a:ext cx="7095744" cy="1100328"/>
          </a:xfrm>
          <a:prstGeom prst="roundRect">
            <a:avLst>
              <a:gd name="adj" fmla="val 1080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706112"/>
            <a:ext cx="170078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微信开发者工具（MiniTest 云测）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706112"/>
            <a:ext cx="0" cy="8260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706112"/>
            <a:ext cx="4718304" cy="84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官方云真机池 300+ 机型，可一次提交多机型跑兼容性，HTTPS 接口提测打通 CI，每周 150 分钟免费额度</a:t>
            </a:r>
            <a:endParaRPr lang="en-US" sz="92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92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缺口：云端设备只对“自动化跑测”开放、不对“交互式远程操作”开放——你不能远程握住一台真机手动点；拿过来也不能接着做两端联调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这条不讲首发，讲追平之后往前一步。再往后，这套真机能力可以变成 CI 和第三方工具能远程调用的服务。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22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32888" y="1856232"/>
            <a:ext cx="7095744" cy="4135374"/>
          </a:xfrm>
          <a:prstGeom prst="roundRect">
            <a:avLst>
              <a:gd name="adj" fmla="val 2875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19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020824"/>
            <a:ext cx="6766560" cy="38061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3472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3472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95460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48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3472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33472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95460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48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619277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· 设备串流的远端设备列表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22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远端调试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远端设备直接进“同屏并排”那块画布，按钮是“加进画布”，不是“连接”。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先接手表和车机——开发者最难自备的两种形态。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拿过来之后能接着做分布式联调，不是只能单机跑一下。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再往后一步，这套真机能力可以变成 CI 和第三方工具能远程调用的服务。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Device Manager 的远端列表，按钮是“加进画布”而不是“连接”，直接并入同屏那块画布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这条不讲首发，讲追平之后往前一步：远端那台是别家没有的形态，而且能接着联调。跟着单屏多设备一起做。</a:t>
            </a:r>
            <a:endParaRPr lang="en-US" sz="11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23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设备连不上的时候，告诉人卡在第几步、下一步该做什么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新人装完工具，插上设备，设备列表里没有它。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是线没认出来？是授权没过？是端口被占了？还是版本不匹配？界面只给一个结果，排查只能靠经验和终端命令。第一印象就在这一下定了。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Xcode Device Hub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占住了“有一个地方能看到问题”这个位置：选中设备，右边画布列出这台设备上的问题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缺口：那是结果清单，不是过程的哪一步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连这个位置都没有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缺口：设备连不上，排查全在终端里，adb 命令一条一条试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真机调试给信息视图：手机型号、系统、微信版本与“连接信息”，另有“警告和错误”列表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缺口：连接状态是二元的——连上 / 已结束；断了只问一句“是否需要重新连接”，不告诉你卡在哪一阶段。官方连一份真机调试排查文档都没有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Studio（我方现状）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Code 安装即失败报 EPERM，有人跟帖复现 [D]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缺口：前置门槛这一桶真实存在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七家均无把握手拆成阶段的做法。空位是把过程显形：认出设备 → 授权 → 建立通道 → 版本匹配 → 就绪，当前卡在第几步标出来，每一步失败给一个能当场做的动作。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23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模拟器创新设计 · 连接状态体验创新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把连接这件事拆成看得见的几步：认出设备 → 授权 → 建立通道 → 版本匹配 → 就绪，当前卡在第几步标出来。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每一步失败都给一个能当场做的动作，不是给一个错误码。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等待有进度，不是一个转圈。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连接五步的进度条，失败那一步展开成一个可直接执行的动作，不是错误码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这条成本最低、命中“等待可见”最直接，而且是新人第一次装完工具就会撞上的那一下——第一印象就在这里定。</a:t>
            </a:r>
            <a:endParaRPr lang="en-US" sz="11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24  |  场景与竞品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这条说的是  </a:t>
            </a:r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有一件事正在后台跑，用一个不占地方但一直在的小位置告诉你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1837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别人做到哪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3529584" cy="3538728"/>
          </a:xfrm>
          <a:prstGeom prst="roundRect">
            <a:avLst>
              <a:gd name="adj" fmla="val 3368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68296"/>
            <a:ext cx="301752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一件长任务在后台跑。想知道它到哪一步了，只能切回那个面板看一眼；不切，就完全没有感知。</a:t>
            </a: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endParaRPr lang="en-US" sz="1300" dirty="0"/>
          </a:p>
          <a:p>
            <a:pPr indent="0" marL="0">
              <a:lnSpc>
                <a:spcPct val="14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IDE 里的状态今天散在三处：状态栏、通知气泡、工具窗，没有一个常驻的轻量位置。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1305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45152" y="22677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Studio / IntelliJ 平台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73952" y="22677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38544" y="22677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翻完都没有常驻轻量态 [A]；Xcode·微信开发者工具·Cursor·Claude Code·Codex·Qoder 同样没有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缺口：这是结论不是缺口——IDE 里确实没有这个东西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407408" y="30449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45152" y="31821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iOS 灵动岛与实况活动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73952" y="31821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38544" y="31821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把一件正在进行的事收进常驻的小位置，不打扰但一眼能看到 [B]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缺口：范式源头在消费端，不是 IDE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407408" y="39593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45152" y="40965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实况更新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73952" y="40965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38544" y="40965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落在状态栏一个 chip 上 [A]，并带一整套准入规则 [B]：必须是正在进行、有明确起止、用户主动触发、需要持续关注；广告、促销、聊天消息、日程提醒、快捷入口明确不许进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缺口：更值钱的是那套规则，不是那枚胶囊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4407408" y="4873752"/>
            <a:ext cx="7095744" cy="795528"/>
          </a:xfrm>
          <a:prstGeom prst="roundRect">
            <a:avLst>
              <a:gd name="adj" fmla="val 14943"/>
            </a:avLst>
          </a:prstGeom>
          <a:solidFill>
            <a:srgbClr val="F4F6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45152" y="5010912"/>
            <a:ext cx="170078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微信开发者工具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73952" y="5010912"/>
            <a:ext cx="0" cy="521208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38544" y="5010912"/>
            <a:ext cx="47183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模拟器底部有一条常驻状态栏</a:t>
            </a:r>
            <a:endParaRPr lang="en-US" sz="860" dirty="0"/>
          </a:p>
          <a:p>
            <a:pPr indent="0" marL="0">
              <a:lnSpc>
                <a:spcPct val="128000"/>
              </a:lnSpc>
              <a:spcBef>
                <a:spcPts val="200"/>
              </a:spcBef>
              <a:buNone/>
            </a:pPr>
            <a:r>
              <a:rPr lang="en-US" sz="86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缺口：占用它的是运行上下文（场景值、页面路径与参数），不是任务状态；编译、上传、预览无阶段化进度，云测排队只给规避建议、不给位次与预计等待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58368" y="581558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943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空位在哪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39696" y="5925312"/>
            <a:ext cx="90891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要搬的不是胶囊，是消费端已经定完的那套准入规则——它回答的正是最容易做错的地方：什么该上、什么不许上。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24  |  竞品截图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47218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官方文档与产品界面实截，日期见图注；均为外部公开信息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32888" y="1856232"/>
            <a:ext cx="7095744" cy="4135374"/>
          </a:xfrm>
          <a:prstGeom prst="roundRect">
            <a:avLst>
              <a:gd name="adj" fmla="val 2875"/>
            </a:avLst>
          </a:prstGeom>
          <a:solidFill>
            <a:srgbClr val="F4F6F7"/>
          </a:solidFill>
          <a:ln/>
        </p:spPr>
      </p:sp>
      <p:pic>
        <p:nvPicPr>
          <p:cNvPr id="8" name="Image 0" descr="deck/shots/s21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020824"/>
            <a:ext cx="6766560" cy="38061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3472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33472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95460" y="1956816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28048" y="1956816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33472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33472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95460" y="5891022"/>
            <a:ext cx="132588" cy="0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28048" y="5758434"/>
            <a:ext cx="0" cy="132588"/>
          </a:xfrm>
          <a:prstGeom prst="line">
            <a:avLst/>
          </a:prstGeom>
          <a:noFill/>
          <a:ln w="15875">
            <a:solidFill>
              <a:srgbClr val="0A59F7">
                <a:alpha val="3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6192774"/>
            <a:ext cx="10844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Android 实况更新 · 状态栏 chip 与通知卡上的进度 · 2026-09-10</a:t>
            </a:r>
            <a:endParaRPr lang="en-US" sz="11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鸿蒙特征 / 首发 · 24  |  方案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8650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智慧胶囊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765792" y="85039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65792" y="850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我们要做的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4992624" cy="4160520"/>
          </a:xfrm>
          <a:prstGeom prst="roundRect">
            <a:avLst>
              <a:gd name="adj" fmla="val 2857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2688" y="2093976"/>
            <a:ext cx="4443984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状态栏一枚胶囊，同时最多两枚，“在等你”的那一枚排前面带蓝点，点开才展开面板。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先只让一类事上胶囊：正在跑的 Agent 任务，含排队。做对了再放第二类。</a:t>
            </a:r>
            <a:endParaRPr lang="en-US" sz="1350" dirty="0"/>
          </a:p>
          <a:p>
            <a:pPr marL="342900" indent="-342900">
              <a:lnSpc>
                <a:spcPct val="144000"/>
              </a:lnSpc>
              <a:spcAft>
                <a:spcPts val="900"/>
              </a:spcAft>
              <a:buSzPct val="100000"/>
              <a:buChar char="●"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准入规则先立起来：只有正在进行、有明确起止、人自己发起的、需要持续关注的事能上。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870448" y="1563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界面示意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0448" y="2196846"/>
            <a:ext cx="5632704" cy="3168396"/>
          </a:xfrm>
          <a:prstGeom prst="roundRect">
            <a:avLst>
              <a:gd name="adj" fmla="val 2886"/>
            </a:avLst>
          </a:prstGeom>
          <a:solidFill>
            <a:srgbClr val="E1E4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5438394"/>
            <a:ext cx="544982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图位待补 · 状态栏上的胶囊：最多两枚，“在等你”的排前带蓝点，点开才展开面板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5888736"/>
            <a:ext cx="10844784" cy="658368"/>
          </a:xfrm>
          <a:prstGeom prst="roundRect">
            <a:avLst>
              <a:gd name="adj" fmla="val 18056"/>
            </a:avLst>
          </a:prstGeom>
          <a:solidFill>
            <a:srgbClr val="F4F6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5989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主要改善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9968" y="5971032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597103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597103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5971032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16552" y="5971032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16552" y="5971032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41264" y="5971032"/>
            <a:ext cx="722376" cy="292608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41264" y="5971032"/>
            <a:ext cx="722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40080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一句话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要搬的不是那枚胶囊，是消费端已经定完的那套准入规则——什么该上、什么不许上。跟着 AI 协作时间轴一起做。</a:t>
            </a:r>
            <a:endParaRPr lang="en-US" sz="11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deck/word-d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48840"/>
            <a:ext cx="5532120" cy="3456432"/>
          </a:xfrm>
          <a:prstGeom prst="rect">
            <a:avLst/>
          </a:prstGeom>
        </p:spPr>
      </p:pic>
      <p:pic>
        <p:nvPicPr>
          <p:cNvPr id="4" name="Image 2" descr="deck/icon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86000"/>
            <a:ext cx="566928" cy="56692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58368" y="3035808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方向四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658368" y="3346704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体验评估策略</a:t>
            </a:r>
            <a:endParaRPr lang="en-US" sz="3800" dirty="0"/>
          </a:p>
        </p:txBody>
      </p:sp>
      <p:sp>
        <p:nvSpPr>
          <p:cNvPr id="7" name="Text 2"/>
          <p:cNvSpPr txBox="1"/>
          <p:nvPr/>
        </p:nvSpPr>
        <p:spPr>
          <a:xfrm>
            <a:off x="658368" y="420624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这一类不产出功能，产出判据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60857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上面每一条都写了“主要改善哪个指标”。这一页说清楚：这四个指标各自怎么测，测的时候拿什么当尺子。没有这一层，前面的判断就只是说法。</a:t>
            </a:r>
            <a:endParaRPr lang="en-US" sz="12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体验评估策略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四个指标，各自怎么测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17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前三个是过程指标，版本内可测、可直接设计；满意度是它们的结果，不单独作为设计目标。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505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步数与切换次数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01·02·03·04·05·06·09·10·12·13·15·16·18·19·20·21·22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25054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完成一件事要点几下、在几个窗口之间来回几趟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699248" y="2505456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录屏数点击与窗口切换，同一条任务跨版本比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3273552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401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等待可见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730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07·17·18·23·24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3401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等的时候界面说了什么：在跑还是在排队、排第几位、还要多久、能不能取消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99248" y="340156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从发起到第一次给出状态的时间；等待期间界面给出的信息条数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4169664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E6EE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297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审阅与回退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626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03·08·11·14·16·17·19·21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429768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改动能不能看懂、能不能挑着退回去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99248" y="4297680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一次多文件改动，看懂它改了什么并撤回，需要多少步；能不能只退其中一步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5065776"/>
            <a:ext cx="10844784" cy="804672"/>
          </a:xfrm>
          <a:prstGeom prst="roundRect">
            <a:avLst>
              <a:gd name="adj" fmla="val 14773"/>
            </a:avLst>
          </a:prstGeom>
          <a:solidFill>
            <a:srgbClr val="F4F6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" y="51937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满意度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32688" y="5522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结果指标，不单列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5193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人愿不愿意把活交给它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699248" y="5193792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季度调研 + 上面三项的实测结果对照看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961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测的时候用同一套任务，不每次换题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6217920"/>
            <a:ext cx="10844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五条基准任务跨期固定：改一处界面并看到结果 · 跨三个以上文件的改动审阅并回退 · 五分钟以上的长任务中途纠正 · 装一个第三方能力并调用 · 从“卡了崩了”定位并修复。</a:t>
            </a:r>
            <a:endParaRPr lang="en-US" sz="11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三个方向 · 竞争力地图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b="1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条创新点放进一张图：</a:t>
            </a:r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独占性 × 投入档位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51790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横轴看别人抄不抄得走，纵轴看我们打算投多少——两条轴一起看，才知道哪几条该优先讲。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10844784" cy="3657600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080760" y="2011680"/>
            <a:ext cx="0" cy="347472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9808" y="3406140"/>
            <a:ext cx="10661904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红海追赶区 · 大家都在做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011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旗舰差异化区 · 优先讲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基本功 · 补齐即可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被低估的资产 · 独有但投入少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50292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顺手做</a:t>
            </a:r>
            <a:endParaRPr lang="en-US" sz="73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43434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搭车</a:t>
            </a:r>
            <a:endParaRPr lang="en-US" sz="73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36576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补齐</a:t>
            </a:r>
            <a:endParaRPr lang="en-US" sz="73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29718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</a:t>
            </a:r>
            <a:endParaRPr lang="en-US" sz="73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228600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3087929" y="50794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19" name="Shape 16"/>
          <p:cNvSpPr/>
          <p:nvPr/>
        </p:nvSpPr>
        <p:spPr>
          <a:xfrm>
            <a:off x="6878007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34523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场景化体检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6248315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04831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症状调优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8137392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693908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安卓转化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3087929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6" name="Shape 23"/>
          <p:cNvSpPr/>
          <p:nvPr/>
        </p:nvSpPr>
        <p:spPr>
          <a:xfrm>
            <a:off x="2595982" y="37078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27" name="Shape 24"/>
          <p:cNvSpPr/>
          <p:nvPr/>
        </p:nvSpPr>
        <p:spPr>
          <a:xfrm>
            <a:off x="3552444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108960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Team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2595982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0" name="Shape 27"/>
          <p:cNvSpPr/>
          <p:nvPr/>
        </p:nvSpPr>
        <p:spPr>
          <a:xfrm>
            <a:off x="5618622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175138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可视化编程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6531559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3" name="Shape 30"/>
          <p:cNvSpPr/>
          <p:nvPr/>
        </p:nvSpPr>
        <p:spPr>
          <a:xfrm>
            <a:off x="3087929" y="37078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4" name="Shape 31"/>
          <p:cNvSpPr/>
          <p:nvPr/>
        </p:nvSpPr>
        <p:spPr>
          <a:xfrm>
            <a:off x="4071823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5" name="Shape 32"/>
          <p:cNvSpPr/>
          <p:nvPr/>
        </p:nvSpPr>
        <p:spPr>
          <a:xfrm>
            <a:off x="8767084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323600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UI&amp;Code 编辑</a:t>
            </a:r>
            <a:endParaRPr lang="en-US" sz="720" dirty="0"/>
          </a:p>
        </p:txBody>
      </p:sp>
      <p:sp>
        <p:nvSpPr>
          <p:cNvPr id="37" name="Shape 34"/>
          <p:cNvSpPr/>
          <p:nvPr/>
        </p:nvSpPr>
        <p:spPr>
          <a:xfrm>
            <a:off x="3579876" y="37078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8" name="Shape 35"/>
          <p:cNvSpPr/>
          <p:nvPr/>
        </p:nvSpPr>
        <p:spPr>
          <a:xfrm>
            <a:off x="4071823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39" name="Shape 36"/>
          <p:cNvSpPr/>
          <p:nvPr/>
        </p:nvSpPr>
        <p:spPr>
          <a:xfrm>
            <a:off x="7507699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064215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D2C 转代码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3087929" y="30220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42" name="Shape 39"/>
          <p:cNvSpPr/>
          <p:nvPr/>
        </p:nvSpPr>
        <p:spPr>
          <a:xfrm>
            <a:off x="9849368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405884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一多联动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734873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291389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真机多设备</a:t>
            </a:r>
            <a:endParaRPr lang="en-US" sz="720" dirty="0"/>
          </a:p>
        </p:txBody>
      </p:sp>
      <p:sp>
        <p:nvSpPr>
          <p:cNvPr id="46" name="Shape 43"/>
          <p:cNvSpPr/>
          <p:nvPr/>
        </p:nvSpPr>
        <p:spPr>
          <a:xfrm>
            <a:off x="9406616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963132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单屏多设备</a:t>
            </a:r>
            <a:endParaRPr lang="en-US" sz="720" dirty="0"/>
          </a:p>
        </p:txBody>
      </p:sp>
      <p:sp>
        <p:nvSpPr>
          <p:cNvPr id="48" name="Shape 45"/>
          <p:cNvSpPr/>
          <p:nvPr/>
        </p:nvSpPr>
        <p:spPr>
          <a:xfrm>
            <a:off x="10292121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9848637" y="246430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分布式调试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8991295" y="43936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51" name="Shape 48"/>
          <p:cNvSpPr/>
          <p:nvPr/>
        </p:nvSpPr>
        <p:spPr>
          <a:xfrm>
            <a:off x="8963863" y="2308860"/>
            <a:ext cx="137160" cy="137160"/>
          </a:xfrm>
          <a:prstGeom prst="ellipse">
            <a:avLst/>
          </a:prstGeom>
          <a:solidFill>
            <a:srgbClr val="0A59F7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520379" y="266547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连接状态创新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7515454" y="4393692"/>
            <a:ext cx="82296" cy="82296"/>
          </a:xfrm>
          <a:prstGeom prst="ellipse">
            <a:avLst/>
          </a:prstGeom>
          <a:solidFill>
            <a:srgbClr val="A3A3A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58368" y="5650992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 → 独占性：通用能力（别人也能做）　————————→　鸿蒙独占（只有平台方能做）　｜　纵轴 ↑ 投入档位：顺手做→搭车→补齐→半投→投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58368" y="5870448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投（12 条，已标名）　　</a:t>
            </a:r>
            <a:pPr indent="0" marL="0">
              <a:buNone/>
            </a:pPr>
            <a:r>
              <a:rPr lang="en-US" sz="1000" b="1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半投／补齐／搭车／顺手做（12 条）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658368" y="6108192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独占性为本方判断（依据「分界线」表：构建／签名／真机／上架别人做不了，写代码本身无优势），非外部基准测试；坐标为相对位置。来源：方向分析_融合方案评估与创新机会点；总表分级口径，核实于 2026-09-21</a:t>
            </a:r>
            <a:endParaRPr lang="en-US" sz="8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已完成的是融合方案，创新点排期至 8.X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517904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7190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1719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已发布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084832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7.0 于 9 月 30 日发布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505456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本季度动作是跟踪落地与发布支撑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8160" y="1517904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84192" y="17190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4F6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84192" y="1719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已合入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84192" y="2084832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融合方案合入 7.1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84192" y="2505456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月 30 日随版本发布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97952" y="1517904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16" name="Shape 13"/>
          <p:cNvSpPr/>
          <p:nvPr/>
        </p:nvSpPr>
        <p:spPr>
          <a:xfrm>
            <a:off x="8253984" y="171907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0A59F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53984" y="1719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可演示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253984" y="2084832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七份界面稿 ＋ 一份竞品对照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53984" y="2505456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界面稿按安装包主题文件还原；竞品对照六家官方文档逐条核实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803904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这些创新点进 BP 的节奏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7824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9/30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7.0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849270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068726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月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3068726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创新方案汇报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068726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调研结论进规划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40173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E6EEFE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259629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11–12 月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259629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BP 规划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259629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与产品线讨论后进规划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231075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450531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12/30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450531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7.1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450531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融合方案随版本上线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9421978" y="4078224"/>
            <a:ext cx="2081174" cy="1243584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641434" y="4224528"/>
            <a:ext cx="16422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2027-06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9641434" y="4553712"/>
            <a:ext cx="16422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 8.0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641434" y="4846320"/>
            <a:ext cx="16422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 HDC 2027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658368" y="5486400"/>
            <a:ext cx="10844784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14400" y="5614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先做哪几条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" y="5870448"/>
            <a:ext cx="10332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先做 20 连接状态、21 智慧胶囊、07 Agent Team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——这三条成本最低，而且证据最硬：排队这件事厂商已经在论坛里确认过。接着是 02 场景化应用体检（上架问题提前暴露）与 17 单屏多设备、16 真机多设备（差异化最高）。04 安卓转化与 15 一多联动要连着产品线一起排。05 · 06 · 11 · 14 属于补齐，并进日常迭代，不单独占排期。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本轮沉淀的成果，可在不同方向、不同团队复用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17904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737360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设计令牌表与界面稿套件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03120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DevEco Studio 6.0.2 安装包主题文件提取（09-08），覆盖界面稿全部配色、字号、间距与组件尺寸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32688" y="2798064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279806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已支撑七份界面示意与一份融合方案演示稿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0488" y="1517904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64808" y="1737360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竞品分析的任务复现方法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64808" y="2103120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五个跨期固定的基准任务，跨期不换，所以结论可比、可累积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64808" y="2798064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1112" y="279806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已用于三份竞品报告，本轮七家官方文档逐条核实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456432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367588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双周监测机制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041648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十二主题固定面板 ＋ 五级证据分级，抓不到的写进局限不沉默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" y="4736592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8992" y="473659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已跑三期，趋势看板可回看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0488" y="3456432"/>
            <a:ext cx="5312664" cy="1737360"/>
          </a:xfrm>
          <a:prstGeom prst="roundRect">
            <a:avLst>
              <a:gd name="adj" fmla="val 6842"/>
            </a:avLst>
          </a:prstGeom>
          <a:solidFill>
            <a:srgbClr val="F4F6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3675888"/>
            <a:ext cx="4764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报告与汇报模板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041648"/>
            <a:ext cx="4764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固定楼层、固定视觉规范，内容换了模板不用重做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64808" y="4736592"/>
            <a:ext cx="4764024" cy="329184"/>
          </a:xfrm>
          <a:prstGeom prst="roundRect">
            <a:avLst>
              <a:gd name="adj" fmla="val 27778"/>
            </a:avLst>
          </a:prstGeom>
          <a:solidFill>
            <a:srgbClr val="E6EEF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473659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已用于三份报告与两份汇报材料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579729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这些不是一次性产物。方向再变一次，令牌表、基准任务和监测面板都还能用。</a:t>
            </a:r>
            <a:endParaRPr lang="en-US" sz="11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bg-gri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发展路径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开发正在脱离图形界面，因此不能仅聚焦于界面本身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517904"/>
            <a:ext cx="10844784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先说风险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956816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6000"/>
              </a:lnSpc>
              <a:buNone/>
            </a:pPr>
            <a:r>
              <a:rPr lang="en-US" sz="13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开发动作正在离开图形界面。今年要进的头部公司恰恰只开 CLI 与插件的门，还可能要求开源。如果把资产全押在“做一个更好的 IDE”上，这条线会随着壳一起贬值。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383280"/>
            <a:ext cx="10844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发展路径：从“做一个更好的 IDE”，转到“做只有官方手里才有的那部分”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F4F6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写代码这一层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写代码、改代码、生成界面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谁都能做，会被下一次模型发布抹平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创新点落在这层：12 条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28160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84192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真机真规则这一层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84192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真机、真设备形态、真上架规则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84192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只有平台方手里有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84192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创新点落在这层：10 条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97952" y="3749040"/>
            <a:ext cx="3505200" cy="1572768"/>
          </a:xfrm>
          <a:prstGeom prst="roundRect">
            <a:avLst>
              <a:gd name="adj" fmla="val 7558"/>
            </a:avLst>
          </a:prstGeom>
          <a:solidFill>
            <a:srgbClr val="E6EEF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53984" y="3895344"/>
            <a:ext cx="299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配额与权限这一层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53984" y="4261104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排队与配额、权限、企业管控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53984" y="4663440"/>
            <a:ext cx="2993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7A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只有平台方能做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53984" y="5029200"/>
            <a:ext cx="299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创新点落在这层：2 条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8368" y="5541264"/>
            <a:ext cx="10844784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4400" y="5687568"/>
            <a:ext cx="10332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0A59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为什么这样分：</a:t>
            </a:r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写代码这一层，模型一升级就被抹平，押在那里的投入留不下来。真机、设备形态、上架规则、配额与权限，这些换几代模型都还在，而且只有官方手里有。二十四条里有十二条落在后两层。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844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来源与局限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13816"/>
            <a:ext cx="10844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500" dirty="0">
                <a:solidFill>
                  <a:srgbClr val="1414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外部事实都能查到出处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9961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外部来源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5852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注册开发者 1100 万+、应用与服务 40 万+ · HDC 2026 ⚠️ 未回采原文链接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原生鸿蒙应用 10 万+、HarmonyOS 6 终端 8000 万台 · HEC 2026（2026-08-28）⚠️ 未回采原文链接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中国手机销量系统份额 · Counterpoint 2Q26 ⚠️ 单一来源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DevEco 使用率 93.7%、满意 75.7% · InfoQ 2025 开发者调研 n=625 ⚠️ 单一来源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工具采用率 84%、信任 33% · Stack Overflow 2025 开发者调查 n=33,662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多会话与状态显示、审批疲劳、lint 分类、上架前报告、远端真机池、Agent Skills · Android 开发者文档与博客（09-10 至 09-13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预览变体、画布交互、编码智能、计划模式、本地化 agent、线上性能与回归门槛 · Apple 开发者文档（09-12 至 09-13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按标签页记布局改成全局与 26.3 修复 · Apple 开发者论坛（2026-02 提交，03 回复）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常驻位的六条规矩 · Apple 人机界面指南（2025-12 更新）＋ Android 实况更新文档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检查点、工作流、输出风格、语音听写 · Claude Code 官方文档（09-12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提问工具、检查点、设计模式、可视化编辑器 · Cursor 官方文档与变更日志（09-12 核实，部分未能逐字复核）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计划模式、技能、权限三档 · Codex 官方文档（09-12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就地对话、Spec 驱动、按轮回退 · Qoder 官方文档（09-12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Mac Catalyst、visionOS 迁移、Java 转 Kotlin、升级助手、现代化 agent · Apple／Google／微软官方文档（09-13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布局与视图、代码质量与漏洞扫描、体验评分 Audits、性能诊断流程 · 微信开发者工具官方文档（09-14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模拟器与自定义设备、真机调试 1.0/2.0、真机性能录制、多账号调试 · 微信开发者工具官方文档（09-14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MiniTest 云测 300+ 机型与配额、miniprogram-automator、miniprogram-ci · 微信开发者工具官方文档（09-14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开发者工具 Skills、可视化编辑、Donut 多端框架与适配清单 · 微信开发者／dev.weixin 官方文档（09-14 核实）</a:t>
            </a:r>
            <a:endParaRPr lang="en-US" sz="830" dirty="0"/>
          </a:p>
          <a:p>
            <a:pPr marL="342900" indent="-342900">
              <a:lnSpc>
                <a:spcPct val="110000"/>
              </a:lnSpc>
              <a:spcAft>
                <a:spcPts val="240"/>
              </a:spcAft>
              <a:buSzPct val="100000"/>
              <a:buChar char="•"/>
            </a:pPr>
            <a:r>
              <a:rPr lang="en-US" sz="83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设计令牌 · DevEco Studio 6.0.2 安装包主题文件（09-08 提取）</a:t>
            </a:r>
            <a:endParaRPr lang="en-US" sz="83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499616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已知局限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1700784"/>
            <a:ext cx="4736592" cy="4535424"/>
          </a:xfrm>
          <a:prstGeom prst="roundRect">
            <a:avLst>
              <a:gd name="adj" fmla="val 2621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86016" y="1865376"/>
            <a:ext cx="4297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界面稿是设计示意，不是已实现的界面。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“我们的解法”是设计目标，不是当前能力；本轮不评自家现状。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远端真机这条对我们是追平不是首发，已在对应页标注。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漏斗中间两级（写过代码、有上架产出）是估算，置信度中低，不是官方口径。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生态规模与满意度的几个数字来自上游调研摘要，本轮未回采原文链接。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Cursor 与 Trae 全站抓取受限：Cursor 部分结论未能逐字复核，Trae 一条未进结论。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华为侧三篇迁移指导文档只核到标题与路径，正文未取到；“是纯指导还是带工具”是推断。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“改完自动复测”这条空位是立论支点，建议实机复现一次再对外讲。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所有“七家均无”均基于七家官方文档检索，不含实机复现。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微信侧对鸿蒙的支持存在两处官方口径不一致（developers.weixin 提 HarmonyOS，Donut 介绍页未提），本轮不据此下结论。</a:t>
            </a:r>
            <a:endParaRPr lang="en-US" sz="960" dirty="0"/>
          </a:p>
          <a:p>
            <a:pPr marL="342900" indent="-342900">
              <a:lnSpc>
                <a:spcPct val="120000"/>
              </a:lnSpc>
              <a:spcAft>
                <a:spcPts val="450"/>
              </a:spcAft>
              <a:buSzPct val="100000"/>
              <a:buChar char="•"/>
            </a:pPr>
            <a:r>
              <a:rPr lang="en-US" sz="960" dirty="0">
                <a:solidFill>
                  <a:srgbClr val="4D4D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微信的代码质量规则树文档层拿不全，规则级逐条对标需实机打开工具截面板。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400800"/>
            <a:ext cx="10844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核实于 2026-09-14 · 对标七家官方文档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124</Slides>
  <Notes>124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创新点 · 三个方向</dc:title>
  <dc:subject>PptxGenJS Presentation</dc:subject>
  <dc:creator>PptxGenJS</dc:creator>
  <cp:lastModifiedBy>PptxGenJS</cp:lastModifiedBy>
  <cp:revision>1</cp:revision>
  <dcterms:created xsi:type="dcterms:W3CDTF">2026-09-21T03:21:00Z</dcterms:created>
  <dcterms:modified xsi:type="dcterms:W3CDTF">2026-09-21T03:21:00Z</dcterms:modified>
</cp:coreProperties>
</file>